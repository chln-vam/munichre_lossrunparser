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6.xml" ContentType="application/vnd.openxmlformats-officedocument.theme+xml"/>
  <Override PartName="/ppt/tags/tag6.xml" ContentType="application/vnd.openxmlformats-officedocument.presentationml.tags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7.xml" ContentType="application/vnd.openxmlformats-officedocument.theme+xml"/>
  <Override PartName="/ppt/tags/tag7.xml" ContentType="application/vnd.openxmlformats-officedocument.presentationml.tags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3" r:id="rId5"/>
    <p:sldMasterId id="2147483707" r:id="rId6"/>
    <p:sldMasterId id="2147483717" r:id="rId7"/>
    <p:sldMasterId id="2147483728" r:id="rId8"/>
    <p:sldMasterId id="2147483751" r:id="rId9"/>
    <p:sldMasterId id="2147483762" r:id="rId10"/>
  </p:sldMasterIdLst>
  <p:notesMasterIdLst>
    <p:notesMasterId r:id="rId20"/>
  </p:notesMasterIdLst>
  <p:sldIdLst>
    <p:sldId id="277" r:id="rId11"/>
    <p:sldId id="2147482656" r:id="rId12"/>
    <p:sldId id="2147482654" r:id="rId13"/>
    <p:sldId id="2147481642" r:id="rId14"/>
    <p:sldId id="2147482660" r:id="rId15"/>
    <p:sldId id="2147482657" r:id="rId16"/>
    <p:sldId id="2147482653" r:id="rId17"/>
    <p:sldId id="2147482652" r:id="rId18"/>
    <p:sldId id="214748265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E88847-E734-6A9A-41D7-326453EE662B}" name="Raghavendra Aithal" initials="RA" userId="S::raghavendra.aithal@valuemomentum.com::ab6804b4-a36f-4a58-aac4-29980ee4c1c5" providerId="AD"/>
  <p188:author id="{19A52666-C5F4-5F0E-5891-B1F76BDDC0A5}" name="SaiSurya Vamsi Sapireddy" initials="SS" userId="S::Vamsi.Sapireddy@valuemomentum.com::98105cfd-cd14-42c5-912d-10dfaf84a0f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D534"/>
    <a:srgbClr val="056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33126F-BD4F-46D1-845B-E277BC8576FF}" v="6" dt="2026-03-05T11:52:26.9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40" autoAdjust="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-65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Narayana Cherukuri" userId="047c11d5-947e-4cdf-aa93-4c586a277f72" providerId="ADAL" clId="{74754F0A-5D55-4D06-98B2-CEF3D6A838E8}"/>
    <pc:docChg chg="addSld delSld modSld">
      <pc:chgData name="Lakshmi Narayana Cherukuri" userId="047c11d5-947e-4cdf-aa93-4c586a277f72" providerId="ADAL" clId="{74754F0A-5D55-4D06-98B2-CEF3D6A838E8}" dt="2026-03-05T11:52:31.222" v="5" actId="6549"/>
      <pc:docMkLst>
        <pc:docMk/>
      </pc:docMkLst>
      <pc:sldChg chg="addSp delSp modSp modNotesTx">
        <pc:chgData name="Lakshmi Narayana Cherukuri" userId="047c11d5-947e-4cdf-aa93-4c586a277f72" providerId="ADAL" clId="{74754F0A-5D55-4D06-98B2-CEF3D6A838E8}" dt="2026-03-05T11:52:31.222" v="5" actId="6549"/>
        <pc:sldMkLst>
          <pc:docMk/>
          <pc:sldMk cId="687198215" sldId="2147482654"/>
        </pc:sldMkLst>
        <pc:picChg chg="add mod">
          <ac:chgData name="Lakshmi Narayana Cherukuri" userId="047c11d5-947e-4cdf-aa93-4c586a277f72" providerId="ADAL" clId="{74754F0A-5D55-4D06-98B2-CEF3D6A838E8}" dt="2026-03-05T11:49:40.742" v="2"/>
          <ac:picMkLst>
            <pc:docMk/>
            <pc:sldMk cId="687198215" sldId="2147482654"/>
            <ac:picMk id="6" creationId="{8609445F-9F52-CBAD-F8DA-B818DE051EE8}"/>
          </ac:picMkLst>
        </pc:picChg>
        <pc:picChg chg="del">
          <ac:chgData name="Lakshmi Narayana Cherukuri" userId="047c11d5-947e-4cdf-aa93-4c586a277f72" providerId="ADAL" clId="{74754F0A-5D55-4D06-98B2-CEF3D6A838E8}" dt="2026-03-05T11:49:39.936" v="1" actId="478"/>
          <ac:picMkLst>
            <pc:docMk/>
            <pc:sldMk cId="687198215" sldId="2147482654"/>
            <ac:picMk id="1030" creationId="{3683714C-5AF9-CB25-C7E1-F90FAA783322}"/>
          </ac:picMkLst>
        </pc:picChg>
      </pc:sldChg>
      <pc:sldChg chg="add del">
        <pc:chgData name="Lakshmi Narayana Cherukuri" userId="047c11d5-947e-4cdf-aa93-4c586a277f72" providerId="ADAL" clId="{74754F0A-5D55-4D06-98B2-CEF3D6A838E8}" dt="2026-03-05T11:49:47.739" v="3" actId="47"/>
        <pc:sldMkLst>
          <pc:docMk/>
          <pc:sldMk cId="78118452" sldId="21474826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EE525-1013-4DE6-8653-4C4DD61DD0A8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F36A7-C90F-4CF4-AC13-2BAF6F66A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45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72F823-FB13-4AD0-8C9E-1066A7422A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095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02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35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User</a:t>
            </a:r>
            <a:r>
              <a:rPr lang="en-US" dirty="0"/>
              <a:t> – Business user uploads Loss Run files for processing.</a:t>
            </a:r>
          </a:p>
          <a:p>
            <a:r>
              <a:rPr lang="en-US" b="1" dirty="0"/>
              <a:t>Streamlit UI (Client Layer)</a:t>
            </a:r>
            <a:r>
              <a:rPr lang="en-US" dirty="0"/>
              <a:t> – Web interface used to upload files and initiate the parsing workflow.</a:t>
            </a:r>
          </a:p>
          <a:p>
            <a:r>
              <a:rPr lang="en-US" b="1" dirty="0"/>
              <a:t>Blob Storage Layer (Secure Storage)</a:t>
            </a:r>
            <a:r>
              <a:rPr lang="en-US" dirty="0"/>
              <a:t> – Uploaded files are securely stored before processing begins.</a:t>
            </a:r>
          </a:p>
          <a:p>
            <a:r>
              <a:rPr lang="en-US" b="1" dirty="0"/>
              <a:t>Python Processing Engine</a:t>
            </a:r>
            <a:r>
              <a:rPr lang="en-US" dirty="0"/>
              <a:t> – Core service that orchestrates file parsing and layout detection.</a:t>
            </a:r>
          </a:p>
          <a:p>
            <a:r>
              <a:rPr lang="en-US" b="1" dirty="0"/>
              <a:t>Excel Structure Analyzer</a:t>
            </a:r>
            <a:r>
              <a:rPr lang="en-US" dirty="0"/>
              <a:t> – Detects the file structure and identifies claim tables and relevant sections.</a:t>
            </a:r>
          </a:p>
          <a:p>
            <a:r>
              <a:rPr lang="en-US" b="1" dirty="0"/>
              <a:t>Raw Data Extraction (XLS → JSON)</a:t>
            </a:r>
            <a:r>
              <a:rPr lang="en-US" dirty="0"/>
              <a:t> – Extracts claim data from the file and converts it into structured JSON format.</a:t>
            </a:r>
          </a:p>
          <a:p>
            <a:r>
              <a:rPr lang="en-US" b="1" dirty="0"/>
              <a:t>Schema Mapping Engine (Configuration Driven)</a:t>
            </a:r>
            <a:r>
              <a:rPr lang="en-US" dirty="0"/>
              <a:t> – Applies configurable mappings to align extracted data with the target schema.</a:t>
            </a:r>
          </a:p>
          <a:p>
            <a:r>
              <a:rPr lang="en-US" b="1" dirty="0"/>
              <a:t>Post Processing / Normalization</a:t>
            </a:r>
            <a:r>
              <a:rPr lang="en-US" dirty="0"/>
              <a:t> – Cleans, standardizes, and prepares the data for downstream systems.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Human Review Portal</a:t>
            </a:r>
            <a:r>
              <a:rPr lang="en-US"/>
              <a:t> – Users review extracted values and validate or correct the parsed data.</a:t>
            </a:r>
            <a:endParaRPr lang="en-US" dirty="0"/>
          </a:p>
          <a:p>
            <a:r>
              <a:rPr lang="en-US" b="1" dirty="0"/>
              <a:t>Normalized Structured Data</a:t>
            </a:r>
            <a:r>
              <a:rPr lang="en-US" dirty="0"/>
              <a:t> – Final structured dataset ready for integration and storage.</a:t>
            </a:r>
          </a:p>
          <a:p>
            <a:r>
              <a:rPr lang="en-US" b="1" dirty="0"/>
              <a:t>Integration API Layer</a:t>
            </a:r>
            <a:r>
              <a:rPr lang="en-US" dirty="0"/>
              <a:t> – Exposes processed data to external systems through APIs.</a:t>
            </a:r>
          </a:p>
          <a:p>
            <a:r>
              <a:rPr lang="en-US" b="1" dirty="0"/>
              <a:t>Claims Domain Model</a:t>
            </a:r>
            <a:r>
              <a:rPr lang="en-US" dirty="0"/>
              <a:t> – Stores the normalized claims data in the canonical business data model.</a:t>
            </a:r>
          </a:p>
          <a:p>
            <a:r>
              <a:rPr lang="en-US" b="1" dirty="0"/>
              <a:t>Duck Creek / Guidewire</a:t>
            </a:r>
            <a:r>
              <a:rPr lang="en-US" dirty="0"/>
              <a:t> – Downstream insurance platforms consume the processed claims data.</a:t>
            </a:r>
          </a:p>
          <a:p>
            <a:pPr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88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64CD-A386-4D72-42A6-66548428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E849F-CD07-C9F1-8E67-00E93002A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61BE5-AF98-0743-685E-76E5ACE40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259A9-FBE0-9FEF-B18C-CFA72985CE2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78D94A6-F278-4D3A-BBDA-B167BA7AA836}" type="datetime2">
              <a:rPr lang="en-US" smtClean="0"/>
              <a:t>Thursday, March 5,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65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5283C-A9FE-92E6-B696-5359640C5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91A004-ADAE-A756-5272-3B348723B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0C3B89-A2B2-39B2-1D3C-960AE7D8E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 description: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User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End-user or enterprise client initiates the document ingestion process via a web interface or API call.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Client Web Application (UI / API)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Front-end layer- Streamlit UI that accepts uploaded loss run documents and routes them securely into the processing pipeline.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Azure Blob Storage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Temporarily stores raw uploaded files (Excel, PDF, images) in a secure, scalable cloud container before processing.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Azure Functions — Invoke ADI Service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invoked through a python Notebook which invokes a Serverless trigger that picks up stored documents and dispatches them to the appropriate Azure Document Intelligence model.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Prebuilt-Read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Extracts plain text and key-value content from unstructured documents using OCR.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6. Prebuilt-Layout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Detects and extracts structured tables, rows, and bounding-box coordinates from formatted documents like loss runs.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 Custom ADI Models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Domain-trained models that recognize insurance-specific fields (claim numbers, incurred amounts, loss dates) not handled by prebuilt models.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 Raw Data Parsing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Converts ADI JSON output into normalized row-level records aligned to the expected claims schema.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 Post-Processing &amp; Normalization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Cleans, deduplicates, and standardizes extracted field values (dates, currency formats, name casing) for downstream consumption.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10. Validation &amp; configurable Confidence Check (Threshold ≥99%)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Routes each field — high-confidence records pass automatically; anything below 99% is flagged for human review.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11. Human Review — Review &amp; Edit (Low-Confidence Fields Only)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Adjuster or analyst manually verifies and corrects only the flagged low-confidence fields via the TPA Claims Review Portal.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12. Normalized Structured Data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validated, schema-compliant dataset ready for delivery, stored as structured JSON or database records.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13. Client Delivery APIs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Exposes the normalized claims data via REST APIs for downstream system consumption.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 Duck Creek/Guide wire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Pushes structured claim records directly into the Duck Creek/Guidewire P&amp;C policy and claims management platform.</a:t>
            </a: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15. Claim Domain Model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 and stores in the Claims domain Model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B5C54-4BC3-B25E-C767-760D1D49F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9F36A7-C90F-4CF4-AC13-2BAF6F66A1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210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0.jpeg"/><Relationship Id="rId3" Type="http://schemas.openxmlformats.org/officeDocument/2006/relationships/image" Target="../media/image17.svg"/><Relationship Id="rId21" Type="http://schemas.openxmlformats.org/officeDocument/2006/relationships/image" Target="../media/image33.png"/><Relationship Id="rId7" Type="http://schemas.microsoft.com/office/2007/relationships/hdphoto" Target="../media/hdphoto1.wdp"/><Relationship Id="rId12" Type="http://schemas.openxmlformats.org/officeDocument/2006/relationships/image" Target="../media/image25.png"/><Relationship Id="rId17" Type="http://schemas.openxmlformats.org/officeDocument/2006/relationships/image" Target="../media/image29.png"/><Relationship Id="rId2" Type="http://schemas.openxmlformats.org/officeDocument/2006/relationships/image" Target="../media/image16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24" Type="http://schemas.openxmlformats.org/officeDocument/2006/relationships/image" Target="../media/image36.png"/><Relationship Id="rId5" Type="http://schemas.openxmlformats.org/officeDocument/2006/relationships/image" Target="../media/image19.png"/><Relationship Id="rId15" Type="http://schemas.microsoft.com/office/2007/relationships/hdphoto" Target="../media/hdphoto2.wdp"/><Relationship Id="rId23" Type="http://schemas.openxmlformats.org/officeDocument/2006/relationships/image" Target="../media/image35.png"/><Relationship Id="rId10" Type="http://schemas.openxmlformats.org/officeDocument/2006/relationships/image" Target="../media/image23.png"/><Relationship Id="rId19" Type="http://schemas.openxmlformats.org/officeDocument/2006/relationships/image" Target="../media/image31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4.png"/></Relationships>
</file>

<file path=ppt/slideLayouts/_rels/slideLayout4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37.png"/><Relationship Id="rId21" Type="http://schemas.openxmlformats.org/officeDocument/2006/relationships/image" Target="../media/image32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2" Type="http://schemas.openxmlformats.org/officeDocument/2006/relationships/image" Target="../media/image12.png"/><Relationship Id="rId16" Type="http://schemas.microsoft.com/office/2007/relationships/hdphoto" Target="../media/hdphoto2.wdp"/><Relationship Id="rId20" Type="http://schemas.openxmlformats.org/officeDocument/2006/relationships/image" Target="../media/image31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24" Type="http://schemas.openxmlformats.org/officeDocument/2006/relationships/image" Target="../media/image35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4.png"/><Relationship Id="rId10" Type="http://schemas.openxmlformats.org/officeDocument/2006/relationships/image" Target="../media/image22.png"/><Relationship Id="rId19" Type="http://schemas.openxmlformats.org/officeDocument/2006/relationships/image" Target="../media/image30.jpeg"/><Relationship Id="rId4" Type="http://schemas.openxmlformats.org/officeDocument/2006/relationships/image" Target="../media/image38.sv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7.png"/><Relationship Id="rId3" Type="http://schemas.openxmlformats.org/officeDocument/2006/relationships/image" Target="../media/image51.svg"/><Relationship Id="rId7" Type="http://schemas.openxmlformats.org/officeDocument/2006/relationships/image" Target="../media/image53.png"/><Relationship Id="rId12" Type="http://schemas.openxmlformats.org/officeDocument/2006/relationships/hyperlink" Target="https://www.instagram.com/valuemomentum_inc/" TargetMode="External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7.xml"/><Relationship Id="rId6" Type="http://schemas.openxmlformats.org/officeDocument/2006/relationships/hyperlink" Target="https://www.facebook.com/ValueMomentum/" TargetMode="External"/><Relationship Id="rId11" Type="http://schemas.openxmlformats.org/officeDocument/2006/relationships/image" Target="../media/image56.svg"/><Relationship Id="rId5" Type="http://schemas.openxmlformats.org/officeDocument/2006/relationships/hyperlink" Target="http://www.valuemomentum.com/" TargetMode="Externa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hyperlink" Target="https://www.linkedin.com/company/valuemomentum/" TargetMode="External"/><Relationship Id="rId14" Type="http://schemas.openxmlformats.org/officeDocument/2006/relationships/image" Target="../media/image5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B659B-AD0E-1054-C0D3-AFF377B59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A51EA-2078-559B-B612-2476D1E94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EA665-72F7-1BAD-73EC-A315A8B53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12A90-6BF8-1E87-9AD2-93671B93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98228-8EC4-3CD8-869F-BB946016C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1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7A49-24CA-EFAF-BBC2-689CC182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A4BC-05F5-E91E-6528-86BDF2D8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E548-0BF3-0681-242F-B98D42CE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DFA33-9734-FC17-F375-AFF3CC71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5C657-F48A-8A18-F6DA-925B6FE2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5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C38E-3205-C4E0-C14C-439F1DFA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61F02-F73B-8310-06C5-5C29EDCCB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3C11A-F2E5-49F4-CEF6-904EE8CC0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351F2-79B2-BD30-DD04-D4930EEA6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AF288-F668-DD0C-D7FC-E36D7B4F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58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795A-E1DD-C314-C9BD-794845CF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6AB41-3BB6-077A-50B8-3DDFABBE1B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96C0F-D64C-0FAE-52CE-16A2FF000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39184-3BE5-0816-1C30-94E7B28F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2738-A92D-0BDB-A2D5-836C8A188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809CD-375F-1183-0C7B-84E646CC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99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12FA0-1903-7A07-495C-00336DE5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72C4AB-9133-8433-AD59-663819A5D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894BE-3E70-3FC3-D6BE-8573BDD4D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88E56-C796-3FAD-FB43-AD3673CBE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0EF652-07BE-C16F-FCF9-14163CA43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42299A-AE1B-EE17-64E9-DEA77F7B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E6DBD-6E4D-F1D0-2EF4-3F38001D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AF288-A582-8FED-77CC-0FF1EAE49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9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8366-1FF0-D948-3A7A-4B415A29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A03ED-A87A-E5DF-67D8-621918057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C123A-55F9-E214-D5E0-AFE3E38F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5472A-2095-C4E6-73C6-32F48C44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1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4C654-A8F9-7B66-87A5-34176709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FCC0C-19A2-A2F7-EF7A-4274CE0C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F26CB-1169-4356-22B6-DC67BAE4F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green and blue logo&#10;&#10;Description automatically generated">
            <a:extLst>
              <a:ext uri="{FF2B5EF4-FFF2-40B4-BE49-F238E27FC236}">
                <a16:creationId xmlns:a16="http://schemas.microsoft.com/office/drawing/2014/main" id="{513DFC10-2E36-8FC3-B87F-FB0AC6B551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2000" y="62436"/>
            <a:ext cx="985373" cy="20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85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1BF86-9FAF-6723-8569-3598143E2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1D4F-E410-7601-376E-8CCA1244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20FC0-AE27-AA88-1963-76282FBF4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3835B-795D-AA28-90F3-C268553C2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10B03-8BE1-6924-B118-B90BFEE6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0F33E-45C9-272A-7CAB-8BAE4CF3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26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C002-FA9E-CDDE-415E-EF1C475B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2EE72-F99A-DC34-2283-D2D0C3F551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52312-CE28-9DED-3806-5FFCF33A4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B3759-9033-9AD0-109D-122D9CA6E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BAC85-A4CE-0E09-2B1F-DD18D9B54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17DAA-3C93-D1E2-DC0A-E654574D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0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13FF-C9CF-EFE7-373D-0845BACE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01D59-8DFB-36BC-6233-8DD6AC706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E0816-A636-964C-FC9A-2DD7FA5A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22F2C-7AF1-A1E5-E1B5-B9E889F4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850DD-7CDA-2414-F386-D24A48AB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23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E0413-6C17-6229-07CF-C11CE48C71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776C7-E8B8-0274-8023-DB2C6E64A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D11A7-7471-A352-F723-79F31B1E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4A938-981B-0E3D-B1DF-51B8FBDA9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3D878-ECC6-2C9B-93E8-E1287C45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8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905A7E-29AB-9947-F7A2-CDA50A4E545A}"/>
              </a:ext>
            </a:extLst>
          </p:cNvPr>
          <p:cNvSpPr/>
          <p:nvPr userDrawn="1"/>
        </p:nvSpPr>
        <p:spPr>
          <a:xfrm>
            <a:off x="0" y="206188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B637CB-8E9A-BA4B-D551-B90A05FD4900}"/>
              </a:ext>
            </a:extLst>
          </p:cNvPr>
          <p:cNvSpPr/>
          <p:nvPr userDrawn="1"/>
        </p:nvSpPr>
        <p:spPr>
          <a:xfrm>
            <a:off x="-1" y="5548871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riangle 1">
            <a:extLst>
              <a:ext uri="{FF2B5EF4-FFF2-40B4-BE49-F238E27FC236}">
                <a16:creationId xmlns:a16="http://schemas.microsoft.com/office/drawing/2014/main" id="{0908E45D-2D2E-5AD9-D89E-804D8689326A}"/>
              </a:ext>
            </a:extLst>
          </p:cNvPr>
          <p:cNvSpPr/>
          <p:nvPr userDrawn="1"/>
        </p:nvSpPr>
        <p:spPr>
          <a:xfrm>
            <a:off x="5283196" y="28748"/>
            <a:ext cx="6908800" cy="685800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CD8C36-2A9D-2F81-4DF5-E62CEDA8292A}"/>
              </a:ext>
            </a:extLst>
          </p:cNvPr>
          <p:cNvGrpSpPr/>
          <p:nvPr userDrawn="1"/>
        </p:nvGrpSpPr>
        <p:grpSpPr>
          <a:xfrm>
            <a:off x="7782915" y="2359949"/>
            <a:ext cx="4409085" cy="4498052"/>
            <a:chOff x="11674372" y="3539922"/>
            <a:chExt cx="6613628" cy="6795452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7CF3DC7E-278A-ADA1-14A5-3D6151D1D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20734" b="1865"/>
            <a:stretch>
              <a:fillRect/>
            </a:stretch>
          </p:blipFill>
          <p:spPr>
            <a:xfrm>
              <a:off x="11674372" y="3539922"/>
              <a:ext cx="6613628" cy="6795452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B4EB811-63B4-9ADE-743C-21D2100F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716000" y="7886700"/>
              <a:ext cx="4113162" cy="1828800"/>
            </a:xfrm>
            <a:prstGeom prst="rect">
              <a:avLst/>
            </a:prstGeom>
          </p:spPr>
        </p:pic>
      </p:grpSp>
      <p:sp>
        <p:nvSpPr>
          <p:cNvPr id="7" name="Triangle 1">
            <a:extLst>
              <a:ext uri="{FF2B5EF4-FFF2-40B4-BE49-F238E27FC236}">
                <a16:creationId xmlns:a16="http://schemas.microsoft.com/office/drawing/2014/main" id="{66EB9A3D-82B0-9EED-6AD6-E29880F7D4ED}"/>
              </a:ext>
            </a:extLst>
          </p:cNvPr>
          <p:cNvSpPr/>
          <p:nvPr userDrawn="1"/>
        </p:nvSpPr>
        <p:spPr>
          <a:xfrm>
            <a:off x="11064876" y="5820023"/>
            <a:ext cx="1127125" cy="1037977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3FD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2BC4E1CE-C266-648D-CEB9-DFC944D5EE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111376"/>
            <a:ext cx="5214409" cy="1851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334" b="0" i="0">
                <a:solidFill>
                  <a:srgbClr val="056BFC"/>
                </a:solidFill>
                <a:latin typeface="Manrope Medium" pitchFamily="2" charset="0"/>
              </a:defRPr>
            </a:lvl1pPr>
          </a:lstStyle>
          <a:p>
            <a:pPr lvl="0"/>
            <a:r>
              <a:rPr lang="en-US"/>
              <a:t>Title Slide</a:t>
            </a:r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678EE49A-9B2E-D124-1079-7C2B56757FB5}"/>
              </a:ext>
            </a:extLst>
          </p:cNvPr>
          <p:cNvSpPr/>
          <p:nvPr userDrawn="1"/>
        </p:nvSpPr>
        <p:spPr>
          <a:xfrm>
            <a:off x="685800" y="427969"/>
            <a:ext cx="2351672" cy="923031"/>
          </a:xfrm>
          <a:custGeom>
            <a:avLst/>
            <a:gdLst/>
            <a:ahLst/>
            <a:cxnLst/>
            <a:rect l="l" t="t" r="r" b="b"/>
            <a:pathLst>
              <a:path w="3527508" h="1384547">
                <a:moveTo>
                  <a:pt x="0" y="0"/>
                </a:moveTo>
                <a:lnTo>
                  <a:pt x="3527508" y="0"/>
                </a:lnTo>
                <a:lnTo>
                  <a:pt x="3527508" y="1384547"/>
                </a:lnTo>
                <a:lnTo>
                  <a:pt x="0" y="1384547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067731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797013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4128250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9D2DCF-E028-665D-D0E2-7328332D33EE}"/>
              </a:ext>
            </a:extLst>
          </p:cNvPr>
          <p:cNvSpPr/>
          <p:nvPr userDrawn="1"/>
        </p:nvSpPr>
        <p:spPr>
          <a:xfrm>
            <a:off x="-1" y="5534561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7427AE-35B9-ED93-C9C7-9438A9A5543D}"/>
              </a:ext>
            </a:extLst>
          </p:cNvPr>
          <p:cNvSpPr/>
          <p:nvPr userDrawn="1"/>
        </p:nvSpPr>
        <p:spPr>
          <a:xfrm>
            <a:off x="0" y="206188"/>
            <a:ext cx="12191997" cy="1323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0CF2A-875F-76FC-5062-588EA20A77F3}"/>
              </a:ext>
            </a:extLst>
          </p:cNvPr>
          <p:cNvSpPr>
            <a:spLocks noChangeAspect="1"/>
          </p:cNvSpPr>
          <p:nvPr userDrawn="1"/>
        </p:nvSpPr>
        <p:spPr>
          <a:xfrm>
            <a:off x="4114800" y="0"/>
            <a:ext cx="80772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9CB774E8-C792-4949-7B85-67A3DDD5995E}"/>
              </a:ext>
            </a:extLst>
          </p:cNvPr>
          <p:cNvSpPr/>
          <p:nvPr userDrawn="1"/>
        </p:nvSpPr>
        <p:spPr>
          <a:xfrm>
            <a:off x="685800" y="427969"/>
            <a:ext cx="2351672" cy="923031"/>
          </a:xfrm>
          <a:custGeom>
            <a:avLst/>
            <a:gdLst/>
            <a:ahLst/>
            <a:cxnLst/>
            <a:rect l="l" t="t" r="r" b="b"/>
            <a:pathLst>
              <a:path w="3527508" h="1384547">
                <a:moveTo>
                  <a:pt x="0" y="0"/>
                </a:moveTo>
                <a:lnTo>
                  <a:pt x="3527508" y="0"/>
                </a:lnTo>
                <a:lnTo>
                  <a:pt x="3527508" y="1384547"/>
                </a:lnTo>
                <a:lnTo>
                  <a:pt x="0" y="1384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9FA60B3-300B-24CF-72E2-4B898CA98659}"/>
              </a:ext>
            </a:extLst>
          </p:cNvPr>
          <p:cNvSpPr txBox="1"/>
          <p:nvPr userDrawn="1"/>
        </p:nvSpPr>
        <p:spPr>
          <a:xfrm>
            <a:off x="4521200" y="1193800"/>
            <a:ext cx="4876800" cy="631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00"/>
              </a:lnSpc>
            </a:pPr>
            <a:r>
              <a:rPr lang="en-US" sz="2923" b="1" kern="0">
                <a:solidFill>
                  <a:srgbClr val="056BFC"/>
                </a:solidFill>
                <a:latin typeface="Manrope" pitchFamily="2" charset="0"/>
                <a:sym typeface="Avenir Bold"/>
              </a:rPr>
              <a:t>TABLE OF CONTENTS 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B85F75C-BCAD-CFE3-2D1B-A27015A51A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2067984"/>
            <a:ext cx="1567392" cy="372321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3600" b="1" i="0">
                <a:solidFill>
                  <a:srgbClr val="056BFC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25E5274-64C2-1BA2-8E14-6A362CFD95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21200" y="2067983"/>
            <a:ext cx="3795486" cy="372321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3600" b="1" i="0">
                <a:solidFill>
                  <a:schemeClr val="tx1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Item</a:t>
            </a:r>
          </a:p>
          <a:p>
            <a:pPr lvl="0"/>
            <a:r>
              <a:rPr lang="en-US"/>
              <a:t>Item</a:t>
            </a:r>
          </a:p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734888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70785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999134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716062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460654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6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0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6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5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0" y="280691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7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0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6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6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89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5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4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5" y="278635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2" y="374319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5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237449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188847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54078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2C57D-42D1-D4FB-3BDB-43DB486C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D66BE-23BD-0262-2673-147E771FB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BEC3-1605-9572-C140-59836EAA2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38BD5-0374-4438-9AA1-4435DD1220F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FF3BC-756C-F657-2A57-B095FB48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C90A-CCDC-EE59-43E3-D2307FF5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5BCE-78B7-407D-9B54-5A7C4E4A1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314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0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1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33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458297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7143646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41476794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3521425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6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0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6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5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0" y="280691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7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0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6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6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89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5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5" y="376374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4" y="4706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5" y="278635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2" y="374319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5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5286"/>
            <a:endParaRPr sz="1600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81896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01140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682358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2"/>
            <a:ext cx="1036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5536A0-44D9-A442-2598-495669FC98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8342984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8048947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2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2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504251-7D41-26B9-12D6-B60BF35A1F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1910190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760911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1210091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7EFEB26-929D-7DEA-04AA-171CD8CDDC0F}"/>
              </a:ext>
            </a:extLst>
          </p:cNvPr>
          <p:cNvSpPr/>
          <p:nvPr userDrawn="1"/>
        </p:nvSpPr>
        <p:spPr>
          <a:xfrm>
            <a:off x="342632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F63D2A46-C77F-63C3-5900-949FA936B41F}"/>
              </a:ext>
            </a:extLst>
          </p:cNvPr>
          <p:cNvSpPr/>
          <p:nvPr userDrawn="1"/>
        </p:nvSpPr>
        <p:spPr>
          <a:xfrm>
            <a:off x="342632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24A0215C-A7DD-A167-922E-581085EB1710}"/>
              </a:ext>
            </a:extLst>
          </p:cNvPr>
          <p:cNvSpPr/>
          <p:nvPr userDrawn="1"/>
        </p:nvSpPr>
        <p:spPr>
          <a:xfrm>
            <a:off x="6214969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C458B0E-2691-88B6-303A-D9C381AAE928}"/>
              </a:ext>
            </a:extLst>
          </p:cNvPr>
          <p:cNvSpPr/>
          <p:nvPr userDrawn="1"/>
        </p:nvSpPr>
        <p:spPr>
          <a:xfrm>
            <a:off x="6214969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079F743-04B8-4D59-841E-8D3904F232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2311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4AB4A42-075B-51DA-48BA-67E72705BA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577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5451E0-A358-62C5-D532-F5AAD522D8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1190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D5B7238B-5AEA-434D-C3B3-E185475AAB4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2311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4FE4E9-9D77-DC36-650D-3E0448784E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77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FF53134-BB33-3097-C00A-F8C7F86271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1190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09B0CC2-B229-6628-921E-BD3419E608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87277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C07B648-FBF2-67F4-A066-5B0141987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4543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69651-FAEA-548D-5533-52A7C26150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6156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7746F1-3CB1-FE6D-22F3-140D6FD81E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87277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050F89B-5D8A-4B0E-F8C6-92E4BA075C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4543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C277F03-5E96-92EF-FAA1-3C5E05D309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6156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111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7EFEB26-929D-7DEA-04AA-171CD8CDDC0F}"/>
              </a:ext>
            </a:extLst>
          </p:cNvPr>
          <p:cNvSpPr/>
          <p:nvPr userDrawn="1"/>
        </p:nvSpPr>
        <p:spPr>
          <a:xfrm>
            <a:off x="342632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B7EFB3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F63D2A46-C77F-63C3-5900-949FA936B41F}"/>
              </a:ext>
            </a:extLst>
          </p:cNvPr>
          <p:cNvSpPr/>
          <p:nvPr userDrawn="1"/>
        </p:nvSpPr>
        <p:spPr>
          <a:xfrm>
            <a:off x="342632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DFF8DD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24A0215C-A7DD-A167-922E-581085EB1710}"/>
              </a:ext>
            </a:extLst>
          </p:cNvPr>
          <p:cNvSpPr/>
          <p:nvPr userDrawn="1"/>
        </p:nvSpPr>
        <p:spPr>
          <a:xfrm>
            <a:off x="6214969" y="15335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DFF8DD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C458B0E-2691-88B6-303A-D9C381AAE928}"/>
              </a:ext>
            </a:extLst>
          </p:cNvPr>
          <p:cNvSpPr/>
          <p:nvPr userDrawn="1"/>
        </p:nvSpPr>
        <p:spPr>
          <a:xfrm>
            <a:off x="6214969" y="3895725"/>
            <a:ext cx="5643916" cy="2133600"/>
          </a:xfrm>
          <a:custGeom>
            <a:avLst/>
            <a:gdLst/>
            <a:ahLst/>
            <a:cxnLst/>
            <a:rect l="l" t="t" r="r" b="b"/>
            <a:pathLst>
              <a:path w="7531100" h="2844800">
                <a:moveTo>
                  <a:pt x="7531100" y="0"/>
                </a:moveTo>
                <a:lnTo>
                  <a:pt x="0" y="0"/>
                </a:lnTo>
                <a:lnTo>
                  <a:pt x="0" y="2844800"/>
                </a:lnTo>
                <a:lnTo>
                  <a:pt x="7531100" y="2844800"/>
                </a:lnTo>
                <a:lnTo>
                  <a:pt x="7531100" y="0"/>
                </a:lnTo>
                <a:close/>
              </a:path>
            </a:pathLst>
          </a:custGeom>
          <a:solidFill>
            <a:srgbClr val="B7EFB3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A079F743-04B8-4D59-841E-8D3904F232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2311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4AB4A42-075B-51DA-48BA-67E72705BA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9577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945451E0-A358-62C5-D532-F5AAD522D8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1190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D5B7238B-5AEA-434D-C3B3-E185475AAB4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2311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B14FE4E9-9D77-DC36-650D-3E0448784EE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9577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FF53134-BB33-3097-C00A-F8C7F862711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1190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09B0CC2-B229-6628-921E-BD3419E608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787277" y="1943101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0C07B648-FBF2-67F4-A066-5B0141987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4543" y="2957553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2D69651-FAEA-548D-5533-52A7C26150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86156" y="1822420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7746F1-3CB1-FE6D-22F3-140D6FD81EA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787277" y="4239090"/>
            <a:ext cx="827956" cy="79451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A050F89B-5D8A-4B0E-F8C6-92E4BA075C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44543" y="5253542"/>
            <a:ext cx="1313424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BC277F03-5E96-92EF-FAA1-3C5E05D3096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386156" y="4118409"/>
            <a:ext cx="3212178" cy="1606581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323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0663B2B-0A85-1C48-970B-5230088F2D28}"/>
              </a:ext>
            </a:extLst>
          </p:cNvPr>
          <p:cNvGrpSpPr/>
          <p:nvPr userDrawn="1"/>
        </p:nvGrpSpPr>
        <p:grpSpPr>
          <a:xfrm>
            <a:off x="456844" y="1371600"/>
            <a:ext cx="11278314" cy="1447800"/>
            <a:chOff x="609600" y="2336800"/>
            <a:chExt cx="15049500" cy="19304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BB070F07-0A58-C3B2-569A-94C996783F01}"/>
                </a:ext>
              </a:extLst>
            </p:cNvPr>
            <p:cNvSpPr/>
            <p:nvPr/>
          </p:nvSpPr>
          <p:spPr>
            <a:xfrm>
              <a:off x="6096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9CC5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6DEABB8-C88B-D64F-6175-4E5D3182FF39}"/>
                </a:ext>
              </a:extLst>
            </p:cNvPr>
            <p:cNvSpPr/>
            <p:nvPr/>
          </p:nvSpPr>
          <p:spPr>
            <a:xfrm>
              <a:off x="43688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CFE2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4BE99-43EF-CCEC-E6D6-9230B0D53B7D}"/>
                </a:ext>
              </a:extLst>
            </p:cNvPr>
            <p:cNvSpPr/>
            <p:nvPr/>
          </p:nvSpPr>
          <p:spPr>
            <a:xfrm>
              <a:off x="81407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9CC5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615CC5D-504B-528A-ECD5-079617294AD6}"/>
                </a:ext>
              </a:extLst>
            </p:cNvPr>
            <p:cNvSpPr/>
            <p:nvPr/>
          </p:nvSpPr>
          <p:spPr>
            <a:xfrm>
              <a:off x="118999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CFE2FE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31" name="Picture Placeholder 14">
            <a:extLst>
              <a:ext uri="{FF2B5EF4-FFF2-40B4-BE49-F238E27FC236}">
                <a16:creationId xmlns:a16="http://schemas.microsoft.com/office/drawing/2014/main" id="{3FC88AF6-64DE-663E-793D-9EC2920E84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47094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C56DE8A1-5E6B-74A4-A670-C0F931D173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1E6D71F5-E3B5-8F9F-F2F9-7D3660D58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45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14085669-D3E2-F787-AF9B-27F3922F93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16575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6D82C2BB-23B7-2D30-65F6-A20F0FCAF0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5468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C5A5843-D116-A910-4554-0EF9254DCD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55474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7" name="Picture Placeholder 14">
            <a:extLst>
              <a:ext uri="{FF2B5EF4-FFF2-40B4-BE49-F238E27FC236}">
                <a16:creationId xmlns:a16="http://schemas.microsoft.com/office/drawing/2014/main" id="{C0D734D6-3D2C-14D2-BBDF-8F2ED9DE2C4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4737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4FA1EED-CAAE-F5A0-C33D-C3F2E56A1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284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4D1743D9-5FBD-1E60-E616-FAE8F2FFFD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219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6929C21D-2633-DDE9-C39B-845539752C5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093249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4BA2FCB-D906-6934-BF57-C9E0D2B4EF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135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EA9F3B5-CD29-E3E8-9A26-B6D4E160DE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36796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247A7FF-A5C8-15CF-5D6F-D6DC50D4C54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0840427"/>
              </p:ext>
            </p:extLst>
          </p:nvPr>
        </p:nvGraphicFramePr>
        <p:xfrm>
          <a:off x="456843" y="1371601"/>
          <a:ext cx="11278312" cy="484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578">
                  <a:extLst>
                    <a:ext uri="{9D8B030D-6E8A-4147-A177-3AD203B41FA5}">
                      <a16:colId xmlns:a16="http://schemas.microsoft.com/office/drawing/2014/main" val="431924042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52983817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2562294899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266032356"/>
                    </a:ext>
                  </a:extLst>
                </a:gridCol>
              </a:tblGrid>
              <a:tr h="142875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6798"/>
                  </a:ext>
                </a:extLst>
              </a:tr>
              <a:tr h="70310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426285"/>
                  </a:ext>
                </a:extLst>
              </a:tr>
              <a:tr h="2715079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9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0933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40663B2B-0A85-1C48-970B-5230088F2D28}"/>
              </a:ext>
            </a:extLst>
          </p:cNvPr>
          <p:cNvGrpSpPr/>
          <p:nvPr userDrawn="1"/>
        </p:nvGrpSpPr>
        <p:grpSpPr>
          <a:xfrm>
            <a:off x="456844" y="1371600"/>
            <a:ext cx="11278314" cy="1447800"/>
            <a:chOff x="609600" y="2336800"/>
            <a:chExt cx="15049500" cy="1930400"/>
          </a:xfrm>
        </p:grpSpPr>
        <p:sp>
          <p:nvSpPr>
            <p:cNvPr id="4" name="object 3">
              <a:extLst>
                <a:ext uri="{FF2B5EF4-FFF2-40B4-BE49-F238E27FC236}">
                  <a16:creationId xmlns:a16="http://schemas.microsoft.com/office/drawing/2014/main" id="{BB070F07-0A58-C3B2-569A-94C996783F01}"/>
                </a:ext>
              </a:extLst>
            </p:cNvPr>
            <p:cNvSpPr/>
            <p:nvPr/>
          </p:nvSpPr>
          <p:spPr>
            <a:xfrm>
              <a:off x="6096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8FE68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66DEABB8-C88B-D64F-6175-4E5D3182FF39}"/>
                </a:ext>
              </a:extLst>
            </p:cNvPr>
            <p:cNvSpPr/>
            <p:nvPr/>
          </p:nvSpPr>
          <p:spPr>
            <a:xfrm>
              <a:off x="43688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B7EFB3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4BE99-43EF-CCEC-E6D6-9230B0D53B7D}"/>
                </a:ext>
              </a:extLst>
            </p:cNvPr>
            <p:cNvSpPr/>
            <p:nvPr/>
          </p:nvSpPr>
          <p:spPr>
            <a:xfrm>
              <a:off x="81407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8FE68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1615CC5D-504B-528A-ECD5-079617294AD6}"/>
                </a:ext>
              </a:extLst>
            </p:cNvPr>
            <p:cNvSpPr/>
            <p:nvPr/>
          </p:nvSpPr>
          <p:spPr>
            <a:xfrm>
              <a:off x="11899900" y="2336800"/>
              <a:ext cx="3759200" cy="1930400"/>
            </a:xfrm>
            <a:custGeom>
              <a:avLst/>
              <a:gdLst/>
              <a:ahLst/>
              <a:cxnLst/>
              <a:rect l="l" t="t" r="r" b="b"/>
              <a:pathLst>
                <a:path w="3759200" h="1930400">
                  <a:moveTo>
                    <a:pt x="3759200" y="0"/>
                  </a:moveTo>
                  <a:lnTo>
                    <a:pt x="0" y="0"/>
                  </a:lnTo>
                  <a:lnTo>
                    <a:pt x="0" y="1930400"/>
                  </a:lnTo>
                  <a:lnTo>
                    <a:pt x="3759200" y="1930400"/>
                  </a:lnTo>
                  <a:lnTo>
                    <a:pt x="3759200" y="0"/>
                  </a:lnTo>
                  <a:close/>
                </a:path>
              </a:pathLst>
            </a:custGeom>
            <a:solidFill>
              <a:srgbClr val="B7EFB3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31" name="Picture Placeholder 14">
            <a:extLst>
              <a:ext uri="{FF2B5EF4-FFF2-40B4-BE49-F238E27FC236}">
                <a16:creationId xmlns:a16="http://schemas.microsoft.com/office/drawing/2014/main" id="{3FC88AF6-64DE-663E-793D-9EC2920E84B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447094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C56DE8A1-5E6B-74A4-A670-C0F931D173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1E6D71F5-E3B5-8F9F-F2F9-7D3660D585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45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4" name="Picture Placeholder 14">
            <a:extLst>
              <a:ext uri="{FF2B5EF4-FFF2-40B4-BE49-F238E27FC236}">
                <a16:creationId xmlns:a16="http://schemas.microsoft.com/office/drawing/2014/main" id="{14085669-D3E2-F787-AF9B-27F3922F932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416575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6D82C2BB-23B7-2D30-65F6-A20F0FCAF0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54680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0C5A5843-D116-A910-4554-0EF9254DCD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55474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37" name="Picture Placeholder 14">
            <a:extLst>
              <a:ext uri="{FF2B5EF4-FFF2-40B4-BE49-F238E27FC236}">
                <a16:creationId xmlns:a16="http://schemas.microsoft.com/office/drawing/2014/main" id="{C0D734D6-3D2C-14D2-BBDF-8F2ED9DE2C4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4737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4FA1EED-CAAE-F5A0-C33D-C3F2E56A12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284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4D1743D9-5FBD-1E60-E616-FAE8F2FFFD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2192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40" name="Picture Placeholder 14">
            <a:extLst>
              <a:ext uri="{FF2B5EF4-FFF2-40B4-BE49-F238E27FC236}">
                <a16:creationId xmlns:a16="http://schemas.microsoft.com/office/drawing/2014/main" id="{6929C21D-2633-DDE9-C39B-845539752C5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093249" y="1835014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64BA2FCB-D906-6934-BF57-C9E0D2B4EF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1354" y="2942855"/>
            <a:ext cx="1884478" cy="397860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4EA9F3B5-CD29-E3E8-9A26-B6D4E160DE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236796" y="3789240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247A7FF-A5C8-15CF-5D6F-D6DC50D4C54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45747665"/>
              </p:ext>
            </p:extLst>
          </p:nvPr>
        </p:nvGraphicFramePr>
        <p:xfrm>
          <a:off x="456843" y="1371601"/>
          <a:ext cx="11278312" cy="4846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578">
                  <a:extLst>
                    <a:ext uri="{9D8B030D-6E8A-4147-A177-3AD203B41FA5}">
                      <a16:colId xmlns:a16="http://schemas.microsoft.com/office/drawing/2014/main" val="431924042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52983817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2562294899"/>
                    </a:ext>
                  </a:extLst>
                </a:gridCol>
                <a:gridCol w="2819578">
                  <a:extLst>
                    <a:ext uri="{9D8B030D-6E8A-4147-A177-3AD203B41FA5}">
                      <a16:colId xmlns:a16="http://schemas.microsoft.com/office/drawing/2014/main" val="3266032356"/>
                    </a:ext>
                  </a:extLst>
                </a:gridCol>
              </a:tblGrid>
              <a:tr h="142875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6798"/>
                  </a:ext>
                </a:extLst>
              </a:tr>
              <a:tr h="703106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426285"/>
                  </a:ext>
                </a:extLst>
              </a:tr>
              <a:tr h="2715079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26" marR="68526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9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1238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ED4BD36-9BED-4EF7-FD63-7320A60B027E}"/>
              </a:ext>
            </a:extLst>
          </p:cNvPr>
          <p:cNvSpPr/>
          <p:nvPr userDrawn="1"/>
        </p:nvSpPr>
        <p:spPr>
          <a:xfrm>
            <a:off x="456844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D3528154-C6CC-1D75-61D2-E17233D42A69}"/>
              </a:ext>
            </a:extLst>
          </p:cNvPr>
          <p:cNvSpPr/>
          <p:nvPr userDrawn="1"/>
        </p:nvSpPr>
        <p:spPr>
          <a:xfrm>
            <a:off x="3340666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C8D881E6-CB0C-8DFC-220D-1A106C7B580F}"/>
              </a:ext>
            </a:extLst>
          </p:cNvPr>
          <p:cNvSpPr/>
          <p:nvPr userDrawn="1"/>
        </p:nvSpPr>
        <p:spPr>
          <a:xfrm>
            <a:off x="6224488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391B23FA-5326-F016-A184-5D42706A5BBB}"/>
              </a:ext>
            </a:extLst>
          </p:cNvPr>
          <p:cNvSpPr/>
          <p:nvPr userDrawn="1"/>
        </p:nvSpPr>
        <p:spPr>
          <a:xfrm>
            <a:off x="9098792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solidFill>
            <a:srgbClr val="CFE2FE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86B13-312F-6BCC-EF2B-6B1B2C3F56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0834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B60A92-8217-9A1F-FA1F-3293C69F9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585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C95ED58-4035-0CB3-9C2C-CB40CAB45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585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762E2364-A71C-57A7-2115-0D99572878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57824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10BD5D9-0129-0EC1-4E38-0BE895D35B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284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718D087-76DF-0390-7D59-28017076AD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284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F3EE2BC-36EA-0BFC-A7AA-8896DACCBA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5936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727C2525-E438-09B6-8228-7483CCB9B8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30954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ADEA212-96D9-0D66-7B5E-8CD0B440C0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30954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1048E5E5-744A-3FD7-322B-C47A39F599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0180" y="1880722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9747BBB-B0E9-F296-45A2-FDCF243EC4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636805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3519C241-1ADE-CCEB-855C-1316E0E85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5200" y="3429001"/>
            <a:ext cx="1884478" cy="1308163"/>
          </a:xfrm>
          <a:prstGeom prst="rect">
            <a:avLst/>
          </a:prstGeom>
        </p:spPr>
        <p:txBody>
          <a:bodyPr anchor="ctr"/>
          <a:lstStyle>
            <a:lvl1pPr marL="256982" indent="-256982">
              <a:buFont typeface="Arial" panose="020B0604020202020204" pitchFamily="34" charset="0"/>
              <a:buChar char="•"/>
              <a:defRPr sz="119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106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7ED4BD36-9BED-4EF7-FD63-7320A60B027E}"/>
              </a:ext>
            </a:extLst>
          </p:cNvPr>
          <p:cNvSpPr/>
          <p:nvPr userDrawn="1"/>
        </p:nvSpPr>
        <p:spPr>
          <a:xfrm>
            <a:off x="456844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D3528154-C6CC-1D75-61D2-E17233D42A69}"/>
              </a:ext>
            </a:extLst>
          </p:cNvPr>
          <p:cNvSpPr/>
          <p:nvPr userDrawn="1"/>
        </p:nvSpPr>
        <p:spPr>
          <a:xfrm>
            <a:off x="3340666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C8D881E6-CB0C-8DFC-220D-1A106C7B580F}"/>
              </a:ext>
            </a:extLst>
          </p:cNvPr>
          <p:cNvSpPr/>
          <p:nvPr userDrawn="1"/>
        </p:nvSpPr>
        <p:spPr>
          <a:xfrm>
            <a:off x="6224488" y="1652587"/>
            <a:ext cx="2607813" cy="4114800"/>
          </a:xfrm>
          <a:custGeom>
            <a:avLst/>
            <a:gdLst/>
            <a:ahLst/>
            <a:cxnLst/>
            <a:rect l="l" t="t" r="r" b="b"/>
            <a:pathLst>
              <a:path w="3479800" h="5486400">
                <a:moveTo>
                  <a:pt x="3479800" y="0"/>
                </a:moveTo>
                <a:lnTo>
                  <a:pt x="0" y="0"/>
                </a:lnTo>
                <a:lnTo>
                  <a:pt x="0" y="5486400"/>
                </a:lnTo>
                <a:lnTo>
                  <a:pt x="3479800" y="5486400"/>
                </a:lnTo>
                <a:lnTo>
                  <a:pt x="3479800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 r="-55000" b="-52000"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391B23FA-5326-F016-A184-5D42706A5BBB}"/>
              </a:ext>
            </a:extLst>
          </p:cNvPr>
          <p:cNvSpPr/>
          <p:nvPr userDrawn="1"/>
        </p:nvSpPr>
        <p:spPr>
          <a:xfrm>
            <a:off x="9098792" y="1652587"/>
            <a:ext cx="2617330" cy="4114800"/>
          </a:xfrm>
          <a:custGeom>
            <a:avLst/>
            <a:gdLst/>
            <a:ahLst/>
            <a:cxnLst/>
            <a:rect l="l" t="t" r="r" b="b"/>
            <a:pathLst>
              <a:path w="3492500" h="5486400">
                <a:moveTo>
                  <a:pt x="3492500" y="0"/>
                </a:moveTo>
                <a:lnTo>
                  <a:pt x="0" y="0"/>
                </a:lnTo>
                <a:lnTo>
                  <a:pt x="0" y="5486400"/>
                </a:lnTo>
                <a:lnTo>
                  <a:pt x="3492500" y="5486400"/>
                </a:lnTo>
                <a:lnTo>
                  <a:pt x="3492500" y="0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86B13-312F-6BCC-EF2B-6B1B2C3F56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0834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B60A92-8217-9A1F-FA1F-3293C69F9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585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8C95ED58-4035-0CB3-9C2C-CB40CAB45B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585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762E2364-A71C-57A7-2115-0D99572878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57824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410BD5D9-0129-0EC1-4E38-0BE895D35B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5284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B718D087-76DF-0390-7D59-28017076AD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5284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BF3EE2BC-36EA-0BFC-A7AA-8896DACCBAC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5936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727C2525-E438-09B6-8228-7483CCB9B8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30954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CADEA212-96D9-0D66-7B5E-8CD0B440C0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30954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1048E5E5-744A-3FD7-322B-C47A39F599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0180" y="1943101"/>
            <a:ext cx="560689" cy="5380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9747BBB-B0E9-F296-45A2-FDCF243EC4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5200" y="2745390"/>
            <a:ext cx="1884478" cy="397860"/>
          </a:xfrm>
          <a:prstGeom prst="rect">
            <a:avLst/>
          </a:prstGeom>
        </p:spPr>
        <p:txBody>
          <a:bodyPr anchor="ctr"/>
          <a:lstStyle>
            <a:lvl1pPr>
              <a:defRPr sz="1799" b="1" i="0">
                <a:latin typeface="Manrope SemiBold" pitchFamily="2" charset="0"/>
              </a:defRPr>
            </a:lvl1pPr>
          </a:lstStyle>
          <a:p>
            <a:pPr lvl="0"/>
            <a:r>
              <a:rPr lang="en-US" b="1" i="0">
                <a:latin typeface="Manrope SemiBold" pitchFamily="2" charset="0"/>
              </a:rPr>
              <a:t>Header </a:t>
            </a:r>
          </a:p>
          <a:p>
            <a:pPr lvl="0"/>
            <a:r>
              <a:rPr lang="en-US" b="1" i="0">
                <a:latin typeface="Manrope SemiBold" pitchFamily="2" charset="0"/>
              </a:rPr>
              <a:t>Text</a:t>
            </a:r>
            <a:endParaRPr lang="en-US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3519C241-1ADE-CCEB-855C-1316E0E85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5200" y="3429001"/>
            <a:ext cx="1884478" cy="1308163"/>
          </a:xfrm>
          <a:prstGeom prst="rect">
            <a:avLst/>
          </a:prstGeom>
        </p:spPr>
        <p:txBody>
          <a:bodyPr anchor="t"/>
          <a:lstStyle>
            <a:lvl1pPr marL="256982" indent="-256982">
              <a:buFont typeface="Arial" panose="020B0604020202020204" pitchFamily="34" charset="0"/>
              <a:buChar char="•"/>
              <a:defRPr sz="1349" b="0" i="0">
                <a:latin typeface="Manrope" pitchFamily="2" charset="0"/>
              </a:defRPr>
            </a:lvl1pPr>
          </a:lstStyle>
          <a:p>
            <a:pPr lvl="0"/>
            <a:r>
              <a:rPr lang="en-US" b="0" i="0">
                <a:latin typeface="Manrope" pitchFamily="2" charset="0"/>
              </a:rPr>
              <a:t>Item 1</a:t>
            </a:r>
          </a:p>
          <a:p>
            <a:pPr lvl="0"/>
            <a:r>
              <a:rPr lang="en-US" b="0" i="0">
                <a:latin typeface="Manrope" pitchFamily="2" charset="0"/>
              </a:rPr>
              <a:t>Item 2</a:t>
            </a:r>
          </a:p>
          <a:p>
            <a:pPr lvl="0"/>
            <a:r>
              <a:rPr lang="en-US" b="0" i="0">
                <a:latin typeface="Manrope" pitchFamily="2" charset="0"/>
              </a:rPr>
              <a:t>Item 3</a:t>
            </a:r>
          </a:p>
          <a:p>
            <a:pPr lvl="0"/>
            <a:r>
              <a:rPr lang="en-US" b="0" i="0">
                <a:latin typeface="Manrope" pitchFamily="2" charset="0"/>
              </a:rPr>
              <a:t>Item 4</a:t>
            </a:r>
          </a:p>
          <a:p>
            <a:pPr lvl="0"/>
            <a:r>
              <a:rPr lang="en-US" b="0" i="0">
                <a:latin typeface="Manrope" pitchFamily="2" charset="0"/>
              </a:rPr>
              <a:t>Item 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4598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153DAD-FC8D-9228-FBE7-0F7A6FB642AF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A3467-0FE6-771E-9E01-270A158C8AC0}"/>
              </a:ext>
            </a:extLst>
          </p:cNvPr>
          <p:cNvSpPr txBox="1"/>
          <p:nvPr userDrawn="1"/>
        </p:nvSpPr>
        <p:spPr>
          <a:xfrm>
            <a:off x="104374" y="6572252"/>
            <a:ext cx="2279791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9" b="0" i="0">
                <a:solidFill>
                  <a:schemeClr val="bg1"/>
                </a:solidFill>
                <a:latin typeface="Manrope Medium" pitchFamily="2" charset="0"/>
              </a:rPr>
              <a:t>Let’s insure the future. Together.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F4A9E2E-C2B4-1AF9-A1A8-F2CA7B67B7E6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6EB84D5F-92F1-5A21-5DC6-F0E8DB517CD0}"/>
              </a:ext>
            </a:extLst>
          </p:cNvPr>
          <p:cNvSpPr/>
          <p:nvPr userDrawn="1"/>
        </p:nvSpPr>
        <p:spPr>
          <a:xfrm>
            <a:off x="0" y="6505576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DBB2E-214B-DBD2-3EB3-ABF899460A07}"/>
              </a:ext>
            </a:extLst>
          </p:cNvPr>
          <p:cNvSpPr txBox="1"/>
          <p:nvPr userDrawn="1"/>
        </p:nvSpPr>
        <p:spPr>
          <a:xfrm>
            <a:off x="354814" y="1539845"/>
            <a:ext cx="4085130" cy="156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8">
                <a:solidFill>
                  <a:srgbClr val="0253D2"/>
                </a:solidFill>
                <a:latin typeface="Manrope Light" pitchFamily="2" charset="0"/>
              </a:rPr>
              <a:t>Insuring the future </a:t>
            </a:r>
            <a:r>
              <a:rPr lang="en-US" sz="2398">
                <a:latin typeface="Manrope Light" pitchFamily="2" charset="0"/>
              </a:rPr>
              <a:t>with global, national, and regional insurers since 2000.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97EFB2E3-6C32-DF09-0251-754B38FBAB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550" b="33715"/>
          <a:stretch>
            <a:fillRect/>
          </a:stretch>
        </p:blipFill>
        <p:spPr>
          <a:xfrm>
            <a:off x="354815" y="2408757"/>
            <a:ext cx="6225495" cy="382153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26C12B8-2AF6-F25A-7A4C-DF2F5D249085}"/>
              </a:ext>
            </a:extLst>
          </p:cNvPr>
          <p:cNvSpPr txBox="1"/>
          <p:nvPr userDrawn="1"/>
        </p:nvSpPr>
        <p:spPr>
          <a:xfrm>
            <a:off x="2212835" y="380053"/>
            <a:ext cx="2044149" cy="415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98" b="1" i="0">
                <a:solidFill>
                  <a:srgbClr val="0153D2"/>
                </a:solidFill>
                <a:latin typeface="Manrope SemiBold" pitchFamily="2" charset="0"/>
              </a:rPr>
              <a:t>Who We Serve</a:t>
            </a:r>
          </a:p>
        </p:txBody>
      </p:sp>
      <p:pic>
        <p:nvPicPr>
          <p:cNvPr id="36" name="Picture 2" descr="Image result for pekin insurance logo png">
            <a:extLst>
              <a:ext uri="{FF2B5EF4-FFF2-40B4-BE49-F238E27FC236}">
                <a16:creationId xmlns:a16="http://schemas.microsoft.com/office/drawing/2014/main" id="{7CD4846B-2269-884D-71F9-C40C1A19F9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32206" y="3364718"/>
            <a:ext cx="1727588" cy="5166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D68B525-D122-AAC2-A78E-020D26E1B50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5859" y="3318357"/>
            <a:ext cx="1392827" cy="62246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912BDE3-BD2A-F7E8-5505-43DDA666785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7445" y="3461340"/>
            <a:ext cx="1520220" cy="32336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B01FF46-4F4E-D408-746C-5D73D9F6E02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9726" y="4400550"/>
            <a:ext cx="1610994" cy="47297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21548DC-EB79-C66D-8BC0-028DAA713F2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8844" y="5364830"/>
            <a:ext cx="1840930" cy="30338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BECD29D-7898-9CB8-2F6D-F0AE45048DD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2207" y="1580646"/>
            <a:ext cx="1255285" cy="58324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5ADA74E-A1A1-28AB-9334-F4D23D5771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670" r="20310"/>
          <a:stretch/>
        </p:blipFill>
        <p:spPr>
          <a:xfrm>
            <a:off x="8384408" y="4218587"/>
            <a:ext cx="964208" cy="68726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FDBCF6F-6447-2DAB-F32C-DF369914688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32208" y="5177687"/>
            <a:ext cx="693462" cy="67767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42D79D7-59B5-5C76-3906-C92D8879124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3377" y="5378390"/>
            <a:ext cx="1760343" cy="303384"/>
          </a:xfrm>
          <a:prstGeom prst="rect">
            <a:avLst/>
          </a:prstGeom>
        </p:spPr>
      </p:pic>
      <p:pic>
        <p:nvPicPr>
          <p:cNvPr id="45" name="Picture 44" descr="See the source image">
            <a:extLst>
              <a:ext uri="{FF2B5EF4-FFF2-40B4-BE49-F238E27FC236}">
                <a16:creationId xmlns:a16="http://schemas.microsoft.com/office/drawing/2014/main" id="{CE0E5540-7116-2EF2-85FA-2BFA683D5C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815" y="1444603"/>
            <a:ext cx="947940" cy="8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41BA846B-CB66-8631-6FCF-494FFBC617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4"/>
          <a:stretch/>
        </p:blipFill>
        <p:spPr>
          <a:xfrm>
            <a:off x="5232207" y="4349075"/>
            <a:ext cx="1247035" cy="45288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09AFF7A-2DF5-B9E5-AF13-F8259AAD783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488" r="12029"/>
          <a:stretch>
            <a:fillRect/>
          </a:stretch>
        </p:blipFill>
        <p:spPr>
          <a:xfrm>
            <a:off x="9594913" y="2445209"/>
            <a:ext cx="1944861" cy="632240"/>
          </a:xfrm>
          <a:prstGeom prst="rect">
            <a:avLst/>
          </a:prstGeom>
        </p:spPr>
      </p:pic>
      <p:pic>
        <p:nvPicPr>
          <p:cNvPr id="48" name="Picture 2" descr="Home | Mountain West Farm Bureau Mutual Insurance Company">
            <a:extLst>
              <a:ext uri="{FF2B5EF4-FFF2-40B4-BE49-F238E27FC236}">
                <a16:creationId xmlns:a16="http://schemas.microsoft.com/office/drawing/2014/main" id="{6347BC93-3A02-4AF2-B9ED-69E147B25C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789" y="4464440"/>
            <a:ext cx="1934985" cy="22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8" descr="HAI Group Blog: Affordable Housing and Insurance Insights">
            <a:extLst>
              <a:ext uri="{FF2B5EF4-FFF2-40B4-BE49-F238E27FC236}">
                <a16:creationId xmlns:a16="http://schemas.microsoft.com/office/drawing/2014/main" id="{4A396442-12E7-EDCF-60B8-4B3F45EE73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455" y="2440019"/>
            <a:ext cx="1880357" cy="5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COUNTRY Financial | Insurance, Investing, Retirement Planning">
            <a:extLst>
              <a:ext uri="{FF2B5EF4-FFF2-40B4-BE49-F238E27FC236}">
                <a16:creationId xmlns:a16="http://schemas.microsoft.com/office/drawing/2014/main" id="{6B9CAC46-D774-8E0E-0A32-7A03B2893B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168" y="1580054"/>
            <a:ext cx="1597986" cy="58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American National Insurance Company - Wikipedia">
            <a:extLst>
              <a:ext uri="{FF2B5EF4-FFF2-40B4-BE49-F238E27FC236}">
                <a16:creationId xmlns:a16="http://schemas.microsoft.com/office/drawing/2014/main" id="{629BCBF7-AA6E-AA88-BCB9-49EF81A7C4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4796" y="3355040"/>
            <a:ext cx="954977" cy="53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00C90EE-4A94-3E5C-940A-B0EE122E92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l="5266" r="5927"/>
          <a:stretch/>
        </p:blipFill>
        <p:spPr>
          <a:xfrm>
            <a:off x="10408417" y="1644773"/>
            <a:ext cx="1131357" cy="45499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2B85DC12-8D29-7E38-EBB1-91C5BFE68ABD}"/>
              </a:ext>
            </a:extLst>
          </p:cNvPr>
          <p:cNvGrpSpPr/>
          <p:nvPr userDrawn="1"/>
        </p:nvGrpSpPr>
        <p:grpSpPr>
          <a:xfrm>
            <a:off x="8377825" y="5232318"/>
            <a:ext cx="891013" cy="685466"/>
            <a:chOff x="9256132" y="5428957"/>
            <a:chExt cx="897771" cy="729412"/>
          </a:xfrm>
        </p:grpSpPr>
        <p:pic>
          <p:nvPicPr>
            <p:cNvPr id="54" name="Picture 53" descr="Idaho Farm Bureau Insurance Company">
              <a:extLst>
                <a:ext uri="{FF2B5EF4-FFF2-40B4-BE49-F238E27FC236}">
                  <a16:creationId xmlns:a16="http://schemas.microsoft.com/office/drawing/2014/main" id="{37802D7F-4FEF-2957-A4F5-79FDF197D9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6132" y="5428957"/>
              <a:ext cx="897771" cy="527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33">
              <a:extLst>
                <a:ext uri="{FF2B5EF4-FFF2-40B4-BE49-F238E27FC236}">
                  <a16:creationId xmlns:a16="http://schemas.microsoft.com/office/drawing/2014/main" id="{F648401F-4479-B385-05BC-AEC66BB29D76}"/>
                </a:ext>
              </a:extLst>
            </p:cNvPr>
            <p:cNvSpPr txBox="1"/>
            <p:nvPr/>
          </p:nvSpPr>
          <p:spPr>
            <a:xfrm>
              <a:off x="9435171" y="5884900"/>
              <a:ext cx="645575" cy="273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8973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70" b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Idaho</a:t>
              </a:r>
            </a:p>
          </p:txBody>
        </p:sp>
      </p:grpSp>
      <p:pic>
        <p:nvPicPr>
          <p:cNvPr id="56" name="Picture 55" descr="A black and grey logo&#10;&#10;AI-generated content may be incorrect.">
            <a:extLst>
              <a:ext uri="{FF2B5EF4-FFF2-40B4-BE49-F238E27FC236}">
                <a16:creationId xmlns:a16="http://schemas.microsoft.com/office/drawing/2014/main" id="{A1FACE7E-38C1-784B-C9B3-FE2DA2F91D6E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207" y="2417801"/>
            <a:ext cx="2117721" cy="5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49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306E10-9D40-E55D-C5D3-9669F498C2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" t="2975" r="27190" b="50772"/>
          <a:stretch>
            <a:fillRect/>
          </a:stretch>
        </p:blipFill>
        <p:spPr>
          <a:xfrm>
            <a:off x="268449" y="1294718"/>
            <a:ext cx="4635028" cy="4926050"/>
          </a:xfrm>
          <a:prstGeom prst="rect">
            <a:avLst/>
          </a:prstGeom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C153DAD-FC8D-9228-FBE7-0F7A6FB642AF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A3467-0FE6-771E-9E01-270A158C8AC0}"/>
              </a:ext>
            </a:extLst>
          </p:cNvPr>
          <p:cNvSpPr txBox="1"/>
          <p:nvPr userDrawn="1"/>
        </p:nvSpPr>
        <p:spPr>
          <a:xfrm>
            <a:off x="104374" y="6572252"/>
            <a:ext cx="2279791" cy="253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49" b="0" i="0">
                <a:solidFill>
                  <a:schemeClr val="bg1"/>
                </a:solidFill>
                <a:latin typeface="Manrope Medium" pitchFamily="2" charset="0"/>
              </a:rPr>
              <a:t>Let’s insure the future. Together.</a:t>
            </a: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1F4A9E2E-C2B4-1AF9-A1A8-F2CA7B67B7E6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6EB84D5F-92F1-5A21-5DC6-F0E8DB517CD0}"/>
              </a:ext>
            </a:extLst>
          </p:cNvPr>
          <p:cNvSpPr/>
          <p:nvPr userDrawn="1"/>
        </p:nvSpPr>
        <p:spPr>
          <a:xfrm>
            <a:off x="0" y="6505576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9DBB2E-214B-DBD2-3EB3-ABF899460A07}"/>
              </a:ext>
            </a:extLst>
          </p:cNvPr>
          <p:cNvSpPr txBox="1"/>
          <p:nvPr userDrawn="1"/>
        </p:nvSpPr>
        <p:spPr>
          <a:xfrm>
            <a:off x="543398" y="1653964"/>
            <a:ext cx="4085130" cy="156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98">
                <a:solidFill>
                  <a:srgbClr val="0253D2"/>
                </a:solidFill>
                <a:latin typeface="Manrope Light" pitchFamily="2" charset="0"/>
              </a:rPr>
              <a:t>Insuring the future </a:t>
            </a:r>
            <a:r>
              <a:rPr lang="en-US" sz="2398">
                <a:latin typeface="Manrope Light" pitchFamily="2" charset="0"/>
              </a:rPr>
              <a:t>with global, national, and regional insurers since 2000.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6C12B8-2AF6-F25A-7A4C-DF2F5D249085}"/>
              </a:ext>
            </a:extLst>
          </p:cNvPr>
          <p:cNvSpPr txBox="1"/>
          <p:nvPr userDrawn="1"/>
        </p:nvSpPr>
        <p:spPr>
          <a:xfrm>
            <a:off x="2212835" y="380053"/>
            <a:ext cx="2044149" cy="415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98" b="1" i="0">
                <a:solidFill>
                  <a:srgbClr val="0153D2"/>
                </a:solidFill>
                <a:latin typeface="Manrope SemiBold" pitchFamily="2" charset="0"/>
              </a:rPr>
              <a:t>Who We Serve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54F21F9-26A5-0551-9EAE-52551B14DE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36629" y="3744363"/>
            <a:ext cx="2047421" cy="2135768"/>
          </a:xfrm>
          <a:prstGeom prst="rect">
            <a:avLst/>
          </a:prstGeom>
        </p:spPr>
      </p:pic>
      <p:pic>
        <p:nvPicPr>
          <p:cNvPr id="38" name="Picture 2" descr="Image result for pekin insurance logo png">
            <a:extLst>
              <a:ext uri="{FF2B5EF4-FFF2-40B4-BE49-F238E27FC236}">
                <a16:creationId xmlns:a16="http://schemas.microsoft.com/office/drawing/2014/main" id="{407A39B1-5616-D7A8-3CF5-7DF959B77C3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20124" y="3364718"/>
            <a:ext cx="1727588" cy="51660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48EEBBF5-DEBB-C582-7DAB-38E07CAB1AA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33777" y="3318357"/>
            <a:ext cx="1392827" cy="62246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14E6E2D-9B3A-A0BB-F148-8ABCC4B6474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5364" y="3461340"/>
            <a:ext cx="1520220" cy="32336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FB291AA-CF4B-1B8B-28EB-6CE589B7709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7644" y="4400550"/>
            <a:ext cx="1610994" cy="47297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3480007-2994-ADE4-71ED-B4800EB235D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6762" y="5364830"/>
            <a:ext cx="1840930" cy="30338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B578F85-BB8C-143F-9429-E946C6B2B06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0125" y="1580646"/>
            <a:ext cx="1255285" cy="58324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AE3FC8D-2149-F9E8-5DF5-E3B46623C5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1670" r="20310"/>
          <a:stretch/>
        </p:blipFill>
        <p:spPr>
          <a:xfrm>
            <a:off x="8672326" y="4218587"/>
            <a:ext cx="964208" cy="68726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DC7F377-ED9A-333F-E4C3-1F104832A25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20126" y="5177687"/>
            <a:ext cx="693462" cy="67767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D2788CF-86DF-D1A3-22B3-5E2430A9F98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01295" y="5378390"/>
            <a:ext cx="1760343" cy="303384"/>
          </a:xfrm>
          <a:prstGeom prst="rect">
            <a:avLst/>
          </a:prstGeom>
        </p:spPr>
      </p:pic>
      <p:pic>
        <p:nvPicPr>
          <p:cNvPr id="47" name="Picture 46" descr="See the source image">
            <a:extLst>
              <a:ext uri="{FF2B5EF4-FFF2-40B4-BE49-F238E27FC236}">
                <a16:creationId xmlns:a16="http://schemas.microsoft.com/office/drawing/2014/main" id="{F4A785BD-0080-8833-7949-AEE2038D1F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6733" y="1444603"/>
            <a:ext cx="947940" cy="85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7D19D2-001A-6C57-5230-89D6412068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324"/>
          <a:stretch/>
        </p:blipFill>
        <p:spPr>
          <a:xfrm>
            <a:off x="5520125" y="4349075"/>
            <a:ext cx="1247035" cy="45288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60C2C232-4B5A-234C-0697-C141E73D1AE3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2488" r="12029"/>
          <a:stretch>
            <a:fillRect/>
          </a:stretch>
        </p:blipFill>
        <p:spPr>
          <a:xfrm>
            <a:off x="9882832" y="2445209"/>
            <a:ext cx="1944861" cy="632240"/>
          </a:xfrm>
          <a:prstGeom prst="rect">
            <a:avLst/>
          </a:prstGeom>
        </p:spPr>
      </p:pic>
      <p:pic>
        <p:nvPicPr>
          <p:cNvPr id="50" name="Picture 2" descr="Home | Mountain West Farm Bureau Mutual Insurance Company">
            <a:extLst>
              <a:ext uri="{FF2B5EF4-FFF2-40B4-BE49-F238E27FC236}">
                <a16:creationId xmlns:a16="http://schemas.microsoft.com/office/drawing/2014/main" id="{D908D864-4726-063E-E0CB-1E24FAFC54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2707" y="4464440"/>
            <a:ext cx="1934985" cy="22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8" descr="HAI Group Blog: Affordable Housing and Insurance Insights">
            <a:extLst>
              <a:ext uri="{FF2B5EF4-FFF2-40B4-BE49-F238E27FC236}">
                <a16:creationId xmlns:a16="http://schemas.microsoft.com/office/drawing/2014/main" id="{0B7F193D-6DC8-6605-3FB9-685A2D75EE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374" y="2440019"/>
            <a:ext cx="1880357" cy="564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COUNTRY Financial | Insurance, Investing, Retirement Planning">
            <a:extLst>
              <a:ext uri="{FF2B5EF4-FFF2-40B4-BE49-F238E27FC236}">
                <a16:creationId xmlns:a16="http://schemas.microsoft.com/office/drawing/2014/main" id="{A085A8D6-62C6-6C59-7781-4B7F034E8D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7086" y="1580054"/>
            <a:ext cx="1597986" cy="58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American National Insurance Company - Wikipedia">
            <a:extLst>
              <a:ext uri="{FF2B5EF4-FFF2-40B4-BE49-F238E27FC236}">
                <a16:creationId xmlns:a16="http://schemas.microsoft.com/office/drawing/2014/main" id="{2B0892B0-D209-BB4D-850D-C13144961F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2715" y="3355040"/>
            <a:ext cx="954977" cy="53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14700CD-7553-0116-5E7F-28A9852147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3"/>
          <a:srcRect l="5266" r="5927"/>
          <a:stretch/>
        </p:blipFill>
        <p:spPr>
          <a:xfrm>
            <a:off x="10696335" y="1644773"/>
            <a:ext cx="1131357" cy="454997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02E321A0-E699-6C6B-E4F7-AFE5CB708E16}"/>
              </a:ext>
            </a:extLst>
          </p:cNvPr>
          <p:cNvGrpSpPr/>
          <p:nvPr userDrawn="1"/>
        </p:nvGrpSpPr>
        <p:grpSpPr>
          <a:xfrm>
            <a:off x="8665744" y="5232318"/>
            <a:ext cx="891013" cy="685466"/>
            <a:chOff x="9256132" y="5428957"/>
            <a:chExt cx="897771" cy="729412"/>
          </a:xfrm>
        </p:grpSpPr>
        <p:pic>
          <p:nvPicPr>
            <p:cNvPr id="56" name="Picture 55" descr="Idaho Farm Bureau Insurance Company">
              <a:extLst>
                <a:ext uri="{FF2B5EF4-FFF2-40B4-BE49-F238E27FC236}">
                  <a16:creationId xmlns:a16="http://schemas.microsoft.com/office/drawing/2014/main" id="{D13E8920-CCFE-A6E5-A3FC-20DD246E81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56132" y="5428957"/>
              <a:ext cx="897771" cy="527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33">
              <a:extLst>
                <a:ext uri="{FF2B5EF4-FFF2-40B4-BE49-F238E27FC236}">
                  <a16:creationId xmlns:a16="http://schemas.microsoft.com/office/drawing/2014/main" id="{4AA0EDCA-81F0-32F9-E73C-896DA6D4429F}"/>
                </a:ext>
              </a:extLst>
            </p:cNvPr>
            <p:cNvSpPr txBox="1"/>
            <p:nvPr/>
          </p:nvSpPr>
          <p:spPr>
            <a:xfrm>
              <a:off x="9435171" y="5884900"/>
              <a:ext cx="645575" cy="2734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88973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070" b="1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Idaho</a:t>
              </a:r>
            </a:p>
          </p:txBody>
        </p:sp>
      </p:grpSp>
      <p:pic>
        <p:nvPicPr>
          <p:cNvPr id="58" name="Picture 57" descr="A black and grey logo&#10;&#10;AI-generated content may be incorrect.">
            <a:extLst>
              <a:ext uri="{FF2B5EF4-FFF2-40B4-BE49-F238E27FC236}">
                <a16:creationId xmlns:a16="http://schemas.microsoft.com/office/drawing/2014/main" id="{9C182163-932B-B129-87F9-9C1DD9BA4317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125" y="2417801"/>
            <a:ext cx="2117721" cy="53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737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8D63801-78FD-1CC9-BD65-A93C9BFE3B78}"/>
              </a:ext>
            </a:extLst>
          </p:cNvPr>
          <p:cNvSpPr/>
          <p:nvPr userDrawn="1"/>
        </p:nvSpPr>
        <p:spPr>
          <a:xfrm>
            <a:off x="762384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10" y="0"/>
                </a:moveTo>
                <a:lnTo>
                  <a:pt x="209969" y="0"/>
                </a:lnTo>
                <a:lnTo>
                  <a:pt x="161824" y="5543"/>
                </a:lnTo>
                <a:lnTo>
                  <a:pt x="117629" y="21336"/>
                </a:lnTo>
                <a:lnTo>
                  <a:pt x="78643" y="46116"/>
                </a:lnTo>
                <a:lnTo>
                  <a:pt x="46127" y="78625"/>
                </a:lnTo>
                <a:lnTo>
                  <a:pt x="21341" y="117604"/>
                </a:lnTo>
                <a:lnTo>
                  <a:pt x="5545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5" y="3859535"/>
                </a:lnTo>
                <a:lnTo>
                  <a:pt x="21341" y="3903723"/>
                </a:lnTo>
                <a:lnTo>
                  <a:pt x="46127" y="3942702"/>
                </a:lnTo>
                <a:lnTo>
                  <a:pt x="78643" y="3975211"/>
                </a:lnTo>
                <a:lnTo>
                  <a:pt x="117629" y="3999991"/>
                </a:lnTo>
                <a:lnTo>
                  <a:pt x="161824" y="4015784"/>
                </a:lnTo>
                <a:lnTo>
                  <a:pt x="209969" y="4021328"/>
                </a:lnTo>
                <a:lnTo>
                  <a:pt x="2142210" y="4021328"/>
                </a:lnTo>
                <a:lnTo>
                  <a:pt x="2190348" y="4015784"/>
                </a:lnTo>
                <a:lnTo>
                  <a:pt x="2234537" y="3999991"/>
                </a:lnTo>
                <a:lnTo>
                  <a:pt x="2273515" y="3975211"/>
                </a:lnTo>
                <a:lnTo>
                  <a:pt x="2306025" y="3942702"/>
                </a:lnTo>
                <a:lnTo>
                  <a:pt x="2330805" y="3903723"/>
                </a:lnTo>
                <a:lnTo>
                  <a:pt x="2346597" y="3859535"/>
                </a:lnTo>
                <a:lnTo>
                  <a:pt x="2352141" y="3811397"/>
                </a:lnTo>
                <a:lnTo>
                  <a:pt x="2352141" y="209930"/>
                </a:lnTo>
                <a:lnTo>
                  <a:pt x="2346597" y="161792"/>
                </a:lnTo>
                <a:lnTo>
                  <a:pt x="2330805" y="117604"/>
                </a:lnTo>
                <a:lnTo>
                  <a:pt x="2306025" y="78625"/>
                </a:lnTo>
                <a:lnTo>
                  <a:pt x="2273515" y="46116"/>
                </a:lnTo>
                <a:lnTo>
                  <a:pt x="2234537" y="21336"/>
                </a:lnTo>
                <a:lnTo>
                  <a:pt x="2190348" y="5543"/>
                </a:lnTo>
                <a:lnTo>
                  <a:pt x="214221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2CC40287-EA8D-649C-385C-2FB1D9202F9B}"/>
              </a:ext>
            </a:extLst>
          </p:cNvPr>
          <p:cNvSpPr/>
          <p:nvPr userDrawn="1"/>
        </p:nvSpPr>
        <p:spPr>
          <a:xfrm>
            <a:off x="639176" y="1910842"/>
            <a:ext cx="2597026" cy="4318508"/>
          </a:xfrm>
          <a:custGeom>
            <a:avLst/>
            <a:gdLst/>
            <a:ahLst/>
            <a:cxnLst/>
            <a:rect l="l" t="t" r="r" b="b"/>
            <a:pathLst>
              <a:path w="2599055" h="4434840">
                <a:moveTo>
                  <a:pt x="2424645" y="0"/>
                </a:moveTo>
                <a:lnTo>
                  <a:pt x="174193" y="0"/>
                </a:lnTo>
                <a:lnTo>
                  <a:pt x="127886" y="6221"/>
                </a:lnTo>
                <a:lnTo>
                  <a:pt x="86275" y="23777"/>
                </a:lnTo>
                <a:lnTo>
                  <a:pt x="51020" y="51006"/>
                </a:lnTo>
                <a:lnTo>
                  <a:pt x="23782" y="86247"/>
                </a:lnTo>
                <a:lnTo>
                  <a:pt x="6222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2" y="4306408"/>
                </a:lnTo>
                <a:lnTo>
                  <a:pt x="23782" y="4348021"/>
                </a:lnTo>
                <a:lnTo>
                  <a:pt x="51020" y="4383279"/>
                </a:lnTo>
                <a:lnTo>
                  <a:pt x="86275" y="4410520"/>
                </a:lnTo>
                <a:lnTo>
                  <a:pt x="127886" y="4428083"/>
                </a:lnTo>
                <a:lnTo>
                  <a:pt x="174193" y="4434306"/>
                </a:lnTo>
                <a:lnTo>
                  <a:pt x="2424645" y="4434306"/>
                </a:lnTo>
                <a:lnTo>
                  <a:pt x="2470925" y="4428083"/>
                </a:lnTo>
                <a:lnTo>
                  <a:pt x="2512515" y="4410520"/>
                </a:lnTo>
                <a:lnTo>
                  <a:pt x="2547756" y="4383279"/>
                </a:lnTo>
                <a:lnTo>
                  <a:pt x="2574985" y="4348021"/>
                </a:lnTo>
                <a:lnTo>
                  <a:pt x="2592541" y="4306408"/>
                </a:lnTo>
                <a:lnTo>
                  <a:pt x="2598762" y="4260100"/>
                </a:lnTo>
                <a:lnTo>
                  <a:pt x="2598762" y="174116"/>
                </a:lnTo>
                <a:lnTo>
                  <a:pt x="2592541" y="127837"/>
                </a:lnTo>
                <a:lnTo>
                  <a:pt x="2574985" y="86247"/>
                </a:lnTo>
                <a:lnTo>
                  <a:pt x="2547756" y="51006"/>
                </a:lnTo>
                <a:lnTo>
                  <a:pt x="2512515" y="23777"/>
                </a:lnTo>
                <a:lnTo>
                  <a:pt x="2470925" y="6221"/>
                </a:lnTo>
                <a:lnTo>
                  <a:pt x="2424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4D8AB085-7064-F24E-C230-AAFCE0849D89}"/>
              </a:ext>
            </a:extLst>
          </p:cNvPr>
          <p:cNvSpPr/>
          <p:nvPr userDrawn="1"/>
        </p:nvSpPr>
        <p:spPr>
          <a:xfrm>
            <a:off x="639176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5" h="4434840">
                <a:moveTo>
                  <a:pt x="0" y="174116"/>
                </a:moveTo>
                <a:lnTo>
                  <a:pt x="6222" y="127837"/>
                </a:lnTo>
                <a:lnTo>
                  <a:pt x="23782" y="86247"/>
                </a:lnTo>
                <a:lnTo>
                  <a:pt x="51020" y="51006"/>
                </a:lnTo>
                <a:lnTo>
                  <a:pt x="86275" y="23777"/>
                </a:lnTo>
                <a:lnTo>
                  <a:pt x="127886" y="6221"/>
                </a:lnTo>
                <a:lnTo>
                  <a:pt x="174193" y="0"/>
                </a:lnTo>
                <a:lnTo>
                  <a:pt x="2424645" y="0"/>
                </a:lnTo>
                <a:lnTo>
                  <a:pt x="2470925" y="6221"/>
                </a:lnTo>
                <a:lnTo>
                  <a:pt x="2512515" y="23777"/>
                </a:lnTo>
                <a:lnTo>
                  <a:pt x="2547756" y="51006"/>
                </a:lnTo>
                <a:lnTo>
                  <a:pt x="2574985" y="86247"/>
                </a:lnTo>
                <a:lnTo>
                  <a:pt x="2592541" y="127837"/>
                </a:lnTo>
                <a:lnTo>
                  <a:pt x="2598762" y="174116"/>
                </a:lnTo>
                <a:lnTo>
                  <a:pt x="2598762" y="4260100"/>
                </a:lnTo>
                <a:lnTo>
                  <a:pt x="2592541" y="4306408"/>
                </a:lnTo>
                <a:lnTo>
                  <a:pt x="2574985" y="4348021"/>
                </a:lnTo>
                <a:lnTo>
                  <a:pt x="2547756" y="4383279"/>
                </a:lnTo>
                <a:lnTo>
                  <a:pt x="2512515" y="4410520"/>
                </a:lnTo>
                <a:lnTo>
                  <a:pt x="2470925" y="4428083"/>
                </a:lnTo>
                <a:lnTo>
                  <a:pt x="2424645" y="4434306"/>
                </a:lnTo>
                <a:lnTo>
                  <a:pt x="174193" y="4434306"/>
                </a:lnTo>
                <a:lnTo>
                  <a:pt x="127886" y="4428083"/>
                </a:lnTo>
                <a:lnTo>
                  <a:pt x="86275" y="4410520"/>
                </a:lnTo>
                <a:lnTo>
                  <a:pt x="51020" y="4383279"/>
                </a:lnTo>
                <a:lnTo>
                  <a:pt x="23782" y="4348021"/>
                </a:lnTo>
                <a:lnTo>
                  <a:pt x="6222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7C39A5F2-69EB-75CB-C0A5-2D43AAAC364A}"/>
              </a:ext>
            </a:extLst>
          </p:cNvPr>
          <p:cNvSpPr/>
          <p:nvPr userDrawn="1"/>
        </p:nvSpPr>
        <p:spPr>
          <a:xfrm>
            <a:off x="3549862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0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6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0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6" y="3811397"/>
                </a:lnTo>
                <a:lnTo>
                  <a:pt x="2352166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0154C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6" name="object 13">
            <a:extLst>
              <a:ext uri="{FF2B5EF4-FFF2-40B4-BE49-F238E27FC236}">
                <a16:creationId xmlns:a16="http://schemas.microsoft.com/office/drawing/2014/main" id="{3521A166-3762-7467-2BD7-C684B31E00A9}"/>
              </a:ext>
            </a:extLst>
          </p:cNvPr>
          <p:cNvSpPr/>
          <p:nvPr userDrawn="1"/>
        </p:nvSpPr>
        <p:spPr>
          <a:xfrm>
            <a:off x="3426642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4" y="0"/>
                </a:moveTo>
                <a:lnTo>
                  <a:pt x="174244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4" y="4434306"/>
                </a:lnTo>
                <a:lnTo>
                  <a:pt x="2424684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14">
            <a:extLst>
              <a:ext uri="{FF2B5EF4-FFF2-40B4-BE49-F238E27FC236}">
                <a16:creationId xmlns:a16="http://schemas.microsoft.com/office/drawing/2014/main" id="{3372A634-F2E7-CFFA-301B-96048E8F12DD}"/>
              </a:ext>
            </a:extLst>
          </p:cNvPr>
          <p:cNvSpPr/>
          <p:nvPr userDrawn="1"/>
        </p:nvSpPr>
        <p:spPr>
          <a:xfrm>
            <a:off x="3426642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4" y="0"/>
                </a:lnTo>
                <a:lnTo>
                  <a:pt x="2424684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4" y="4434306"/>
                </a:lnTo>
                <a:lnTo>
                  <a:pt x="174244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3A775FCB-FDF7-E26E-EA45-B816A6672FCF}"/>
              </a:ext>
            </a:extLst>
          </p:cNvPr>
          <p:cNvSpPr/>
          <p:nvPr userDrawn="1"/>
        </p:nvSpPr>
        <p:spPr>
          <a:xfrm>
            <a:off x="6337366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0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5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0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7" y="3811397"/>
                </a:lnTo>
                <a:lnTo>
                  <a:pt x="2352167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22861C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9" name="object 17">
            <a:extLst>
              <a:ext uri="{FF2B5EF4-FFF2-40B4-BE49-F238E27FC236}">
                <a16:creationId xmlns:a16="http://schemas.microsoft.com/office/drawing/2014/main" id="{74F52768-2667-4041-3C4E-A294C3AF32BE}"/>
              </a:ext>
            </a:extLst>
          </p:cNvPr>
          <p:cNvSpPr/>
          <p:nvPr userDrawn="1"/>
        </p:nvSpPr>
        <p:spPr>
          <a:xfrm>
            <a:off x="6214146" y="1910842"/>
            <a:ext cx="2597026" cy="4318508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4" y="0"/>
                </a:moveTo>
                <a:lnTo>
                  <a:pt x="174243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3" y="4434306"/>
                </a:lnTo>
                <a:lnTo>
                  <a:pt x="2424684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07798CC4-8B4C-48E3-431E-36D18483FA69}"/>
              </a:ext>
            </a:extLst>
          </p:cNvPr>
          <p:cNvSpPr/>
          <p:nvPr userDrawn="1"/>
        </p:nvSpPr>
        <p:spPr>
          <a:xfrm>
            <a:off x="6214146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3" y="0"/>
                </a:lnTo>
                <a:lnTo>
                  <a:pt x="2424684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4" y="4434306"/>
                </a:lnTo>
                <a:lnTo>
                  <a:pt x="174243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757BCD36-F6B9-C48E-2245-9481CA2078C2}"/>
              </a:ext>
            </a:extLst>
          </p:cNvPr>
          <p:cNvSpPr/>
          <p:nvPr userDrawn="1"/>
        </p:nvSpPr>
        <p:spPr>
          <a:xfrm>
            <a:off x="9124870" y="1200152"/>
            <a:ext cx="2350838" cy="4021454"/>
          </a:xfrm>
          <a:custGeom>
            <a:avLst/>
            <a:gdLst/>
            <a:ahLst/>
            <a:cxnLst/>
            <a:rect l="l" t="t" r="r" b="b"/>
            <a:pathLst>
              <a:path w="2352675" h="4021454">
                <a:moveTo>
                  <a:pt x="2142236" y="0"/>
                </a:moveTo>
                <a:lnTo>
                  <a:pt x="209931" y="0"/>
                </a:lnTo>
                <a:lnTo>
                  <a:pt x="161792" y="5543"/>
                </a:lnTo>
                <a:lnTo>
                  <a:pt x="117604" y="21336"/>
                </a:lnTo>
                <a:lnTo>
                  <a:pt x="78625" y="46116"/>
                </a:lnTo>
                <a:lnTo>
                  <a:pt x="46116" y="78625"/>
                </a:lnTo>
                <a:lnTo>
                  <a:pt x="21336" y="117604"/>
                </a:lnTo>
                <a:lnTo>
                  <a:pt x="5543" y="161792"/>
                </a:lnTo>
                <a:lnTo>
                  <a:pt x="0" y="209930"/>
                </a:lnTo>
                <a:lnTo>
                  <a:pt x="0" y="3811397"/>
                </a:lnTo>
                <a:lnTo>
                  <a:pt x="5543" y="3859535"/>
                </a:lnTo>
                <a:lnTo>
                  <a:pt x="21336" y="3903723"/>
                </a:lnTo>
                <a:lnTo>
                  <a:pt x="46116" y="3942702"/>
                </a:lnTo>
                <a:lnTo>
                  <a:pt x="78625" y="3975211"/>
                </a:lnTo>
                <a:lnTo>
                  <a:pt x="117604" y="3999991"/>
                </a:lnTo>
                <a:lnTo>
                  <a:pt x="161792" y="4015784"/>
                </a:lnTo>
                <a:lnTo>
                  <a:pt x="209931" y="4021328"/>
                </a:lnTo>
                <a:lnTo>
                  <a:pt x="2142236" y="4021328"/>
                </a:lnTo>
                <a:lnTo>
                  <a:pt x="2190374" y="4015784"/>
                </a:lnTo>
                <a:lnTo>
                  <a:pt x="2234562" y="3999991"/>
                </a:lnTo>
                <a:lnTo>
                  <a:pt x="2273541" y="3975211"/>
                </a:lnTo>
                <a:lnTo>
                  <a:pt x="2306050" y="3942702"/>
                </a:lnTo>
                <a:lnTo>
                  <a:pt x="2330830" y="3903723"/>
                </a:lnTo>
                <a:lnTo>
                  <a:pt x="2346623" y="3859535"/>
                </a:lnTo>
                <a:lnTo>
                  <a:pt x="2352167" y="3811397"/>
                </a:lnTo>
                <a:lnTo>
                  <a:pt x="2352167" y="209930"/>
                </a:lnTo>
                <a:lnTo>
                  <a:pt x="2346623" y="161792"/>
                </a:lnTo>
                <a:lnTo>
                  <a:pt x="2330830" y="117604"/>
                </a:lnTo>
                <a:lnTo>
                  <a:pt x="2306050" y="78625"/>
                </a:lnTo>
                <a:lnTo>
                  <a:pt x="2273541" y="46116"/>
                </a:lnTo>
                <a:lnTo>
                  <a:pt x="2234562" y="21336"/>
                </a:lnTo>
                <a:lnTo>
                  <a:pt x="2190374" y="5543"/>
                </a:lnTo>
                <a:lnTo>
                  <a:pt x="2142236" y="0"/>
                </a:lnTo>
                <a:close/>
              </a:path>
            </a:pathLst>
          </a:custGeom>
          <a:solidFill>
            <a:srgbClr val="2DB024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8CB4F600-1BE3-0CE1-97E8-A8B85FBBD907}"/>
              </a:ext>
            </a:extLst>
          </p:cNvPr>
          <p:cNvSpPr/>
          <p:nvPr userDrawn="1"/>
        </p:nvSpPr>
        <p:spPr>
          <a:xfrm>
            <a:off x="9001650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2424683" y="0"/>
                </a:moveTo>
                <a:lnTo>
                  <a:pt x="174244" y="0"/>
                </a:lnTo>
                <a:lnTo>
                  <a:pt x="127911" y="6221"/>
                </a:lnTo>
                <a:lnTo>
                  <a:pt x="86284" y="23777"/>
                </a:lnTo>
                <a:lnTo>
                  <a:pt x="51022" y="51006"/>
                </a:lnTo>
                <a:lnTo>
                  <a:pt x="23781" y="86247"/>
                </a:lnTo>
                <a:lnTo>
                  <a:pt x="6221" y="127837"/>
                </a:lnTo>
                <a:lnTo>
                  <a:pt x="0" y="174116"/>
                </a:lnTo>
                <a:lnTo>
                  <a:pt x="0" y="4260100"/>
                </a:lnTo>
                <a:lnTo>
                  <a:pt x="6221" y="4306408"/>
                </a:lnTo>
                <a:lnTo>
                  <a:pt x="23781" y="4348021"/>
                </a:lnTo>
                <a:lnTo>
                  <a:pt x="51022" y="4383279"/>
                </a:lnTo>
                <a:lnTo>
                  <a:pt x="86284" y="4410520"/>
                </a:lnTo>
                <a:lnTo>
                  <a:pt x="127911" y="4428083"/>
                </a:lnTo>
                <a:lnTo>
                  <a:pt x="174244" y="4434306"/>
                </a:lnTo>
                <a:lnTo>
                  <a:pt x="2424683" y="4434306"/>
                </a:lnTo>
                <a:lnTo>
                  <a:pt x="2470963" y="4428083"/>
                </a:lnTo>
                <a:lnTo>
                  <a:pt x="2512553" y="4410520"/>
                </a:lnTo>
                <a:lnTo>
                  <a:pt x="2547794" y="4383279"/>
                </a:lnTo>
                <a:lnTo>
                  <a:pt x="2575023" y="4348021"/>
                </a:lnTo>
                <a:lnTo>
                  <a:pt x="2592579" y="4306408"/>
                </a:lnTo>
                <a:lnTo>
                  <a:pt x="2598801" y="4260100"/>
                </a:lnTo>
                <a:lnTo>
                  <a:pt x="2598801" y="174116"/>
                </a:lnTo>
                <a:lnTo>
                  <a:pt x="2592579" y="127837"/>
                </a:lnTo>
                <a:lnTo>
                  <a:pt x="2575023" y="86247"/>
                </a:lnTo>
                <a:lnTo>
                  <a:pt x="2547794" y="51006"/>
                </a:lnTo>
                <a:lnTo>
                  <a:pt x="2512553" y="23777"/>
                </a:lnTo>
                <a:lnTo>
                  <a:pt x="2470963" y="6221"/>
                </a:lnTo>
                <a:lnTo>
                  <a:pt x="24246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13" name="object 22">
            <a:extLst>
              <a:ext uri="{FF2B5EF4-FFF2-40B4-BE49-F238E27FC236}">
                <a16:creationId xmlns:a16="http://schemas.microsoft.com/office/drawing/2014/main" id="{71B52608-E7D7-F270-F8E3-65CD492C218E}"/>
              </a:ext>
            </a:extLst>
          </p:cNvPr>
          <p:cNvSpPr/>
          <p:nvPr userDrawn="1"/>
        </p:nvSpPr>
        <p:spPr>
          <a:xfrm>
            <a:off x="9001650" y="1910842"/>
            <a:ext cx="2597026" cy="4434840"/>
          </a:xfrm>
          <a:custGeom>
            <a:avLst/>
            <a:gdLst/>
            <a:ahLst/>
            <a:cxnLst/>
            <a:rect l="l" t="t" r="r" b="b"/>
            <a:pathLst>
              <a:path w="2599054" h="4434840">
                <a:moveTo>
                  <a:pt x="0" y="174116"/>
                </a:moveTo>
                <a:lnTo>
                  <a:pt x="6221" y="127837"/>
                </a:lnTo>
                <a:lnTo>
                  <a:pt x="23781" y="86247"/>
                </a:lnTo>
                <a:lnTo>
                  <a:pt x="51022" y="51006"/>
                </a:lnTo>
                <a:lnTo>
                  <a:pt x="86284" y="23777"/>
                </a:lnTo>
                <a:lnTo>
                  <a:pt x="127911" y="6221"/>
                </a:lnTo>
                <a:lnTo>
                  <a:pt x="174244" y="0"/>
                </a:lnTo>
                <a:lnTo>
                  <a:pt x="2424683" y="0"/>
                </a:lnTo>
                <a:lnTo>
                  <a:pt x="2470963" y="6221"/>
                </a:lnTo>
                <a:lnTo>
                  <a:pt x="2512553" y="23777"/>
                </a:lnTo>
                <a:lnTo>
                  <a:pt x="2547794" y="51006"/>
                </a:lnTo>
                <a:lnTo>
                  <a:pt x="2575023" y="86247"/>
                </a:lnTo>
                <a:lnTo>
                  <a:pt x="2592579" y="127837"/>
                </a:lnTo>
                <a:lnTo>
                  <a:pt x="2598801" y="174116"/>
                </a:lnTo>
                <a:lnTo>
                  <a:pt x="2598801" y="4260100"/>
                </a:lnTo>
                <a:lnTo>
                  <a:pt x="2592579" y="4306408"/>
                </a:lnTo>
                <a:lnTo>
                  <a:pt x="2575023" y="4348021"/>
                </a:lnTo>
                <a:lnTo>
                  <a:pt x="2547794" y="4383279"/>
                </a:lnTo>
                <a:lnTo>
                  <a:pt x="2512553" y="4410520"/>
                </a:lnTo>
                <a:lnTo>
                  <a:pt x="2470963" y="4428083"/>
                </a:lnTo>
                <a:lnTo>
                  <a:pt x="2424683" y="4434306"/>
                </a:lnTo>
                <a:lnTo>
                  <a:pt x="174244" y="4434306"/>
                </a:lnTo>
                <a:lnTo>
                  <a:pt x="127911" y="4428083"/>
                </a:lnTo>
                <a:lnTo>
                  <a:pt x="86284" y="4410520"/>
                </a:lnTo>
                <a:lnTo>
                  <a:pt x="51022" y="4383279"/>
                </a:lnTo>
                <a:lnTo>
                  <a:pt x="23781" y="4348021"/>
                </a:lnTo>
                <a:lnTo>
                  <a:pt x="6221" y="4306408"/>
                </a:lnTo>
                <a:lnTo>
                  <a:pt x="0" y="4260100"/>
                </a:lnTo>
                <a:lnTo>
                  <a:pt x="0" y="1741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 sz="1349"/>
          </a:p>
        </p:txBody>
      </p:sp>
      <p:grpSp>
        <p:nvGrpSpPr>
          <p:cNvPr id="18" name="object 27">
            <a:extLst>
              <a:ext uri="{FF2B5EF4-FFF2-40B4-BE49-F238E27FC236}">
                <a16:creationId xmlns:a16="http://schemas.microsoft.com/office/drawing/2014/main" id="{8B24803D-B80B-C769-290A-546755C485A4}"/>
              </a:ext>
            </a:extLst>
          </p:cNvPr>
          <p:cNvGrpSpPr/>
          <p:nvPr userDrawn="1"/>
        </p:nvGrpSpPr>
        <p:grpSpPr>
          <a:xfrm>
            <a:off x="639176" y="1399414"/>
            <a:ext cx="2597026" cy="1656041"/>
            <a:chOff x="634911" y="1589532"/>
            <a:chExt cx="2599055" cy="1656041"/>
          </a:xfrm>
        </p:grpSpPr>
        <p:sp>
          <p:nvSpPr>
            <p:cNvPr id="19" name="object 28">
              <a:extLst>
                <a:ext uri="{FF2B5EF4-FFF2-40B4-BE49-F238E27FC236}">
                  <a16:creationId xmlns:a16="http://schemas.microsoft.com/office/drawing/2014/main" id="{65147BCB-6214-5AEA-3884-C8CA0B18BCD2}"/>
                </a:ext>
              </a:extLst>
            </p:cNvPr>
            <p:cNvSpPr/>
            <p:nvPr/>
          </p:nvSpPr>
          <p:spPr>
            <a:xfrm>
              <a:off x="634911" y="2648038"/>
              <a:ext cx="2599055" cy="597535"/>
            </a:xfrm>
            <a:custGeom>
              <a:avLst/>
              <a:gdLst/>
              <a:ahLst/>
              <a:cxnLst/>
              <a:rect l="l" t="t" r="r" b="b"/>
              <a:pathLst>
                <a:path w="2599055" h="597535">
                  <a:moveTo>
                    <a:pt x="2598801" y="0"/>
                  </a:moveTo>
                  <a:lnTo>
                    <a:pt x="0" y="0"/>
                  </a:lnTo>
                  <a:lnTo>
                    <a:pt x="0" y="597446"/>
                  </a:lnTo>
                  <a:lnTo>
                    <a:pt x="2598801" y="597446"/>
                  </a:lnTo>
                  <a:lnTo>
                    <a:pt x="25988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0" name="object 29">
              <a:extLst>
                <a:ext uri="{FF2B5EF4-FFF2-40B4-BE49-F238E27FC236}">
                  <a16:creationId xmlns:a16="http://schemas.microsoft.com/office/drawing/2014/main" id="{7A700F56-4A04-7ABB-EF3F-01055AD4DF5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2455" y="1589532"/>
              <a:ext cx="1140714" cy="1140714"/>
            </a:xfrm>
            <a:prstGeom prst="rect">
              <a:avLst/>
            </a:prstGeom>
          </p:spPr>
        </p:pic>
        <p:sp>
          <p:nvSpPr>
            <p:cNvPr id="21" name="object 30">
              <a:extLst>
                <a:ext uri="{FF2B5EF4-FFF2-40B4-BE49-F238E27FC236}">
                  <a16:creationId xmlns:a16="http://schemas.microsoft.com/office/drawing/2014/main" id="{114EFAAF-C44D-0C4F-391A-A6D0096534F2}"/>
                </a:ext>
              </a:extLst>
            </p:cNvPr>
            <p:cNvSpPr/>
            <p:nvPr/>
          </p:nvSpPr>
          <p:spPr>
            <a:xfrm>
              <a:off x="1433702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4" h="1001394">
                  <a:moveTo>
                    <a:pt x="500634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4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1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2" name="object 31">
              <a:extLst>
                <a:ext uri="{FF2B5EF4-FFF2-40B4-BE49-F238E27FC236}">
                  <a16:creationId xmlns:a16="http://schemas.microsoft.com/office/drawing/2014/main" id="{032937C1-2D46-1431-9580-B05AD1E3BE4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8948" y="1647444"/>
              <a:ext cx="887729" cy="887729"/>
            </a:xfrm>
            <a:prstGeom prst="rect">
              <a:avLst/>
            </a:prstGeom>
          </p:spPr>
        </p:pic>
        <p:sp>
          <p:nvSpPr>
            <p:cNvPr id="23" name="object 32">
              <a:extLst>
                <a:ext uri="{FF2B5EF4-FFF2-40B4-BE49-F238E27FC236}">
                  <a16:creationId xmlns:a16="http://schemas.microsoft.com/office/drawing/2014/main" id="{2B0BA935-1656-525B-0838-3FE1B9902D98}"/>
                </a:ext>
              </a:extLst>
            </p:cNvPr>
            <p:cNvSpPr/>
            <p:nvPr/>
          </p:nvSpPr>
          <p:spPr>
            <a:xfrm>
              <a:off x="1589151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80">
                  <a:moveTo>
                    <a:pt x="345186" y="0"/>
                  </a:moveTo>
                  <a:lnTo>
                    <a:pt x="298349" y="3153"/>
                  </a:lnTo>
                  <a:lnTo>
                    <a:pt x="253426" y="12340"/>
                  </a:lnTo>
                  <a:lnTo>
                    <a:pt x="210829" y="27148"/>
                  </a:lnTo>
                  <a:lnTo>
                    <a:pt x="170970" y="47164"/>
                  </a:lnTo>
                  <a:lnTo>
                    <a:pt x="134259" y="71975"/>
                  </a:lnTo>
                  <a:lnTo>
                    <a:pt x="101107" y="101171"/>
                  </a:lnTo>
                  <a:lnTo>
                    <a:pt x="71928" y="134338"/>
                  </a:lnTo>
                  <a:lnTo>
                    <a:pt x="47131" y="171064"/>
                  </a:lnTo>
                  <a:lnTo>
                    <a:pt x="27128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28" y="479669"/>
                  </a:lnTo>
                  <a:lnTo>
                    <a:pt x="47131" y="519528"/>
                  </a:lnTo>
                  <a:lnTo>
                    <a:pt x="71928" y="556239"/>
                  </a:lnTo>
                  <a:lnTo>
                    <a:pt x="101107" y="589391"/>
                  </a:lnTo>
                  <a:lnTo>
                    <a:pt x="134259" y="618570"/>
                  </a:lnTo>
                  <a:lnTo>
                    <a:pt x="170970" y="643367"/>
                  </a:lnTo>
                  <a:lnTo>
                    <a:pt x="210829" y="663370"/>
                  </a:lnTo>
                  <a:lnTo>
                    <a:pt x="253426" y="678167"/>
                  </a:lnTo>
                  <a:lnTo>
                    <a:pt x="298349" y="687347"/>
                  </a:lnTo>
                  <a:lnTo>
                    <a:pt x="345186" y="690499"/>
                  </a:lnTo>
                  <a:lnTo>
                    <a:pt x="392022" y="687347"/>
                  </a:lnTo>
                  <a:lnTo>
                    <a:pt x="436945" y="678167"/>
                  </a:lnTo>
                  <a:lnTo>
                    <a:pt x="479542" y="663370"/>
                  </a:lnTo>
                  <a:lnTo>
                    <a:pt x="519401" y="643367"/>
                  </a:lnTo>
                  <a:lnTo>
                    <a:pt x="556112" y="618570"/>
                  </a:lnTo>
                  <a:lnTo>
                    <a:pt x="589264" y="589391"/>
                  </a:lnTo>
                  <a:lnTo>
                    <a:pt x="618443" y="556239"/>
                  </a:lnTo>
                  <a:lnTo>
                    <a:pt x="643240" y="519528"/>
                  </a:lnTo>
                  <a:lnTo>
                    <a:pt x="663243" y="479669"/>
                  </a:lnTo>
                  <a:lnTo>
                    <a:pt x="678040" y="437072"/>
                  </a:lnTo>
                  <a:lnTo>
                    <a:pt x="687220" y="392149"/>
                  </a:lnTo>
                  <a:lnTo>
                    <a:pt x="690372" y="345313"/>
                  </a:lnTo>
                  <a:lnTo>
                    <a:pt x="687220" y="298473"/>
                  </a:lnTo>
                  <a:lnTo>
                    <a:pt x="678040" y="253544"/>
                  </a:lnTo>
                  <a:lnTo>
                    <a:pt x="663243" y="210937"/>
                  </a:lnTo>
                  <a:lnTo>
                    <a:pt x="643240" y="171064"/>
                  </a:lnTo>
                  <a:lnTo>
                    <a:pt x="618443" y="134338"/>
                  </a:lnTo>
                  <a:lnTo>
                    <a:pt x="589264" y="101171"/>
                  </a:lnTo>
                  <a:lnTo>
                    <a:pt x="556112" y="71975"/>
                  </a:lnTo>
                  <a:lnTo>
                    <a:pt x="519401" y="47164"/>
                  </a:lnTo>
                  <a:lnTo>
                    <a:pt x="479542" y="27148"/>
                  </a:lnTo>
                  <a:lnTo>
                    <a:pt x="436945" y="12340"/>
                  </a:lnTo>
                  <a:lnTo>
                    <a:pt x="392022" y="3153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01409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24" name="object 33">
              <a:extLst>
                <a:ext uri="{FF2B5EF4-FFF2-40B4-BE49-F238E27FC236}">
                  <a16:creationId xmlns:a16="http://schemas.microsoft.com/office/drawing/2014/main" id="{4C12AC1D-A762-EAB1-B4FF-F535AEE569EB}"/>
                </a:ext>
              </a:extLst>
            </p:cNvPr>
            <p:cNvSpPr/>
            <p:nvPr/>
          </p:nvSpPr>
          <p:spPr>
            <a:xfrm>
              <a:off x="1589151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80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28" y="210937"/>
                  </a:lnTo>
                  <a:lnTo>
                    <a:pt x="47131" y="171064"/>
                  </a:lnTo>
                  <a:lnTo>
                    <a:pt x="71928" y="134338"/>
                  </a:lnTo>
                  <a:lnTo>
                    <a:pt x="101107" y="101171"/>
                  </a:lnTo>
                  <a:lnTo>
                    <a:pt x="134259" y="71975"/>
                  </a:lnTo>
                  <a:lnTo>
                    <a:pt x="170970" y="47164"/>
                  </a:lnTo>
                  <a:lnTo>
                    <a:pt x="210829" y="27148"/>
                  </a:lnTo>
                  <a:lnTo>
                    <a:pt x="253426" y="12340"/>
                  </a:lnTo>
                  <a:lnTo>
                    <a:pt x="298349" y="3153"/>
                  </a:lnTo>
                  <a:lnTo>
                    <a:pt x="345186" y="0"/>
                  </a:lnTo>
                  <a:lnTo>
                    <a:pt x="392022" y="3153"/>
                  </a:lnTo>
                  <a:lnTo>
                    <a:pt x="436945" y="12340"/>
                  </a:lnTo>
                  <a:lnTo>
                    <a:pt x="479542" y="27148"/>
                  </a:lnTo>
                  <a:lnTo>
                    <a:pt x="519401" y="47164"/>
                  </a:lnTo>
                  <a:lnTo>
                    <a:pt x="556112" y="71975"/>
                  </a:lnTo>
                  <a:lnTo>
                    <a:pt x="589264" y="101171"/>
                  </a:lnTo>
                  <a:lnTo>
                    <a:pt x="618443" y="134338"/>
                  </a:lnTo>
                  <a:lnTo>
                    <a:pt x="643240" y="171064"/>
                  </a:lnTo>
                  <a:lnTo>
                    <a:pt x="663243" y="210937"/>
                  </a:lnTo>
                  <a:lnTo>
                    <a:pt x="678040" y="253544"/>
                  </a:lnTo>
                  <a:lnTo>
                    <a:pt x="687220" y="298473"/>
                  </a:lnTo>
                  <a:lnTo>
                    <a:pt x="690372" y="345313"/>
                  </a:lnTo>
                  <a:lnTo>
                    <a:pt x="687220" y="392149"/>
                  </a:lnTo>
                  <a:lnTo>
                    <a:pt x="678040" y="437072"/>
                  </a:lnTo>
                  <a:lnTo>
                    <a:pt x="663243" y="479669"/>
                  </a:lnTo>
                  <a:lnTo>
                    <a:pt x="643240" y="519528"/>
                  </a:lnTo>
                  <a:lnTo>
                    <a:pt x="618443" y="556239"/>
                  </a:lnTo>
                  <a:lnTo>
                    <a:pt x="589264" y="589391"/>
                  </a:lnTo>
                  <a:lnTo>
                    <a:pt x="556112" y="618570"/>
                  </a:lnTo>
                  <a:lnTo>
                    <a:pt x="519401" y="643367"/>
                  </a:lnTo>
                  <a:lnTo>
                    <a:pt x="479542" y="663370"/>
                  </a:lnTo>
                  <a:lnTo>
                    <a:pt x="436945" y="678167"/>
                  </a:lnTo>
                  <a:lnTo>
                    <a:pt x="392022" y="687347"/>
                  </a:lnTo>
                  <a:lnTo>
                    <a:pt x="345186" y="690499"/>
                  </a:lnTo>
                  <a:lnTo>
                    <a:pt x="298349" y="687347"/>
                  </a:lnTo>
                  <a:lnTo>
                    <a:pt x="253426" y="678167"/>
                  </a:lnTo>
                  <a:lnTo>
                    <a:pt x="210829" y="663370"/>
                  </a:lnTo>
                  <a:lnTo>
                    <a:pt x="170970" y="643367"/>
                  </a:lnTo>
                  <a:lnTo>
                    <a:pt x="134259" y="618570"/>
                  </a:lnTo>
                  <a:lnTo>
                    <a:pt x="101107" y="589391"/>
                  </a:lnTo>
                  <a:lnTo>
                    <a:pt x="71928" y="556239"/>
                  </a:lnTo>
                  <a:lnTo>
                    <a:pt x="47131" y="519528"/>
                  </a:lnTo>
                  <a:lnTo>
                    <a:pt x="27128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25" name="object 34">
              <a:extLst>
                <a:ext uri="{FF2B5EF4-FFF2-40B4-BE49-F238E27FC236}">
                  <a16:creationId xmlns:a16="http://schemas.microsoft.com/office/drawing/2014/main" id="{C55A3264-46F9-72DD-7506-A2EC72910B1B}"/>
                </a:ext>
              </a:extLst>
            </p:cNvPr>
            <p:cNvSpPr/>
            <p:nvPr/>
          </p:nvSpPr>
          <p:spPr>
            <a:xfrm>
              <a:off x="1636268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014099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27" name="object 36">
            <a:extLst>
              <a:ext uri="{FF2B5EF4-FFF2-40B4-BE49-F238E27FC236}">
                <a16:creationId xmlns:a16="http://schemas.microsoft.com/office/drawing/2014/main" id="{1E1534FF-613E-1072-6D12-DE0F2B91AB1F}"/>
              </a:ext>
            </a:extLst>
          </p:cNvPr>
          <p:cNvGrpSpPr/>
          <p:nvPr userDrawn="1"/>
        </p:nvGrpSpPr>
        <p:grpSpPr>
          <a:xfrm>
            <a:off x="3431462" y="1399414"/>
            <a:ext cx="2589412" cy="1648002"/>
            <a:chOff x="3429380" y="1589532"/>
            <a:chExt cx="2591435" cy="1648002"/>
          </a:xfrm>
        </p:grpSpPr>
        <p:sp>
          <p:nvSpPr>
            <p:cNvPr id="28" name="object 37">
              <a:extLst>
                <a:ext uri="{FF2B5EF4-FFF2-40B4-BE49-F238E27FC236}">
                  <a16:creationId xmlns:a16="http://schemas.microsoft.com/office/drawing/2014/main" id="{077BAEC4-984D-F080-E0BE-CE76F386D86B}"/>
                </a:ext>
              </a:extLst>
            </p:cNvPr>
            <p:cNvSpPr/>
            <p:nvPr/>
          </p:nvSpPr>
          <p:spPr>
            <a:xfrm>
              <a:off x="3429380" y="2656509"/>
              <a:ext cx="2591435" cy="581025"/>
            </a:xfrm>
            <a:custGeom>
              <a:avLst/>
              <a:gdLst/>
              <a:ahLst/>
              <a:cxnLst/>
              <a:rect l="l" t="t" r="r" b="b"/>
              <a:pathLst>
                <a:path w="2591435" h="581025">
                  <a:moveTo>
                    <a:pt x="2591054" y="0"/>
                  </a:moveTo>
                  <a:lnTo>
                    <a:pt x="0" y="0"/>
                  </a:lnTo>
                  <a:lnTo>
                    <a:pt x="0" y="580466"/>
                  </a:lnTo>
                  <a:lnTo>
                    <a:pt x="2591054" y="580466"/>
                  </a:lnTo>
                  <a:lnTo>
                    <a:pt x="259105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29" name="object 38">
              <a:extLst>
                <a:ext uri="{FF2B5EF4-FFF2-40B4-BE49-F238E27FC236}">
                  <a16:creationId xmlns:a16="http://schemas.microsoft.com/office/drawing/2014/main" id="{D182CC46-DF93-7CBD-1A22-ED2ADF88F77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2900" y="1589532"/>
              <a:ext cx="1140714" cy="1140714"/>
            </a:xfrm>
            <a:prstGeom prst="rect">
              <a:avLst/>
            </a:prstGeom>
          </p:spPr>
        </p:pic>
        <p:sp>
          <p:nvSpPr>
            <p:cNvPr id="30" name="object 39">
              <a:extLst>
                <a:ext uri="{FF2B5EF4-FFF2-40B4-BE49-F238E27FC236}">
                  <a16:creationId xmlns:a16="http://schemas.microsoft.com/office/drawing/2014/main" id="{F339A808-97FE-8F58-08FC-E953CF94B025}"/>
                </a:ext>
              </a:extLst>
            </p:cNvPr>
            <p:cNvSpPr/>
            <p:nvPr/>
          </p:nvSpPr>
          <p:spPr>
            <a:xfrm>
              <a:off x="4223384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4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4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0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31" name="object 40">
              <a:extLst>
                <a:ext uri="{FF2B5EF4-FFF2-40B4-BE49-F238E27FC236}">
                  <a16:creationId xmlns:a16="http://schemas.microsoft.com/office/drawing/2014/main" id="{2B879582-633D-B39C-82C6-D2897321C7A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79391" y="1647444"/>
              <a:ext cx="887730" cy="887729"/>
            </a:xfrm>
            <a:prstGeom prst="rect">
              <a:avLst/>
            </a:prstGeom>
          </p:spPr>
        </p:pic>
        <p:sp>
          <p:nvSpPr>
            <p:cNvPr id="32" name="object 41">
              <a:extLst>
                <a:ext uri="{FF2B5EF4-FFF2-40B4-BE49-F238E27FC236}">
                  <a16:creationId xmlns:a16="http://schemas.microsoft.com/office/drawing/2014/main" id="{E4E3BE22-18CC-EBCC-1EC7-478FB4A8F2A9}"/>
                </a:ext>
              </a:extLst>
            </p:cNvPr>
            <p:cNvSpPr/>
            <p:nvPr/>
          </p:nvSpPr>
          <p:spPr>
            <a:xfrm>
              <a:off x="4378833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186" y="0"/>
                  </a:moveTo>
                  <a:lnTo>
                    <a:pt x="298349" y="3153"/>
                  </a:lnTo>
                  <a:lnTo>
                    <a:pt x="253426" y="12340"/>
                  </a:lnTo>
                  <a:lnTo>
                    <a:pt x="210829" y="27148"/>
                  </a:lnTo>
                  <a:lnTo>
                    <a:pt x="170970" y="47164"/>
                  </a:lnTo>
                  <a:lnTo>
                    <a:pt x="134259" y="71975"/>
                  </a:lnTo>
                  <a:lnTo>
                    <a:pt x="101107" y="101171"/>
                  </a:lnTo>
                  <a:lnTo>
                    <a:pt x="71928" y="134338"/>
                  </a:lnTo>
                  <a:lnTo>
                    <a:pt x="47131" y="171064"/>
                  </a:lnTo>
                  <a:lnTo>
                    <a:pt x="27128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28" y="479669"/>
                  </a:lnTo>
                  <a:lnTo>
                    <a:pt x="47131" y="519528"/>
                  </a:lnTo>
                  <a:lnTo>
                    <a:pt x="71928" y="556239"/>
                  </a:lnTo>
                  <a:lnTo>
                    <a:pt x="101107" y="589391"/>
                  </a:lnTo>
                  <a:lnTo>
                    <a:pt x="134259" y="618570"/>
                  </a:lnTo>
                  <a:lnTo>
                    <a:pt x="170970" y="643367"/>
                  </a:lnTo>
                  <a:lnTo>
                    <a:pt x="210829" y="663370"/>
                  </a:lnTo>
                  <a:lnTo>
                    <a:pt x="253426" y="678167"/>
                  </a:lnTo>
                  <a:lnTo>
                    <a:pt x="298349" y="687347"/>
                  </a:lnTo>
                  <a:lnTo>
                    <a:pt x="345186" y="690499"/>
                  </a:lnTo>
                  <a:lnTo>
                    <a:pt x="392022" y="687347"/>
                  </a:lnTo>
                  <a:lnTo>
                    <a:pt x="436945" y="678167"/>
                  </a:lnTo>
                  <a:lnTo>
                    <a:pt x="479542" y="663370"/>
                  </a:lnTo>
                  <a:lnTo>
                    <a:pt x="519401" y="643367"/>
                  </a:lnTo>
                  <a:lnTo>
                    <a:pt x="556112" y="618570"/>
                  </a:lnTo>
                  <a:lnTo>
                    <a:pt x="589264" y="589391"/>
                  </a:lnTo>
                  <a:lnTo>
                    <a:pt x="618443" y="556239"/>
                  </a:lnTo>
                  <a:lnTo>
                    <a:pt x="643240" y="519528"/>
                  </a:lnTo>
                  <a:lnTo>
                    <a:pt x="663243" y="479669"/>
                  </a:lnTo>
                  <a:lnTo>
                    <a:pt x="678040" y="437072"/>
                  </a:lnTo>
                  <a:lnTo>
                    <a:pt x="687220" y="392149"/>
                  </a:lnTo>
                  <a:lnTo>
                    <a:pt x="690371" y="345313"/>
                  </a:lnTo>
                  <a:lnTo>
                    <a:pt x="687220" y="298473"/>
                  </a:lnTo>
                  <a:lnTo>
                    <a:pt x="678040" y="253544"/>
                  </a:lnTo>
                  <a:lnTo>
                    <a:pt x="663243" y="210937"/>
                  </a:lnTo>
                  <a:lnTo>
                    <a:pt x="643240" y="171064"/>
                  </a:lnTo>
                  <a:lnTo>
                    <a:pt x="618443" y="134338"/>
                  </a:lnTo>
                  <a:lnTo>
                    <a:pt x="589264" y="101171"/>
                  </a:lnTo>
                  <a:lnTo>
                    <a:pt x="556112" y="71975"/>
                  </a:lnTo>
                  <a:lnTo>
                    <a:pt x="519401" y="47164"/>
                  </a:lnTo>
                  <a:lnTo>
                    <a:pt x="479542" y="27148"/>
                  </a:lnTo>
                  <a:lnTo>
                    <a:pt x="436945" y="12340"/>
                  </a:lnTo>
                  <a:lnTo>
                    <a:pt x="392022" y="3153"/>
                  </a:lnTo>
                  <a:lnTo>
                    <a:pt x="345186" y="0"/>
                  </a:lnTo>
                  <a:close/>
                </a:path>
              </a:pathLst>
            </a:custGeom>
            <a:solidFill>
              <a:srgbClr val="0154C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33" name="object 42">
              <a:extLst>
                <a:ext uri="{FF2B5EF4-FFF2-40B4-BE49-F238E27FC236}">
                  <a16:creationId xmlns:a16="http://schemas.microsoft.com/office/drawing/2014/main" id="{7688EAF6-BF3B-7A42-9481-C9763D8CDFA5}"/>
                </a:ext>
              </a:extLst>
            </p:cNvPr>
            <p:cNvSpPr/>
            <p:nvPr/>
          </p:nvSpPr>
          <p:spPr>
            <a:xfrm>
              <a:off x="4378833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28" y="210937"/>
                  </a:lnTo>
                  <a:lnTo>
                    <a:pt x="47131" y="171064"/>
                  </a:lnTo>
                  <a:lnTo>
                    <a:pt x="71928" y="134338"/>
                  </a:lnTo>
                  <a:lnTo>
                    <a:pt x="101107" y="101171"/>
                  </a:lnTo>
                  <a:lnTo>
                    <a:pt x="134259" y="71975"/>
                  </a:lnTo>
                  <a:lnTo>
                    <a:pt x="170970" y="47164"/>
                  </a:lnTo>
                  <a:lnTo>
                    <a:pt x="210829" y="27148"/>
                  </a:lnTo>
                  <a:lnTo>
                    <a:pt x="253426" y="12340"/>
                  </a:lnTo>
                  <a:lnTo>
                    <a:pt x="298349" y="3153"/>
                  </a:lnTo>
                  <a:lnTo>
                    <a:pt x="345186" y="0"/>
                  </a:lnTo>
                  <a:lnTo>
                    <a:pt x="392022" y="3153"/>
                  </a:lnTo>
                  <a:lnTo>
                    <a:pt x="436945" y="12340"/>
                  </a:lnTo>
                  <a:lnTo>
                    <a:pt x="479542" y="27148"/>
                  </a:lnTo>
                  <a:lnTo>
                    <a:pt x="519401" y="47164"/>
                  </a:lnTo>
                  <a:lnTo>
                    <a:pt x="556112" y="71975"/>
                  </a:lnTo>
                  <a:lnTo>
                    <a:pt x="589264" y="101171"/>
                  </a:lnTo>
                  <a:lnTo>
                    <a:pt x="618443" y="134338"/>
                  </a:lnTo>
                  <a:lnTo>
                    <a:pt x="643240" y="171064"/>
                  </a:lnTo>
                  <a:lnTo>
                    <a:pt x="663243" y="210937"/>
                  </a:lnTo>
                  <a:lnTo>
                    <a:pt x="678040" y="253544"/>
                  </a:lnTo>
                  <a:lnTo>
                    <a:pt x="687220" y="298473"/>
                  </a:lnTo>
                  <a:lnTo>
                    <a:pt x="690371" y="345313"/>
                  </a:lnTo>
                  <a:lnTo>
                    <a:pt x="687220" y="392149"/>
                  </a:lnTo>
                  <a:lnTo>
                    <a:pt x="678040" y="437072"/>
                  </a:lnTo>
                  <a:lnTo>
                    <a:pt x="663243" y="479669"/>
                  </a:lnTo>
                  <a:lnTo>
                    <a:pt x="643240" y="519528"/>
                  </a:lnTo>
                  <a:lnTo>
                    <a:pt x="618443" y="556239"/>
                  </a:lnTo>
                  <a:lnTo>
                    <a:pt x="589264" y="589391"/>
                  </a:lnTo>
                  <a:lnTo>
                    <a:pt x="556112" y="618570"/>
                  </a:lnTo>
                  <a:lnTo>
                    <a:pt x="519401" y="643367"/>
                  </a:lnTo>
                  <a:lnTo>
                    <a:pt x="479542" y="663370"/>
                  </a:lnTo>
                  <a:lnTo>
                    <a:pt x="436945" y="678167"/>
                  </a:lnTo>
                  <a:lnTo>
                    <a:pt x="392022" y="687347"/>
                  </a:lnTo>
                  <a:lnTo>
                    <a:pt x="345186" y="690499"/>
                  </a:lnTo>
                  <a:lnTo>
                    <a:pt x="298349" y="687347"/>
                  </a:lnTo>
                  <a:lnTo>
                    <a:pt x="253426" y="678167"/>
                  </a:lnTo>
                  <a:lnTo>
                    <a:pt x="210829" y="663370"/>
                  </a:lnTo>
                  <a:lnTo>
                    <a:pt x="170970" y="643367"/>
                  </a:lnTo>
                  <a:lnTo>
                    <a:pt x="134259" y="618570"/>
                  </a:lnTo>
                  <a:lnTo>
                    <a:pt x="101107" y="589391"/>
                  </a:lnTo>
                  <a:lnTo>
                    <a:pt x="71928" y="556239"/>
                  </a:lnTo>
                  <a:lnTo>
                    <a:pt x="47131" y="519528"/>
                  </a:lnTo>
                  <a:lnTo>
                    <a:pt x="27128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34" name="object 43">
              <a:extLst>
                <a:ext uri="{FF2B5EF4-FFF2-40B4-BE49-F238E27FC236}">
                  <a16:creationId xmlns:a16="http://schemas.microsoft.com/office/drawing/2014/main" id="{3B596B2F-20F5-401D-F6BB-7F885FCD81AD}"/>
                </a:ext>
              </a:extLst>
            </p:cNvPr>
            <p:cNvSpPr/>
            <p:nvPr/>
          </p:nvSpPr>
          <p:spPr>
            <a:xfrm>
              <a:off x="4425950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4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0154C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36" name="object 45">
            <a:extLst>
              <a:ext uri="{FF2B5EF4-FFF2-40B4-BE49-F238E27FC236}">
                <a16:creationId xmlns:a16="http://schemas.microsoft.com/office/drawing/2014/main" id="{B6C0011C-6156-3FFE-CACF-95BD35C72577}"/>
              </a:ext>
            </a:extLst>
          </p:cNvPr>
          <p:cNvGrpSpPr/>
          <p:nvPr userDrawn="1"/>
        </p:nvGrpSpPr>
        <p:grpSpPr>
          <a:xfrm>
            <a:off x="6211226" y="1399412"/>
            <a:ext cx="2597026" cy="1644192"/>
            <a:chOff x="6211315" y="1589532"/>
            <a:chExt cx="2599055" cy="1644192"/>
          </a:xfrm>
        </p:grpSpPr>
        <p:sp>
          <p:nvSpPr>
            <p:cNvPr id="37" name="object 46">
              <a:extLst>
                <a:ext uri="{FF2B5EF4-FFF2-40B4-BE49-F238E27FC236}">
                  <a16:creationId xmlns:a16="http://schemas.microsoft.com/office/drawing/2014/main" id="{B9CA2709-7455-E753-A13D-D8DF45E6E82D}"/>
                </a:ext>
              </a:extLst>
            </p:cNvPr>
            <p:cNvSpPr/>
            <p:nvPr/>
          </p:nvSpPr>
          <p:spPr>
            <a:xfrm>
              <a:off x="6211315" y="2652699"/>
              <a:ext cx="2599055" cy="581025"/>
            </a:xfrm>
            <a:custGeom>
              <a:avLst/>
              <a:gdLst/>
              <a:ahLst/>
              <a:cxnLst/>
              <a:rect l="l" t="t" r="r" b="b"/>
              <a:pathLst>
                <a:path w="2599054" h="581025">
                  <a:moveTo>
                    <a:pt x="2598801" y="0"/>
                  </a:moveTo>
                  <a:lnTo>
                    <a:pt x="0" y="0"/>
                  </a:lnTo>
                  <a:lnTo>
                    <a:pt x="0" y="580466"/>
                  </a:lnTo>
                  <a:lnTo>
                    <a:pt x="2598801" y="580466"/>
                  </a:lnTo>
                  <a:lnTo>
                    <a:pt x="25988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38" name="object 47">
              <a:extLst>
                <a:ext uri="{FF2B5EF4-FFF2-40B4-BE49-F238E27FC236}">
                  <a16:creationId xmlns:a16="http://schemas.microsoft.com/office/drawing/2014/main" id="{807C7FCE-0C89-C2D3-015E-1901E7F0CE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1819" y="1589532"/>
              <a:ext cx="1140714" cy="1140714"/>
            </a:xfrm>
            <a:prstGeom prst="rect">
              <a:avLst/>
            </a:prstGeom>
          </p:spPr>
        </p:pic>
        <p:sp>
          <p:nvSpPr>
            <p:cNvPr id="39" name="object 48">
              <a:extLst>
                <a:ext uri="{FF2B5EF4-FFF2-40B4-BE49-F238E27FC236}">
                  <a16:creationId xmlns:a16="http://schemas.microsoft.com/office/drawing/2014/main" id="{C6111B5C-98DA-3D5F-35ED-2DFDB71C0F4E}"/>
                </a:ext>
              </a:extLst>
            </p:cNvPr>
            <p:cNvSpPr/>
            <p:nvPr/>
          </p:nvSpPr>
          <p:spPr>
            <a:xfrm>
              <a:off x="7013066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3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3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0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0" name="object 49">
              <a:extLst>
                <a:ext uri="{FF2B5EF4-FFF2-40B4-BE49-F238E27FC236}">
                  <a16:creationId xmlns:a16="http://schemas.microsoft.com/office/drawing/2014/main" id="{7B176D2C-FED0-3A12-343B-4C00EB4FFA6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8311" y="1647444"/>
              <a:ext cx="887729" cy="887729"/>
            </a:xfrm>
            <a:prstGeom prst="rect">
              <a:avLst/>
            </a:prstGeom>
          </p:spPr>
        </p:pic>
        <p:sp>
          <p:nvSpPr>
            <p:cNvPr id="41" name="object 50">
              <a:extLst>
                <a:ext uri="{FF2B5EF4-FFF2-40B4-BE49-F238E27FC236}">
                  <a16:creationId xmlns:a16="http://schemas.microsoft.com/office/drawing/2014/main" id="{E58839A4-B201-8E45-F26C-911AE8759133}"/>
                </a:ext>
              </a:extLst>
            </p:cNvPr>
            <p:cNvSpPr/>
            <p:nvPr/>
          </p:nvSpPr>
          <p:spPr>
            <a:xfrm>
              <a:off x="7168387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312" y="0"/>
                  </a:moveTo>
                  <a:lnTo>
                    <a:pt x="298473" y="3153"/>
                  </a:lnTo>
                  <a:lnTo>
                    <a:pt x="253544" y="12340"/>
                  </a:lnTo>
                  <a:lnTo>
                    <a:pt x="210937" y="27148"/>
                  </a:lnTo>
                  <a:lnTo>
                    <a:pt x="171064" y="47164"/>
                  </a:lnTo>
                  <a:lnTo>
                    <a:pt x="134338" y="71975"/>
                  </a:lnTo>
                  <a:lnTo>
                    <a:pt x="101171" y="101171"/>
                  </a:lnTo>
                  <a:lnTo>
                    <a:pt x="71975" y="134338"/>
                  </a:lnTo>
                  <a:lnTo>
                    <a:pt x="47164" y="171064"/>
                  </a:lnTo>
                  <a:lnTo>
                    <a:pt x="27148" y="210937"/>
                  </a:lnTo>
                  <a:lnTo>
                    <a:pt x="12340" y="253544"/>
                  </a:lnTo>
                  <a:lnTo>
                    <a:pt x="3153" y="298473"/>
                  </a:lnTo>
                  <a:lnTo>
                    <a:pt x="0" y="345313"/>
                  </a:lnTo>
                  <a:lnTo>
                    <a:pt x="3153" y="392149"/>
                  </a:lnTo>
                  <a:lnTo>
                    <a:pt x="12340" y="437072"/>
                  </a:lnTo>
                  <a:lnTo>
                    <a:pt x="27148" y="479669"/>
                  </a:lnTo>
                  <a:lnTo>
                    <a:pt x="47164" y="519528"/>
                  </a:lnTo>
                  <a:lnTo>
                    <a:pt x="71975" y="556239"/>
                  </a:lnTo>
                  <a:lnTo>
                    <a:pt x="101171" y="589391"/>
                  </a:lnTo>
                  <a:lnTo>
                    <a:pt x="134338" y="618570"/>
                  </a:lnTo>
                  <a:lnTo>
                    <a:pt x="171064" y="643367"/>
                  </a:lnTo>
                  <a:lnTo>
                    <a:pt x="210937" y="663370"/>
                  </a:lnTo>
                  <a:lnTo>
                    <a:pt x="253544" y="678167"/>
                  </a:lnTo>
                  <a:lnTo>
                    <a:pt x="298473" y="687347"/>
                  </a:lnTo>
                  <a:lnTo>
                    <a:pt x="345312" y="690499"/>
                  </a:lnTo>
                  <a:lnTo>
                    <a:pt x="392149" y="687347"/>
                  </a:lnTo>
                  <a:lnTo>
                    <a:pt x="437072" y="678167"/>
                  </a:lnTo>
                  <a:lnTo>
                    <a:pt x="479669" y="663370"/>
                  </a:lnTo>
                  <a:lnTo>
                    <a:pt x="519528" y="643367"/>
                  </a:lnTo>
                  <a:lnTo>
                    <a:pt x="556239" y="618570"/>
                  </a:lnTo>
                  <a:lnTo>
                    <a:pt x="589391" y="589391"/>
                  </a:lnTo>
                  <a:lnTo>
                    <a:pt x="618570" y="556239"/>
                  </a:lnTo>
                  <a:lnTo>
                    <a:pt x="643367" y="519528"/>
                  </a:lnTo>
                  <a:lnTo>
                    <a:pt x="663370" y="479669"/>
                  </a:lnTo>
                  <a:lnTo>
                    <a:pt x="678167" y="437072"/>
                  </a:lnTo>
                  <a:lnTo>
                    <a:pt x="687347" y="392149"/>
                  </a:lnTo>
                  <a:lnTo>
                    <a:pt x="690498" y="345313"/>
                  </a:lnTo>
                  <a:lnTo>
                    <a:pt x="687347" y="298473"/>
                  </a:lnTo>
                  <a:lnTo>
                    <a:pt x="678167" y="253544"/>
                  </a:lnTo>
                  <a:lnTo>
                    <a:pt x="663370" y="210937"/>
                  </a:lnTo>
                  <a:lnTo>
                    <a:pt x="643367" y="171064"/>
                  </a:lnTo>
                  <a:lnTo>
                    <a:pt x="618570" y="134338"/>
                  </a:lnTo>
                  <a:lnTo>
                    <a:pt x="589391" y="101171"/>
                  </a:lnTo>
                  <a:lnTo>
                    <a:pt x="556239" y="71975"/>
                  </a:lnTo>
                  <a:lnTo>
                    <a:pt x="519528" y="47164"/>
                  </a:lnTo>
                  <a:lnTo>
                    <a:pt x="479669" y="27148"/>
                  </a:lnTo>
                  <a:lnTo>
                    <a:pt x="437072" y="12340"/>
                  </a:lnTo>
                  <a:lnTo>
                    <a:pt x="392149" y="3153"/>
                  </a:lnTo>
                  <a:lnTo>
                    <a:pt x="345312" y="0"/>
                  </a:lnTo>
                  <a:close/>
                </a:path>
              </a:pathLst>
            </a:custGeom>
            <a:solidFill>
              <a:srgbClr val="22861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42" name="object 51">
              <a:extLst>
                <a:ext uri="{FF2B5EF4-FFF2-40B4-BE49-F238E27FC236}">
                  <a16:creationId xmlns:a16="http://schemas.microsoft.com/office/drawing/2014/main" id="{10E51AF7-970B-0248-9284-EAB940FB7B86}"/>
                </a:ext>
              </a:extLst>
            </p:cNvPr>
            <p:cNvSpPr/>
            <p:nvPr/>
          </p:nvSpPr>
          <p:spPr>
            <a:xfrm>
              <a:off x="7168387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3" y="298473"/>
                  </a:lnTo>
                  <a:lnTo>
                    <a:pt x="12340" y="253544"/>
                  </a:lnTo>
                  <a:lnTo>
                    <a:pt x="27148" y="210937"/>
                  </a:lnTo>
                  <a:lnTo>
                    <a:pt x="47164" y="171064"/>
                  </a:lnTo>
                  <a:lnTo>
                    <a:pt x="71975" y="134338"/>
                  </a:lnTo>
                  <a:lnTo>
                    <a:pt x="101171" y="101171"/>
                  </a:lnTo>
                  <a:lnTo>
                    <a:pt x="134338" y="71975"/>
                  </a:lnTo>
                  <a:lnTo>
                    <a:pt x="171064" y="47164"/>
                  </a:lnTo>
                  <a:lnTo>
                    <a:pt x="210937" y="27148"/>
                  </a:lnTo>
                  <a:lnTo>
                    <a:pt x="253544" y="12340"/>
                  </a:lnTo>
                  <a:lnTo>
                    <a:pt x="298473" y="3153"/>
                  </a:lnTo>
                  <a:lnTo>
                    <a:pt x="345312" y="0"/>
                  </a:lnTo>
                  <a:lnTo>
                    <a:pt x="392149" y="3153"/>
                  </a:lnTo>
                  <a:lnTo>
                    <a:pt x="437072" y="12340"/>
                  </a:lnTo>
                  <a:lnTo>
                    <a:pt x="479669" y="27148"/>
                  </a:lnTo>
                  <a:lnTo>
                    <a:pt x="519528" y="47164"/>
                  </a:lnTo>
                  <a:lnTo>
                    <a:pt x="556239" y="71975"/>
                  </a:lnTo>
                  <a:lnTo>
                    <a:pt x="589391" y="101171"/>
                  </a:lnTo>
                  <a:lnTo>
                    <a:pt x="618570" y="134338"/>
                  </a:lnTo>
                  <a:lnTo>
                    <a:pt x="643367" y="171064"/>
                  </a:lnTo>
                  <a:lnTo>
                    <a:pt x="663370" y="210937"/>
                  </a:lnTo>
                  <a:lnTo>
                    <a:pt x="678167" y="253544"/>
                  </a:lnTo>
                  <a:lnTo>
                    <a:pt x="687347" y="298473"/>
                  </a:lnTo>
                  <a:lnTo>
                    <a:pt x="690498" y="345313"/>
                  </a:lnTo>
                  <a:lnTo>
                    <a:pt x="687347" y="392149"/>
                  </a:lnTo>
                  <a:lnTo>
                    <a:pt x="678167" y="437072"/>
                  </a:lnTo>
                  <a:lnTo>
                    <a:pt x="663370" y="479669"/>
                  </a:lnTo>
                  <a:lnTo>
                    <a:pt x="643367" y="519528"/>
                  </a:lnTo>
                  <a:lnTo>
                    <a:pt x="618570" y="556239"/>
                  </a:lnTo>
                  <a:lnTo>
                    <a:pt x="589391" y="589391"/>
                  </a:lnTo>
                  <a:lnTo>
                    <a:pt x="556239" y="618570"/>
                  </a:lnTo>
                  <a:lnTo>
                    <a:pt x="519528" y="643367"/>
                  </a:lnTo>
                  <a:lnTo>
                    <a:pt x="479669" y="663370"/>
                  </a:lnTo>
                  <a:lnTo>
                    <a:pt x="437072" y="678167"/>
                  </a:lnTo>
                  <a:lnTo>
                    <a:pt x="392149" y="687347"/>
                  </a:lnTo>
                  <a:lnTo>
                    <a:pt x="345312" y="690499"/>
                  </a:lnTo>
                  <a:lnTo>
                    <a:pt x="298473" y="687347"/>
                  </a:lnTo>
                  <a:lnTo>
                    <a:pt x="253544" y="678167"/>
                  </a:lnTo>
                  <a:lnTo>
                    <a:pt x="210937" y="663370"/>
                  </a:lnTo>
                  <a:lnTo>
                    <a:pt x="171064" y="643367"/>
                  </a:lnTo>
                  <a:lnTo>
                    <a:pt x="134338" y="618570"/>
                  </a:lnTo>
                  <a:lnTo>
                    <a:pt x="101171" y="589391"/>
                  </a:lnTo>
                  <a:lnTo>
                    <a:pt x="71975" y="556239"/>
                  </a:lnTo>
                  <a:lnTo>
                    <a:pt x="47164" y="519528"/>
                  </a:lnTo>
                  <a:lnTo>
                    <a:pt x="27148" y="479669"/>
                  </a:lnTo>
                  <a:lnTo>
                    <a:pt x="12340" y="437072"/>
                  </a:lnTo>
                  <a:lnTo>
                    <a:pt x="3153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43" name="object 52">
              <a:extLst>
                <a:ext uri="{FF2B5EF4-FFF2-40B4-BE49-F238E27FC236}">
                  <a16:creationId xmlns:a16="http://schemas.microsoft.com/office/drawing/2014/main" id="{62EBACD1-0DF7-9430-61FF-82E6C931341C}"/>
                </a:ext>
              </a:extLst>
            </p:cNvPr>
            <p:cNvSpPr/>
            <p:nvPr/>
          </p:nvSpPr>
          <p:spPr>
            <a:xfrm>
              <a:off x="7215631" y="1795653"/>
              <a:ext cx="596265" cy="596265"/>
            </a:xfrm>
            <a:custGeom>
              <a:avLst/>
              <a:gdLst/>
              <a:ahLst/>
              <a:cxnLst/>
              <a:rect l="l" t="t" r="r" b="b"/>
              <a:pathLst>
                <a:path w="596265" h="596264">
                  <a:moveTo>
                    <a:pt x="298069" y="0"/>
                  </a:moveTo>
                  <a:lnTo>
                    <a:pt x="249727" y="3901"/>
                  </a:lnTo>
                  <a:lnTo>
                    <a:pt x="203866" y="15198"/>
                  </a:lnTo>
                  <a:lnTo>
                    <a:pt x="161101" y="33275"/>
                  </a:lnTo>
                  <a:lnTo>
                    <a:pt x="122044" y="57517"/>
                  </a:lnTo>
                  <a:lnTo>
                    <a:pt x="87312" y="87312"/>
                  </a:lnTo>
                  <a:lnTo>
                    <a:pt x="57517" y="122044"/>
                  </a:lnTo>
                  <a:lnTo>
                    <a:pt x="33275" y="161101"/>
                  </a:lnTo>
                  <a:lnTo>
                    <a:pt x="15198" y="203866"/>
                  </a:lnTo>
                  <a:lnTo>
                    <a:pt x="3901" y="249727"/>
                  </a:lnTo>
                  <a:lnTo>
                    <a:pt x="0" y="298069"/>
                  </a:lnTo>
                  <a:lnTo>
                    <a:pt x="3901" y="346407"/>
                  </a:lnTo>
                  <a:lnTo>
                    <a:pt x="15198" y="392258"/>
                  </a:lnTo>
                  <a:lnTo>
                    <a:pt x="33275" y="435009"/>
                  </a:lnTo>
                  <a:lnTo>
                    <a:pt x="57517" y="474048"/>
                  </a:lnTo>
                  <a:lnTo>
                    <a:pt x="87312" y="508762"/>
                  </a:lnTo>
                  <a:lnTo>
                    <a:pt x="122044" y="538537"/>
                  </a:lnTo>
                  <a:lnTo>
                    <a:pt x="161101" y="562763"/>
                  </a:lnTo>
                  <a:lnTo>
                    <a:pt x="203866" y="580825"/>
                  </a:lnTo>
                  <a:lnTo>
                    <a:pt x="249727" y="592112"/>
                  </a:lnTo>
                  <a:lnTo>
                    <a:pt x="298069" y="596011"/>
                  </a:lnTo>
                  <a:lnTo>
                    <a:pt x="346407" y="592112"/>
                  </a:lnTo>
                  <a:lnTo>
                    <a:pt x="392258" y="580825"/>
                  </a:lnTo>
                  <a:lnTo>
                    <a:pt x="435009" y="562763"/>
                  </a:lnTo>
                  <a:lnTo>
                    <a:pt x="474048" y="538537"/>
                  </a:lnTo>
                  <a:lnTo>
                    <a:pt x="508762" y="508762"/>
                  </a:lnTo>
                  <a:lnTo>
                    <a:pt x="538537" y="474048"/>
                  </a:lnTo>
                  <a:lnTo>
                    <a:pt x="562763" y="435009"/>
                  </a:lnTo>
                  <a:lnTo>
                    <a:pt x="580825" y="392258"/>
                  </a:lnTo>
                  <a:lnTo>
                    <a:pt x="592112" y="346407"/>
                  </a:lnTo>
                  <a:lnTo>
                    <a:pt x="596011" y="298069"/>
                  </a:lnTo>
                  <a:lnTo>
                    <a:pt x="592112" y="249727"/>
                  </a:lnTo>
                  <a:lnTo>
                    <a:pt x="580825" y="203866"/>
                  </a:lnTo>
                  <a:lnTo>
                    <a:pt x="562763" y="161101"/>
                  </a:lnTo>
                  <a:lnTo>
                    <a:pt x="538537" y="122044"/>
                  </a:lnTo>
                  <a:lnTo>
                    <a:pt x="508762" y="87312"/>
                  </a:lnTo>
                  <a:lnTo>
                    <a:pt x="474048" y="57517"/>
                  </a:lnTo>
                  <a:lnTo>
                    <a:pt x="435009" y="33275"/>
                  </a:lnTo>
                  <a:lnTo>
                    <a:pt x="392258" y="15198"/>
                  </a:lnTo>
                  <a:lnTo>
                    <a:pt x="346407" y="3901"/>
                  </a:lnTo>
                  <a:lnTo>
                    <a:pt x="298069" y="0"/>
                  </a:lnTo>
                  <a:close/>
                </a:path>
              </a:pathLst>
            </a:custGeom>
            <a:solidFill>
              <a:srgbClr val="22861C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grpSp>
        <p:nvGrpSpPr>
          <p:cNvPr id="45" name="object 54">
            <a:extLst>
              <a:ext uri="{FF2B5EF4-FFF2-40B4-BE49-F238E27FC236}">
                <a16:creationId xmlns:a16="http://schemas.microsoft.com/office/drawing/2014/main" id="{2B7D53FE-EA87-2591-6F8F-B085A48CC96C}"/>
              </a:ext>
            </a:extLst>
          </p:cNvPr>
          <p:cNvGrpSpPr/>
          <p:nvPr userDrawn="1"/>
        </p:nvGrpSpPr>
        <p:grpSpPr>
          <a:xfrm>
            <a:off x="9015610" y="1399414"/>
            <a:ext cx="2583067" cy="1644002"/>
            <a:chOff x="9017889" y="1589532"/>
            <a:chExt cx="2585085" cy="1644002"/>
          </a:xfrm>
        </p:grpSpPr>
        <p:sp>
          <p:nvSpPr>
            <p:cNvPr id="46" name="object 55">
              <a:extLst>
                <a:ext uri="{FF2B5EF4-FFF2-40B4-BE49-F238E27FC236}">
                  <a16:creationId xmlns:a16="http://schemas.microsoft.com/office/drawing/2014/main" id="{114EBF58-5797-E332-BBE0-3CF5C8921531}"/>
                </a:ext>
              </a:extLst>
            </p:cNvPr>
            <p:cNvSpPr/>
            <p:nvPr/>
          </p:nvSpPr>
          <p:spPr>
            <a:xfrm>
              <a:off x="9017889" y="2642349"/>
              <a:ext cx="2585085" cy="591185"/>
            </a:xfrm>
            <a:custGeom>
              <a:avLst/>
              <a:gdLst/>
              <a:ahLst/>
              <a:cxnLst/>
              <a:rect l="l" t="t" r="r" b="b"/>
              <a:pathLst>
                <a:path w="2585084" h="591185">
                  <a:moveTo>
                    <a:pt x="2584830" y="0"/>
                  </a:moveTo>
                  <a:lnTo>
                    <a:pt x="0" y="0"/>
                  </a:lnTo>
                  <a:lnTo>
                    <a:pt x="0" y="590816"/>
                  </a:lnTo>
                  <a:lnTo>
                    <a:pt x="2584830" y="590816"/>
                  </a:lnTo>
                  <a:lnTo>
                    <a:pt x="258483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7" name="object 56">
              <a:extLst>
                <a:ext uri="{FF2B5EF4-FFF2-40B4-BE49-F238E27FC236}">
                  <a16:creationId xmlns:a16="http://schemas.microsoft.com/office/drawing/2014/main" id="{3CD18610-2669-3182-DA49-00B6E4DAA0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2264" y="1589532"/>
              <a:ext cx="1140714" cy="1140714"/>
            </a:xfrm>
            <a:prstGeom prst="rect">
              <a:avLst/>
            </a:prstGeom>
          </p:spPr>
        </p:pic>
        <p:sp>
          <p:nvSpPr>
            <p:cNvPr id="48" name="object 57">
              <a:extLst>
                <a:ext uri="{FF2B5EF4-FFF2-40B4-BE49-F238E27FC236}">
                  <a16:creationId xmlns:a16="http://schemas.microsoft.com/office/drawing/2014/main" id="{96F29402-2B7A-C0E8-7614-9132451F9F74}"/>
                </a:ext>
              </a:extLst>
            </p:cNvPr>
            <p:cNvSpPr/>
            <p:nvPr/>
          </p:nvSpPr>
          <p:spPr>
            <a:xfrm>
              <a:off x="9802749" y="1593088"/>
              <a:ext cx="1001394" cy="1001394"/>
            </a:xfrm>
            <a:custGeom>
              <a:avLst/>
              <a:gdLst/>
              <a:ahLst/>
              <a:cxnLst/>
              <a:rect l="l" t="t" r="r" b="b"/>
              <a:pathLst>
                <a:path w="1001395" h="1001394">
                  <a:moveTo>
                    <a:pt x="500633" y="0"/>
                  </a:moveTo>
                  <a:lnTo>
                    <a:pt x="452421" y="2291"/>
                  </a:lnTo>
                  <a:lnTo>
                    <a:pt x="405505" y="9027"/>
                  </a:lnTo>
                  <a:lnTo>
                    <a:pt x="360095" y="19997"/>
                  </a:lnTo>
                  <a:lnTo>
                    <a:pt x="316401" y="34991"/>
                  </a:lnTo>
                  <a:lnTo>
                    <a:pt x="274632" y="53799"/>
                  </a:lnTo>
                  <a:lnTo>
                    <a:pt x="234999" y="76212"/>
                  </a:lnTo>
                  <a:lnTo>
                    <a:pt x="197712" y="102020"/>
                  </a:lnTo>
                  <a:lnTo>
                    <a:pt x="162979" y="131012"/>
                  </a:lnTo>
                  <a:lnTo>
                    <a:pt x="131012" y="162979"/>
                  </a:lnTo>
                  <a:lnTo>
                    <a:pt x="102020" y="197712"/>
                  </a:lnTo>
                  <a:lnTo>
                    <a:pt x="76212" y="234999"/>
                  </a:lnTo>
                  <a:lnTo>
                    <a:pt x="53799" y="274632"/>
                  </a:lnTo>
                  <a:lnTo>
                    <a:pt x="34991" y="316401"/>
                  </a:lnTo>
                  <a:lnTo>
                    <a:pt x="19997" y="360095"/>
                  </a:lnTo>
                  <a:lnTo>
                    <a:pt x="9027" y="405505"/>
                  </a:lnTo>
                  <a:lnTo>
                    <a:pt x="2291" y="452421"/>
                  </a:lnTo>
                  <a:lnTo>
                    <a:pt x="0" y="500634"/>
                  </a:lnTo>
                  <a:lnTo>
                    <a:pt x="2291" y="548845"/>
                  </a:lnTo>
                  <a:lnTo>
                    <a:pt x="9027" y="595757"/>
                  </a:lnTo>
                  <a:lnTo>
                    <a:pt x="19997" y="641162"/>
                  </a:lnTo>
                  <a:lnTo>
                    <a:pt x="34991" y="684848"/>
                  </a:lnTo>
                  <a:lnTo>
                    <a:pt x="53799" y="726608"/>
                  </a:lnTo>
                  <a:lnTo>
                    <a:pt x="76212" y="766232"/>
                  </a:lnTo>
                  <a:lnTo>
                    <a:pt x="102020" y="803509"/>
                  </a:lnTo>
                  <a:lnTo>
                    <a:pt x="131012" y="838230"/>
                  </a:lnTo>
                  <a:lnTo>
                    <a:pt x="162979" y="870186"/>
                  </a:lnTo>
                  <a:lnTo>
                    <a:pt x="197712" y="899167"/>
                  </a:lnTo>
                  <a:lnTo>
                    <a:pt x="234999" y="924964"/>
                  </a:lnTo>
                  <a:lnTo>
                    <a:pt x="274632" y="947367"/>
                  </a:lnTo>
                  <a:lnTo>
                    <a:pt x="316401" y="966167"/>
                  </a:lnTo>
                  <a:lnTo>
                    <a:pt x="360095" y="981153"/>
                  </a:lnTo>
                  <a:lnTo>
                    <a:pt x="405505" y="992118"/>
                  </a:lnTo>
                  <a:lnTo>
                    <a:pt x="452421" y="998850"/>
                  </a:lnTo>
                  <a:lnTo>
                    <a:pt x="500633" y="1001140"/>
                  </a:lnTo>
                  <a:lnTo>
                    <a:pt x="548845" y="998850"/>
                  </a:lnTo>
                  <a:lnTo>
                    <a:pt x="595757" y="992118"/>
                  </a:lnTo>
                  <a:lnTo>
                    <a:pt x="641162" y="981153"/>
                  </a:lnTo>
                  <a:lnTo>
                    <a:pt x="684848" y="966167"/>
                  </a:lnTo>
                  <a:lnTo>
                    <a:pt x="726608" y="947367"/>
                  </a:lnTo>
                  <a:lnTo>
                    <a:pt x="766232" y="924964"/>
                  </a:lnTo>
                  <a:lnTo>
                    <a:pt x="803509" y="899167"/>
                  </a:lnTo>
                  <a:lnTo>
                    <a:pt x="838230" y="870186"/>
                  </a:lnTo>
                  <a:lnTo>
                    <a:pt x="870186" y="838230"/>
                  </a:lnTo>
                  <a:lnTo>
                    <a:pt x="899167" y="803509"/>
                  </a:lnTo>
                  <a:lnTo>
                    <a:pt x="924964" y="766232"/>
                  </a:lnTo>
                  <a:lnTo>
                    <a:pt x="947367" y="726608"/>
                  </a:lnTo>
                  <a:lnTo>
                    <a:pt x="966167" y="684848"/>
                  </a:lnTo>
                  <a:lnTo>
                    <a:pt x="981153" y="641162"/>
                  </a:lnTo>
                  <a:lnTo>
                    <a:pt x="992118" y="595757"/>
                  </a:lnTo>
                  <a:lnTo>
                    <a:pt x="998850" y="548845"/>
                  </a:lnTo>
                  <a:lnTo>
                    <a:pt x="1001141" y="500634"/>
                  </a:lnTo>
                  <a:lnTo>
                    <a:pt x="998850" y="452421"/>
                  </a:lnTo>
                  <a:lnTo>
                    <a:pt x="992118" y="405505"/>
                  </a:lnTo>
                  <a:lnTo>
                    <a:pt x="981153" y="360095"/>
                  </a:lnTo>
                  <a:lnTo>
                    <a:pt x="966167" y="316401"/>
                  </a:lnTo>
                  <a:lnTo>
                    <a:pt x="947367" y="274632"/>
                  </a:lnTo>
                  <a:lnTo>
                    <a:pt x="924964" y="234999"/>
                  </a:lnTo>
                  <a:lnTo>
                    <a:pt x="899167" y="197712"/>
                  </a:lnTo>
                  <a:lnTo>
                    <a:pt x="870186" y="162979"/>
                  </a:lnTo>
                  <a:lnTo>
                    <a:pt x="838230" y="131012"/>
                  </a:lnTo>
                  <a:lnTo>
                    <a:pt x="803509" y="102020"/>
                  </a:lnTo>
                  <a:lnTo>
                    <a:pt x="766232" y="76212"/>
                  </a:lnTo>
                  <a:lnTo>
                    <a:pt x="726608" y="53799"/>
                  </a:lnTo>
                  <a:lnTo>
                    <a:pt x="684848" y="34991"/>
                  </a:lnTo>
                  <a:lnTo>
                    <a:pt x="641162" y="19997"/>
                  </a:lnTo>
                  <a:lnTo>
                    <a:pt x="595757" y="9027"/>
                  </a:lnTo>
                  <a:lnTo>
                    <a:pt x="548845" y="2291"/>
                  </a:lnTo>
                  <a:lnTo>
                    <a:pt x="500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pic>
          <p:nvPicPr>
            <p:cNvPr id="49" name="object 58">
              <a:extLst>
                <a:ext uri="{FF2B5EF4-FFF2-40B4-BE49-F238E27FC236}">
                  <a16:creationId xmlns:a16="http://schemas.microsoft.com/office/drawing/2014/main" id="{616031D1-15E9-EC51-BEEB-EDFE104900A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58756" y="1647444"/>
              <a:ext cx="887729" cy="887729"/>
            </a:xfrm>
            <a:prstGeom prst="rect">
              <a:avLst/>
            </a:prstGeom>
          </p:spPr>
        </p:pic>
        <p:sp>
          <p:nvSpPr>
            <p:cNvPr id="50" name="object 59">
              <a:extLst>
                <a:ext uri="{FF2B5EF4-FFF2-40B4-BE49-F238E27FC236}">
                  <a16:creationId xmlns:a16="http://schemas.microsoft.com/office/drawing/2014/main" id="{E86D32EB-323C-DA10-C640-4A7D265065F3}"/>
                </a:ext>
              </a:extLst>
            </p:cNvPr>
            <p:cNvSpPr/>
            <p:nvPr/>
          </p:nvSpPr>
          <p:spPr>
            <a:xfrm>
              <a:off x="9958070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345312" y="0"/>
                  </a:moveTo>
                  <a:lnTo>
                    <a:pt x="298447" y="3153"/>
                  </a:lnTo>
                  <a:lnTo>
                    <a:pt x="253500" y="12340"/>
                  </a:lnTo>
                  <a:lnTo>
                    <a:pt x="210883" y="27148"/>
                  </a:lnTo>
                  <a:lnTo>
                    <a:pt x="171007" y="47164"/>
                  </a:lnTo>
                  <a:lnTo>
                    <a:pt x="134284" y="71975"/>
                  </a:lnTo>
                  <a:lnTo>
                    <a:pt x="101123" y="101171"/>
                  </a:lnTo>
                  <a:lnTo>
                    <a:pt x="71937" y="134338"/>
                  </a:lnTo>
                  <a:lnTo>
                    <a:pt x="47135" y="171064"/>
                  </a:lnTo>
                  <a:lnTo>
                    <a:pt x="27130" y="210937"/>
                  </a:lnTo>
                  <a:lnTo>
                    <a:pt x="12331" y="253544"/>
                  </a:lnTo>
                  <a:lnTo>
                    <a:pt x="3151" y="298473"/>
                  </a:lnTo>
                  <a:lnTo>
                    <a:pt x="0" y="345313"/>
                  </a:lnTo>
                  <a:lnTo>
                    <a:pt x="3151" y="392149"/>
                  </a:lnTo>
                  <a:lnTo>
                    <a:pt x="12331" y="437072"/>
                  </a:lnTo>
                  <a:lnTo>
                    <a:pt x="27130" y="479669"/>
                  </a:lnTo>
                  <a:lnTo>
                    <a:pt x="47135" y="519528"/>
                  </a:lnTo>
                  <a:lnTo>
                    <a:pt x="71937" y="556239"/>
                  </a:lnTo>
                  <a:lnTo>
                    <a:pt x="101123" y="589391"/>
                  </a:lnTo>
                  <a:lnTo>
                    <a:pt x="134284" y="618570"/>
                  </a:lnTo>
                  <a:lnTo>
                    <a:pt x="171007" y="643367"/>
                  </a:lnTo>
                  <a:lnTo>
                    <a:pt x="210883" y="663370"/>
                  </a:lnTo>
                  <a:lnTo>
                    <a:pt x="253500" y="678167"/>
                  </a:lnTo>
                  <a:lnTo>
                    <a:pt x="298447" y="687347"/>
                  </a:lnTo>
                  <a:lnTo>
                    <a:pt x="345312" y="690499"/>
                  </a:lnTo>
                  <a:lnTo>
                    <a:pt x="392149" y="687347"/>
                  </a:lnTo>
                  <a:lnTo>
                    <a:pt x="437072" y="678167"/>
                  </a:lnTo>
                  <a:lnTo>
                    <a:pt x="479669" y="663370"/>
                  </a:lnTo>
                  <a:lnTo>
                    <a:pt x="519528" y="643367"/>
                  </a:lnTo>
                  <a:lnTo>
                    <a:pt x="556239" y="618570"/>
                  </a:lnTo>
                  <a:lnTo>
                    <a:pt x="589391" y="589391"/>
                  </a:lnTo>
                  <a:lnTo>
                    <a:pt x="618570" y="556239"/>
                  </a:lnTo>
                  <a:lnTo>
                    <a:pt x="643367" y="519528"/>
                  </a:lnTo>
                  <a:lnTo>
                    <a:pt x="663370" y="479669"/>
                  </a:lnTo>
                  <a:lnTo>
                    <a:pt x="678167" y="437072"/>
                  </a:lnTo>
                  <a:lnTo>
                    <a:pt x="687347" y="392149"/>
                  </a:lnTo>
                  <a:lnTo>
                    <a:pt x="690499" y="345313"/>
                  </a:lnTo>
                  <a:lnTo>
                    <a:pt x="687347" y="298473"/>
                  </a:lnTo>
                  <a:lnTo>
                    <a:pt x="678167" y="253544"/>
                  </a:lnTo>
                  <a:lnTo>
                    <a:pt x="663370" y="210937"/>
                  </a:lnTo>
                  <a:lnTo>
                    <a:pt x="643367" y="171064"/>
                  </a:lnTo>
                  <a:lnTo>
                    <a:pt x="618570" y="134338"/>
                  </a:lnTo>
                  <a:lnTo>
                    <a:pt x="589391" y="101171"/>
                  </a:lnTo>
                  <a:lnTo>
                    <a:pt x="556239" y="71975"/>
                  </a:lnTo>
                  <a:lnTo>
                    <a:pt x="519528" y="47164"/>
                  </a:lnTo>
                  <a:lnTo>
                    <a:pt x="479669" y="27148"/>
                  </a:lnTo>
                  <a:lnTo>
                    <a:pt x="437072" y="12340"/>
                  </a:lnTo>
                  <a:lnTo>
                    <a:pt x="392149" y="3153"/>
                  </a:lnTo>
                  <a:lnTo>
                    <a:pt x="345312" y="0"/>
                  </a:lnTo>
                  <a:close/>
                </a:path>
              </a:pathLst>
            </a:custGeom>
            <a:solidFill>
              <a:srgbClr val="2DB024"/>
            </a:solidFill>
          </p:spPr>
          <p:txBody>
            <a:bodyPr wrap="square" lIns="0" tIns="0" rIns="0" bIns="0" rtlCol="0"/>
            <a:lstStyle/>
            <a:p>
              <a:endParaRPr sz="1349"/>
            </a:p>
          </p:txBody>
        </p:sp>
        <p:sp>
          <p:nvSpPr>
            <p:cNvPr id="51" name="object 60">
              <a:extLst>
                <a:ext uri="{FF2B5EF4-FFF2-40B4-BE49-F238E27FC236}">
                  <a16:creationId xmlns:a16="http://schemas.microsoft.com/office/drawing/2014/main" id="{9CD25610-8536-E27F-20BC-3430CCA5A120}"/>
                </a:ext>
              </a:extLst>
            </p:cNvPr>
            <p:cNvSpPr/>
            <p:nvPr/>
          </p:nvSpPr>
          <p:spPr>
            <a:xfrm>
              <a:off x="9958070" y="1748409"/>
              <a:ext cx="690880" cy="690880"/>
            </a:xfrm>
            <a:custGeom>
              <a:avLst/>
              <a:gdLst/>
              <a:ahLst/>
              <a:cxnLst/>
              <a:rect l="l" t="t" r="r" b="b"/>
              <a:pathLst>
                <a:path w="690879" h="690880">
                  <a:moveTo>
                    <a:pt x="0" y="345313"/>
                  </a:moveTo>
                  <a:lnTo>
                    <a:pt x="3151" y="298473"/>
                  </a:lnTo>
                  <a:lnTo>
                    <a:pt x="12331" y="253544"/>
                  </a:lnTo>
                  <a:lnTo>
                    <a:pt x="27130" y="210937"/>
                  </a:lnTo>
                  <a:lnTo>
                    <a:pt x="47135" y="171064"/>
                  </a:lnTo>
                  <a:lnTo>
                    <a:pt x="71937" y="134338"/>
                  </a:lnTo>
                  <a:lnTo>
                    <a:pt x="101123" y="101171"/>
                  </a:lnTo>
                  <a:lnTo>
                    <a:pt x="134284" y="71975"/>
                  </a:lnTo>
                  <a:lnTo>
                    <a:pt x="171007" y="47164"/>
                  </a:lnTo>
                  <a:lnTo>
                    <a:pt x="210883" y="27148"/>
                  </a:lnTo>
                  <a:lnTo>
                    <a:pt x="253500" y="12340"/>
                  </a:lnTo>
                  <a:lnTo>
                    <a:pt x="298447" y="3153"/>
                  </a:lnTo>
                  <a:lnTo>
                    <a:pt x="345312" y="0"/>
                  </a:lnTo>
                  <a:lnTo>
                    <a:pt x="392149" y="3153"/>
                  </a:lnTo>
                  <a:lnTo>
                    <a:pt x="437072" y="12340"/>
                  </a:lnTo>
                  <a:lnTo>
                    <a:pt x="479669" y="27148"/>
                  </a:lnTo>
                  <a:lnTo>
                    <a:pt x="519528" y="47164"/>
                  </a:lnTo>
                  <a:lnTo>
                    <a:pt x="556239" y="71975"/>
                  </a:lnTo>
                  <a:lnTo>
                    <a:pt x="589391" y="101171"/>
                  </a:lnTo>
                  <a:lnTo>
                    <a:pt x="618570" y="134338"/>
                  </a:lnTo>
                  <a:lnTo>
                    <a:pt x="643367" y="171064"/>
                  </a:lnTo>
                  <a:lnTo>
                    <a:pt x="663370" y="210937"/>
                  </a:lnTo>
                  <a:lnTo>
                    <a:pt x="678167" y="253544"/>
                  </a:lnTo>
                  <a:lnTo>
                    <a:pt x="687347" y="298473"/>
                  </a:lnTo>
                  <a:lnTo>
                    <a:pt x="690499" y="345313"/>
                  </a:lnTo>
                  <a:lnTo>
                    <a:pt x="687347" y="392149"/>
                  </a:lnTo>
                  <a:lnTo>
                    <a:pt x="678167" y="437072"/>
                  </a:lnTo>
                  <a:lnTo>
                    <a:pt x="663370" y="479669"/>
                  </a:lnTo>
                  <a:lnTo>
                    <a:pt x="643367" y="519528"/>
                  </a:lnTo>
                  <a:lnTo>
                    <a:pt x="618570" y="556239"/>
                  </a:lnTo>
                  <a:lnTo>
                    <a:pt x="589391" y="589391"/>
                  </a:lnTo>
                  <a:lnTo>
                    <a:pt x="556239" y="618570"/>
                  </a:lnTo>
                  <a:lnTo>
                    <a:pt x="519528" y="643367"/>
                  </a:lnTo>
                  <a:lnTo>
                    <a:pt x="479669" y="663370"/>
                  </a:lnTo>
                  <a:lnTo>
                    <a:pt x="437072" y="678167"/>
                  </a:lnTo>
                  <a:lnTo>
                    <a:pt x="392149" y="687347"/>
                  </a:lnTo>
                  <a:lnTo>
                    <a:pt x="345312" y="690499"/>
                  </a:lnTo>
                  <a:lnTo>
                    <a:pt x="298447" y="687347"/>
                  </a:lnTo>
                  <a:lnTo>
                    <a:pt x="253500" y="678167"/>
                  </a:lnTo>
                  <a:lnTo>
                    <a:pt x="210883" y="663370"/>
                  </a:lnTo>
                  <a:lnTo>
                    <a:pt x="171007" y="643367"/>
                  </a:lnTo>
                  <a:lnTo>
                    <a:pt x="134284" y="618570"/>
                  </a:lnTo>
                  <a:lnTo>
                    <a:pt x="101123" y="589391"/>
                  </a:lnTo>
                  <a:lnTo>
                    <a:pt x="71937" y="556239"/>
                  </a:lnTo>
                  <a:lnTo>
                    <a:pt x="47135" y="519528"/>
                  </a:lnTo>
                  <a:lnTo>
                    <a:pt x="27130" y="479669"/>
                  </a:lnTo>
                  <a:lnTo>
                    <a:pt x="12331" y="437072"/>
                  </a:lnTo>
                  <a:lnTo>
                    <a:pt x="3151" y="392149"/>
                  </a:lnTo>
                  <a:lnTo>
                    <a:pt x="0" y="34531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49"/>
            </a:p>
          </p:txBody>
        </p:sp>
      </p:grp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34444943-EE9B-66AD-6234-19A380F5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B9CAF0DF-0506-C540-AA19-75365848DA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27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8">
            <a:extLst>
              <a:ext uri="{FF2B5EF4-FFF2-40B4-BE49-F238E27FC236}">
                <a16:creationId xmlns:a16="http://schemas.microsoft.com/office/drawing/2014/main" id="{C77A7853-44A2-4EE3-37AA-14EC5B8D6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075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8">
            <a:extLst>
              <a:ext uri="{FF2B5EF4-FFF2-40B4-BE49-F238E27FC236}">
                <a16:creationId xmlns:a16="http://schemas.microsoft.com/office/drawing/2014/main" id="{D00FD055-8083-6415-5D3A-D32A838A9E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34320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8">
            <a:extLst>
              <a:ext uri="{FF2B5EF4-FFF2-40B4-BE49-F238E27FC236}">
                <a16:creationId xmlns:a16="http://schemas.microsoft.com/office/drawing/2014/main" id="{126D42B8-A709-8D1D-4C2F-3A7E1A18B7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31724" y="2504166"/>
            <a:ext cx="2350838" cy="503634"/>
          </a:xfrm>
          <a:prstGeom prst="rect">
            <a:avLst/>
          </a:prstGeom>
        </p:spPr>
        <p:txBody>
          <a:bodyPr anchor="ctr"/>
          <a:lstStyle>
            <a:lvl1pPr algn="ctr">
              <a:defRPr sz="1499" b="1" i="0">
                <a:latin typeface="Manrope SemiBold" pitchFamily="2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010B432-5BED-5BEC-E2D9-2A6B4E14DF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596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5" name="Text Placeholder 63">
            <a:extLst>
              <a:ext uri="{FF2B5EF4-FFF2-40B4-BE49-F238E27FC236}">
                <a16:creationId xmlns:a16="http://schemas.microsoft.com/office/drawing/2014/main" id="{D0C1CB91-B50D-2504-DD70-9DCAD450F6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49862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6" name="Text Placeholder 63">
            <a:extLst>
              <a:ext uri="{FF2B5EF4-FFF2-40B4-BE49-F238E27FC236}">
                <a16:creationId xmlns:a16="http://schemas.microsoft.com/office/drawing/2014/main" id="{83876A7B-100C-9328-C3EC-EEE94D44ED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0792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7" name="Text Placeholder 63">
            <a:extLst>
              <a:ext uri="{FF2B5EF4-FFF2-40B4-BE49-F238E27FC236}">
                <a16:creationId xmlns:a16="http://schemas.microsoft.com/office/drawing/2014/main" id="{37515FBD-CA3E-3C7F-EE3D-88601874DD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31724" y="3211116"/>
            <a:ext cx="2350838" cy="3018234"/>
          </a:xfrm>
          <a:prstGeom prst="rect">
            <a:avLst/>
          </a:prstGeom>
        </p:spPr>
        <p:txBody>
          <a:bodyPr/>
          <a:lstStyle>
            <a:lvl1pPr>
              <a:defRPr sz="1199">
                <a:latin typeface="Manrope" pitchFamily="2" charset="0"/>
              </a:defRPr>
            </a:lvl1pPr>
            <a:lvl2pPr>
              <a:defRPr sz="1199">
                <a:latin typeface="Manrope" pitchFamily="2" charset="0"/>
              </a:defRPr>
            </a:lvl2pPr>
            <a:lvl3pPr>
              <a:defRPr sz="1199">
                <a:latin typeface="Manrope" pitchFamily="2" charset="0"/>
              </a:defRPr>
            </a:lvl3pPr>
            <a:lvl4pPr>
              <a:defRPr sz="1199">
                <a:latin typeface="Manrope" pitchFamily="2" charset="0"/>
              </a:defRPr>
            </a:lvl4pPr>
            <a:lvl5pPr>
              <a:defRPr sz="1199"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9" name="Picture Placeholder 68">
            <a:extLst>
              <a:ext uri="{FF2B5EF4-FFF2-40B4-BE49-F238E27FC236}">
                <a16:creationId xmlns:a16="http://schemas.microsoft.com/office/drawing/2014/main" id="{116E55BE-8A67-AA79-50BC-EACDA420D85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716654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0" name="Picture Placeholder 68">
            <a:extLst>
              <a:ext uri="{FF2B5EF4-FFF2-40B4-BE49-F238E27FC236}">
                <a16:creationId xmlns:a16="http://schemas.microsoft.com/office/drawing/2014/main" id="{8021C9F1-9FFA-9368-6F43-2E6F5ABFDE1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12775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1" name="Picture Placeholder 68">
            <a:extLst>
              <a:ext uri="{FF2B5EF4-FFF2-40B4-BE49-F238E27FC236}">
                <a16:creationId xmlns:a16="http://schemas.microsoft.com/office/drawing/2014/main" id="{1218FECD-D906-331C-C35C-32AD8A078EC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94093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2" name="Picture Placeholder 68">
            <a:extLst>
              <a:ext uri="{FF2B5EF4-FFF2-40B4-BE49-F238E27FC236}">
                <a16:creationId xmlns:a16="http://schemas.microsoft.com/office/drawing/2014/main" id="{3D941BE0-F5CF-42F0-BAE1-20C73E03DD8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85024" y="1696234"/>
            <a:ext cx="444236" cy="4445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5618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62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5F027D8-F26E-B242-4DEC-A652B52889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21" y="1376560"/>
            <a:ext cx="11339300" cy="609610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2698" b="1" i="0">
                <a:solidFill>
                  <a:schemeClr val="tx1"/>
                </a:solidFill>
                <a:latin typeface="Manrope" pitchFamily="2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Project Title/Description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AB4E9-0453-6002-8E44-29902D0C7EF1}"/>
              </a:ext>
            </a:extLst>
          </p:cNvPr>
          <p:cNvSpPr/>
          <p:nvPr userDrawn="1"/>
        </p:nvSpPr>
        <p:spPr>
          <a:xfrm>
            <a:off x="366746" y="2675861"/>
            <a:ext cx="2691645" cy="3552433"/>
          </a:xfrm>
          <a:prstGeom prst="rect">
            <a:avLst/>
          </a:prstGeom>
          <a:solidFill>
            <a:srgbClr val="9BC4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2B23A-06CF-7868-B9FE-7B098264E6A4}"/>
              </a:ext>
            </a:extLst>
          </p:cNvPr>
          <p:cNvSpPr/>
          <p:nvPr userDrawn="1"/>
        </p:nvSpPr>
        <p:spPr>
          <a:xfrm>
            <a:off x="3263064" y="2676919"/>
            <a:ext cx="3370634" cy="3552433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B9AD1-2BA4-FA5C-01B4-ECB225C8C91D}"/>
              </a:ext>
            </a:extLst>
          </p:cNvPr>
          <p:cNvSpPr/>
          <p:nvPr userDrawn="1"/>
        </p:nvSpPr>
        <p:spPr>
          <a:xfrm>
            <a:off x="6838371" y="2675861"/>
            <a:ext cx="4986885" cy="3552433"/>
          </a:xfrm>
          <a:prstGeom prst="rect">
            <a:avLst/>
          </a:prstGeom>
          <a:solidFill>
            <a:srgbClr val="9BC4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3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D1EEB-8853-D908-A1CF-184EC02652AF}"/>
              </a:ext>
            </a:extLst>
          </p:cNvPr>
          <p:cNvSpPr txBox="1"/>
          <p:nvPr userDrawn="1"/>
        </p:nvSpPr>
        <p:spPr>
          <a:xfrm>
            <a:off x="366745" y="2224143"/>
            <a:ext cx="1546188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Challenge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8B461-4275-3FA4-B018-EC87B15C9014}"/>
              </a:ext>
            </a:extLst>
          </p:cNvPr>
          <p:cNvSpPr txBox="1"/>
          <p:nvPr userDrawn="1"/>
        </p:nvSpPr>
        <p:spPr>
          <a:xfrm>
            <a:off x="3263064" y="2224143"/>
            <a:ext cx="1330375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Solution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8F2B02-DA54-CA8B-BE06-58C6A2248107}"/>
              </a:ext>
            </a:extLst>
          </p:cNvPr>
          <p:cNvSpPr txBox="1"/>
          <p:nvPr userDrawn="1"/>
        </p:nvSpPr>
        <p:spPr>
          <a:xfrm>
            <a:off x="6838372" y="2224141"/>
            <a:ext cx="1288809" cy="36920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1799" b="1" i="0">
                <a:latin typeface="Manrope" pitchFamily="2" charset="0"/>
                <a:cs typeface="Segoe UI Semibold" panose="020B0502040204020203" pitchFamily="34" charset="0"/>
              </a:rPr>
              <a:t>Benefits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000B3715-9C08-9C33-4705-BDE84047E7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1120" y="2812848"/>
            <a:ext cx="2309875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tx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Challenge description</a:t>
            </a:r>
            <a:endParaRPr lang="en-US"/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13826928-DDBF-2CFE-017B-3780858233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7574" y="2812848"/>
            <a:ext cx="3058164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Solution Description</a:t>
            </a:r>
            <a:endParaRPr lang="en-US"/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FF5E0B46-4704-B60D-E734-F8F73786978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56385" y="2812848"/>
            <a:ext cx="4604496" cy="32827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99">
                <a:solidFill>
                  <a:schemeClr val="tx1"/>
                </a:solidFill>
                <a:latin typeface="Manrope" pitchFamily="2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Benefits Description</a:t>
            </a:r>
            <a:endParaRPr lang="en-US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6D2EE3C-96D6-C010-9D7D-98FB439B6A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098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Insurer Description</a:t>
            </a:r>
          </a:p>
        </p:txBody>
      </p:sp>
    </p:spTree>
    <p:extLst>
      <p:ext uri="{BB962C8B-B14F-4D97-AF65-F5344CB8AC3E}">
        <p14:creationId xmlns:p14="http://schemas.microsoft.com/office/powerpoint/2010/main" val="2361024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417171"/>
            <a:ext cx="10515600" cy="4759793"/>
          </a:xfrm>
          <a:prstGeom prst="rect">
            <a:avLst/>
          </a:prstGeom>
        </p:spPr>
        <p:txBody>
          <a:bodyPr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24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260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6084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4CE6851D-2204-97EF-FF97-4F5D8564A503}"/>
              </a:ext>
            </a:extLst>
          </p:cNvPr>
          <p:cNvSpPr/>
          <p:nvPr userDrawn="1"/>
        </p:nvSpPr>
        <p:spPr>
          <a:xfrm>
            <a:off x="4094923" y="0"/>
            <a:ext cx="8121758" cy="6912386"/>
          </a:xfrm>
          <a:custGeom>
            <a:avLst/>
            <a:gdLst>
              <a:gd name="connsiteX0" fmla="*/ 0 w 8075605"/>
              <a:gd name="connsiteY0" fmla="*/ 0 h 6858000"/>
              <a:gd name="connsiteX1" fmla="*/ 8075605 w 8075605"/>
              <a:gd name="connsiteY1" fmla="*/ 0 h 6858000"/>
              <a:gd name="connsiteX2" fmla="*/ 8075605 w 8075605"/>
              <a:gd name="connsiteY2" fmla="*/ 6858000 h 6858000"/>
              <a:gd name="connsiteX3" fmla="*/ 2623371 w 8075605"/>
              <a:gd name="connsiteY3" fmla="*/ 6858000 h 6858000"/>
              <a:gd name="connsiteX4" fmla="*/ 0 w 807560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75605" h="6858000">
                <a:moveTo>
                  <a:pt x="0" y="0"/>
                </a:moveTo>
                <a:lnTo>
                  <a:pt x="8075605" y="0"/>
                </a:lnTo>
                <a:lnTo>
                  <a:pt x="8075605" y="6858000"/>
                </a:lnTo>
                <a:lnTo>
                  <a:pt x="2623371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65ABC"/>
              </a:gs>
              <a:gs pos="29000">
                <a:srgbClr val="365ABC"/>
              </a:gs>
              <a:gs pos="100000">
                <a:srgbClr val="2C3A7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7" name="Google Shape;16;p9" descr="Link-01.png">
            <a:extLst>
              <a:ext uri="{FF2B5EF4-FFF2-40B4-BE49-F238E27FC236}">
                <a16:creationId xmlns:a16="http://schemas.microsoft.com/office/drawing/2014/main" id="{CEF810AE-6202-27D1-3283-7BDD893EA4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73" t="5879" r="3301" b="5748"/>
          <a:stretch/>
        </p:blipFill>
        <p:spPr>
          <a:xfrm>
            <a:off x="355600" y="374650"/>
            <a:ext cx="11480800" cy="61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7;p9">
            <a:extLst>
              <a:ext uri="{FF2B5EF4-FFF2-40B4-BE49-F238E27FC236}">
                <a16:creationId xmlns:a16="http://schemas.microsoft.com/office/drawing/2014/main" id="{80C53D57-5B8D-8246-B320-778AFEB32D8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747628" y="4337144"/>
            <a:ext cx="6696744" cy="57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23" lvl="0" indent="-22861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A554D"/>
              </a:buClr>
              <a:buSzPts val="2800"/>
              <a:buNone/>
              <a:defRPr sz="2800" b="0" i="0">
                <a:solidFill>
                  <a:srgbClr val="61B2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46" lvl="1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69" lvl="2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1" lvl="3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114" lvl="4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337" lvl="5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0" lvl="6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Google Shape;18;p9">
            <a:extLst>
              <a:ext uri="{FF2B5EF4-FFF2-40B4-BE49-F238E27FC236}">
                <a16:creationId xmlns:a16="http://schemas.microsoft.com/office/drawing/2014/main" id="{3AF9D4D0-32CA-6CA9-202B-16FE78BE6DC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47628" y="3041000"/>
            <a:ext cx="6696744" cy="1577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23" lvl="0" indent="-22861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0">
                <a:solidFill>
                  <a:schemeClr val="lt1"/>
                </a:solidFill>
                <a:latin typeface="Abadi" panose="020B0604020104020204" pitchFamily="34" charset="0"/>
                <a:ea typeface="Abadi" panose="020B0604020104020204" pitchFamily="34" charset="0"/>
                <a:cs typeface="Gill Sans"/>
                <a:sym typeface="Gill Sans"/>
              </a:defRPr>
            </a:lvl1pPr>
            <a:lvl2pPr marL="914446" lvl="1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69" lvl="2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91" lvl="3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114" lvl="4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337" lvl="5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560" lvl="6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783" lvl="7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5006" lvl="8" indent="-34291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F6582E-80B4-C2AB-6B07-93D64AF040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8612" y="1667086"/>
            <a:ext cx="2574778" cy="127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1437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CBE03D8C-210D-C515-B400-0A36BF4CA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3168904"/>
            <a:ext cx="2742108" cy="1219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6FC07E-87BD-9E5A-640D-A2006ED2C03D}"/>
              </a:ext>
            </a:extLst>
          </p:cNvPr>
          <p:cNvSpPr/>
          <p:nvPr userDrawn="1"/>
        </p:nvSpPr>
        <p:spPr>
          <a:xfrm>
            <a:off x="4386943" y="1328057"/>
            <a:ext cx="7544871" cy="4894554"/>
          </a:xfrm>
          <a:prstGeom prst="rect">
            <a:avLst/>
          </a:prstGeom>
          <a:solidFill>
            <a:schemeClr val="bg1"/>
          </a:solidFill>
          <a:ln w="50800"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4D6B17D-FD60-4C01-E98C-2D52D97138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6106778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7170"/>
            <a:ext cx="10515600" cy="4759793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0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1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74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566">
          <p15:clr>
            <a:srgbClr val="000000"/>
          </p15:clr>
        </p15:guide>
        <p15:guide id="4" pos="120">
          <p15:clr>
            <a:srgbClr val="00000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6884168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5290705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653137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5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3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6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2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6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345" indent="-190345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6" y="1814222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599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068343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0E9AE9-8572-4B8E-D47E-1581A9821105}"/>
              </a:ext>
            </a:extLst>
          </p:cNvPr>
          <p:cNvSpPr/>
          <p:nvPr userDrawn="1"/>
        </p:nvSpPr>
        <p:spPr>
          <a:xfrm>
            <a:off x="261438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82478-2B6C-5FEB-2BFB-259E68DCEF92}"/>
              </a:ext>
            </a:extLst>
          </p:cNvPr>
          <p:cNvSpPr/>
          <p:nvPr userDrawn="1"/>
        </p:nvSpPr>
        <p:spPr>
          <a:xfrm>
            <a:off x="3229976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582343-F414-5BC5-D7F8-75EF91D21285}"/>
              </a:ext>
            </a:extLst>
          </p:cNvPr>
          <p:cNvSpPr/>
          <p:nvPr userDrawn="1"/>
        </p:nvSpPr>
        <p:spPr>
          <a:xfrm>
            <a:off x="620416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9DE855-5063-4C8B-D091-A2D245607C28}"/>
              </a:ext>
            </a:extLst>
          </p:cNvPr>
          <p:cNvSpPr/>
          <p:nvPr userDrawn="1"/>
        </p:nvSpPr>
        <p:spPr>
          <a:xfrm>
            <a:off x="9163579" y="1651000"/>
            <a:ext cx="2743200" cy="11454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CC0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34E621-498F-E1D5-4934-367ECD9F3446}"/>
              </a:ext>
            </a:extLst>
          </p:cNvPr>
          <p:cNvCxnSpPr>
            <a:cxnSpLocks/>
          </p:cNvCxnSpPr>
          <p:nvPr userDrawn="1"/>
        </p:nvCxnSpPr>
        <p:spPr>
          <a:xfrm>
            <a:off x="3234487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EBB761-2CD8-D781-8A33-5205CB00D6C7}"/>
              </a:ext>
            </a:extLst>
          </p:cNvPr>
          <p:cNvCxnSpPr>
            <a:cxnSpLocks/>
          </p:cNvCxnSpPr>
          <p:nvPr userDrawn="1"/>
        </p:nvCxnSpPr>
        <p:spPr>
          <a:xfrm>
            <a:off x="6198521" y="2796402"/>
            <a:ext cx="2738693" cy="0"/>
          </a:xfrm>
          <a:prstGeom prst="line">
            <a:avLst/>
          </a:prstGeom>
          <a:ln w="25400">
            <a:solidFill>
              <a:srgbClr val="FCC0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bject 16">
            <a:extLst>
              <a:ext uri="{FF2B5EF4-FFF2-40B4-BE49-F238E27FC236}">
                <a16:creationId xmlns:a16="http://schemas.microsoft.com/office/drawing/2014/main" id="{526010EB-4CFE-1C24-1A24-6E46F8D6D6C6}"/>
              </a:ext>
            </a:extLst>
          </p:cNvPr>
          <p:cNvSpPr/>
          <p:nvPr userDrawn="1"/>
        </p:nvSpPr>
        <p:spPr>
          <a:xfrm>
            <a:off x="4478397" y="2824175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5"/>
                </a:lnTo>
                <a:lnTo>
                  <a:pt x="6477" y="46354"/>
                </a:lnTo>
                <a:lnTo>
                  <a:pt x="0" y="75945"/>
                </a:lnTo>
                <a:lnTo>
                  <a:pt x="0" y="607949"/>
                </a:lnTo>
                <a:lnTo>
                  <a:pt x="6477" y="637539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30" y="684021"/>
                </a:lnTo>
                <a:lnTo>
                  <a:pt x="1669669" y="678052"/>
                </a:lnTo>
                <a:lnTo>
                  <a:pt x="1696339" y="661796"/>
                </a:lnTo>
                <a:lnTo>
                  <a:pt x="1714373" y="637539"/>
                </a:lnTo>
                <a:lnTo>
                  <a:pt x="1720977" y="607949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5"/>
                </a:lnTo>
                <a:lnTo>
                  <a:pt x="1669669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FB722018-379F-D8B0-7666-921E67785879}"/>
              </a:ext>
            </a:extLst>
          </p:cNvPr>
          <p:cNvSpPr/>
          <p:nvPr userDrawn="1"/>
        </p:nvSpPr>
        <p:spPr>
          <a:xfrm>
            <a:off x="4493626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8"/>
                </a:lnTo>
                <a:lnTo>
                  <a:pt x="24511" y="22224"/>
                </a:lnTo>
                <a:lnTo>
                  <a:pt x="6476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476" y="637666"/>
                </a:lnTo>
                <a:lnTo>
                  <a:pt x="24511" y="661796"/>
                </a:lnTo>
                <a:lnTo>
                  <a:pt x="51180" y="678052"/>
                </a:lnTo>
                <a:lnTo>
                  <a:pt x="83946" y="684021"/>
                </a:lnTo>
                <a:lnTo>
                  <a:pt x="1637029" y="684021"/>
                </a:lnTo>
                <a:lnTo>
                  <a:pt x="1669668" y="678052"/>
                </a:lnTo>
                <a:lnTo>
                  <a:pt x="1696339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339" y="22224"/>
                </a:lnTo>
                <a:lnTo>
                  <a:pt x="1669668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C8D416DD-1AB2-B40B-954E-D8E170AFAAE7}"/>
              </a:ext>
            </a:extLst>
          </p:cNvPr>
          <p:cNvSpPr/>
          <p:nvPr userDrawn="1"/>
        </p:nvSpPr>
        <p:spPr>
          <a:xfrm>
            <a:off x="4493626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29" y="0"/>
                </a:moveTo>
                <a:lnTo>
                  <a:pt x="83946" y="0"/>
                </a:lnTo>
                <a:lnTo>
                  <a:pt x="51180" y="5969"/>
                </a:lnTo>
                <a:lnTo>
                  <a:pt x="24511" y="22225"/>
                </a:lnTo>
                <a:lnTo>
                  <a:pt x="6476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476" y="637667"/>
                </a:lnTo>
                <a:lnTo>
                  <a:pt x="24511" y="661797"/>
                </a:lnTo>
                <a:lnTo>
                  <a:pt x="51180" y="678053"/>
                </a:lnTo>
                <a:lnTo>
                  <a:pt x="83946" y="684022"/>
                </a:lnTo>
                <a:lnTo>
                  <a:pt x="1637029" y="684022"/>
                </a:lnTo>
                <a:lnTo>
                  <a:pt x="1669668" y="678053"/>
                </a:lnTo>
                <a:lnTo>
                  <a:pt x="1696339" y="661797"/>
                </a:lnTo>
                <a:lnTo>
                  <a:pt x="1714373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339" y="22225"/>
                </a:lnTo>
                <a:lnTo>
                  <a:pt x="1669668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2" name="object 26">
            <a:extLst>
              <a:ext uri="{FF2B5EF4-FFF2-40B4-BE49-F238E27FC236}">
                <a16:creationId xmlns:a16="http://schemas.microsoft.com/office/drawing/2014/main" id="{0DDEEFF9-0828-4D9B-776F-57D0B00F82A5}"/>
              </a:ext>
            </a:extLst>
          </p:cNvPr>
          <p:cNvSpPr/>
          <p:nvPr userDrawn="1"/>
        </p:nvSpPr>
        <p:spPr>
          <a:xfrm>
            <a:off x="8327681" y="2806917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354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39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2"/>
                </a:lnTo>
                <a:lnTo>
                  <a:pt x="1696466" y="661797"/>
                </a:lnTo>
                <a:lnTo>
                  <a:pt x="1714500" y="637539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500" y="46354"/>
                </a:lnTo>
                <a:lnTo>
                  <a:pt x="1696466" y="22225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3" name="object 28">
            <a:extLst>
              <a:ext uri="{FF2B5EF4-FFF2-40B4-BE49-F238E27FC236}">
                <a16:creationId xmlns:a16="http://schemas.microsoft.com/office/drawing/2014/main" id="{D298202F-33CC-2D47-BB53-B4320004A15F}"/>
              </a:ext>
            </a:extLst>
          </p:cNvPr>
          <p:cNvSpPr/>
          <p:nvPr userDrawn="1"/>
        </p:nvSpPr>
        <p:spPr>
          <a:xfrm>
            <a:off x="8313088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052"/>
                </a:lnTo>
                <a:lnTo>
                  <a:pt x="83947" y="684021"/>
                </a:lnTo>
                <a:lnTo>
                  <a:pt x="1637283" y="684021"/>
                </a:lnTo>
                <a:lnTo>
                  <a:pt x="1669923" y="678052"/>
                </a:lnTo>
                <a:lnTo>
                  <a:pt x="1696465" y="661796"/>
                </a:lnTo>
                <a:lnTo>
                  <a:pt x="1714500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500" y="46354"/>
                </a:lnTo>
                <a:lnTo>
                  <a:pt x="1696465" y="22224"/>
                </a:lnTo>
                <a:lnTo>
                  <a:pt x="1669923" y="5968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4" name="object 30">
            <a:extLst>
              <a:ext uri="{FF2B5EF4-FFF2-40B4-BE49-F238E27FC236}">
                <a16:creationId xmlns:a16="http://schemas.microsoft.com/office/drawing/2014/main" id="{DB18A44C-602A-865F-A63C-87B9EA4AF946}"/>
              </a:ext>
            </a:extLst>
          </p:cNvPr>
          <p:cNvSpPr/>
          <p:nvPr userDrawn="1"/>
        </p:nvSpPr>
        <p:spPr>
          <a:xfrm>
            <a:off x="8327681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283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283" y="684022"/>
                </a:lnTo>
                <a:lnTo>
                  <a:pt x="1669923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923" y="5969"/>
                </a:lnTo>
                <a:lnTo>
                  <a:pt x="1637283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5" name="object 36">
            <a:extLst>
              <a:ext uri="{FF2B5EF4-FFF2-40B4-BE49-F238E27FC236}">
                <a16:creationId xmlns:a16="http://schemas.microsoft.com/office/drawing/2014/main" id="{461BD1F0-1BE1-94D1-F959-DDF440399D07}"/>
              </a:ext>
            </a:extLst>
          </p:cNvPr>
          <p:cNvSpPr/>
          <p:nvPr userDrawn="1"/>
        </p:nvSpPr>
        <p:spPr>
          <a:xfrm>
            <a:off x="6407037" y="2806536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9"/>
                </a:lnTo>
                <a:lnTo>
                  <a:pt x="24511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540"/>
                </a:lnTo>
                <a:lnTo>
                  <a:pt x="24511" y="661797"/>
                </a:lnTo>
                <a:lnTo>
                  <a:pt x="51181" y="678053"/>
                </a:lnTo>
                <a:lnTo>
                  <a:pt x="83947" y="684022"/>
                </a:lnTo>
                <a:lnTo>
                  <a:pt x="1637029" y="684022"/>
                </a:lnTo>
                <a:lnTo>
                  <a:pt x="1669669" y="678053"/>
                </a:lnTo>
                <a:lnTo>
                  <a:pt x="1696466" y="661797"/>
                </a:lnTo>
                <a:lnTo>
                  <a:pt x="1714373" y="637540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669" y="5969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6" name="object 38">
            <a:extLst>
              <a:ext uri="{FF2B5EF4-FFF2-40B4-BE49-F238E27FC236}">
                <a16:creationId xmlns:a16="http://schemas.microsoft.com/office/drawing/2014/main" id="{6DD28BE7-12E4-036A-3A62-21EC811909EF}"/>
              </a:ext>
            </a:extLst>
          </p:cNvPr>
          <p:cNvSpPr/>
          <p:nvPr userDrawn="1"/>
        </p:nvSpPr>
        <p:spPr>
          <a:xfrm>
            <a:off x="6407037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029" y="0"/>
                </a:moveTo>
                <a:lnTo>
                  <a:pt x="83947" y="0"/>
                </a:lnTo>
                <a:lnTo>
                  <a:pt x="51181" y="5968"/>
                </a:lnTo>
                <a:lnTo>
                  <a:pt x="24511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1" y="661796"/>
                </a:lnTo>
                <a:lnTo>
                  <a:pt x="51181" y="678052"/>
                </a:lnTo>
                <a:lnTo>
                  <a:pt x="83947" y="684021"/>
                </a:lnTo>
                <a:lnTo>
                  <a:pt x="1637029" y="684021"/>
                </a:lnTo>
                <a:lnTo>
                  <a:pt x="1669669" y="678052"/>
                </a:lnTo>
                <a:lnTo>
                  <a:pt x="1696466" y="661796"/>
                </a:lnTo>
                <a:lnTo>
                  <a:pt x="1714373" y="637666"/>
                </a:lnTo>
                <a:lnTo>
                  <a:pt x="1720977" y="607948"/>
                </a:lnTo>
                <a:lnTo>
                  <a:pt x="1720977" y="75945"/>
                </a:lnTo>
                <a:lnTo>
                  <a:pt x="1714373" y="46354"/>
                </a:lnTo>
                <a:lnTo>
                  <a:pt x="1696466" y="22224"/>
                </a:lnTo>
                <a:lnTo>
                  <a:pt x="1669669" y="5968"/>
                </a:lnTo>
                <a:lnTo>
                  <a:pt x="1637029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723F63F4-8488-A3C6-DBCE-581792700550}"/>
              </a:ext>
            </a:extLst>
          </p:cNvPr>
          <p:cNvSpPr/>
          <p:nvPr userDrawn="1"/>
        </p:nvSpPr>
        <p:spPr>
          <a:xfrm>
            <a:off x="6410590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7" y="0"/>
                </a:moveTo>
                <a:lnTo>
                  <a:pt x="83946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6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5" y="661797"/>
                </a:lnTo>
                <a:lnTo>
                  <a:pt x="1714499" y="637667"/>
                </a:lnTo>
                <a:lnTo>
                  <a:pt x="1721103" y="608076"/>
                </a:lnTo>
                <a:lnTo>
                  <a:pt x="1721103" y="76073"/>
                </a:lnTo>
                <a:lnTo>
                  <a:pt x="1714499" y="46482"/>
                </a:lnTo>
                <a:lnTo>
                  <a:pt x="1696465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8" name="object 46">
            <a:extLst>
              <a:ext uri="{FF2B5EF4-FFF2-40B4-BE49-F238E27FC236}">
                <a16:creationId xmlns:a16="http://schemas.microsoft.com/office/drawing/2014/main" id="{EB80B4BF-A346-6C8D-0642-1CA0F4F1F68A}"/>
              </a:ext>
            </a:extLst>
          </p:cNvPr>
          <p:cNvSpPr/>
          <p:nvPr userDrawn="1"/>
        </p:nvSpPr>
        <p:spPr>
          <a:xfrm>
            <a:off x="2546206" y="2836613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9"/>
                </a:lnTo>
                <a:lnTo>
                  <a:pt x="24510" y="22225"/>
                </a:lnTo>
                <a:lnTo>
                  <a:pt x="6603" y="46355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7"/>
                </a:lnTo>
                <a:lnTo>
                  <a:pt x="24510" y="661797"/>
                </a:lnTo>
                <a:lnTo>
                  <a:pt x="51181" y="678053"/>
                </a:lnTo>
                <a:lnTo>
                  <a:pt x="83946" y="684022"/>
                </a:lnTo>
                <a:lnTo>
                  <a:pt x="1637030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372" y="637667"/>
                </a:lnTo>
                <a:lnTo>
                  <a:pt x="1720976" y="608076"/>
                </a:lnTo>
                <a:lnTo>
                  <a:pt x="1720976" y="76073"/>
                </a:lnTo>
                <a:lnTo>
                  <a:pt x="1714372" y="46355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19" name="object 48">
            <a:extLst>
              <a:ext uri="{FF2B5EF4-FFF2-40B4-BE49-F238E27FC236}">
                <a16:creationId xmlns:a16="http://schemas.microsoft.com/office/drawing/2014/main" id="{A5B09F82-0698-9C8C-8783-91C3554C312D}"/>
              </a:ext>
            </a:extLst>
          </p:cNvPr>
          <p:cNvSpPr/>
          <p:nvPr userDrawn="1"/>
        </p:nvSpPr>
        <p:spPr>
          <a:xfrm>
            <a:off x="2546206" y="3763750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030" y="0"/>
                </a:moveTo>
                <a:lnTo>
                  <a:pt x="83946" y="0"/>
                </a:lnTo>
                <a:lnTo>
                  <a:pt x="51181" y="5968"/>
                </a:lnTo>
                <a:lnTo>
                  <a:pt x="24510" y="22224"/>
                </a:lnTo>
                <a:lnTo>
                  <a:pt x="6603" y="46354"/>
                </a:lnTo>
                <a:lnTo>
                  <a:pt x="0" y="75945"/>
                </a:lnTo>
                <a:lnTo>
                  <a:pt x="0" y="607948"/>
                </a:lnTo>
                <a:lnTo>
                  <a:pt x="6603" y="637666"/>
                </a:lnTo>
                <a:lnTo>
                  <a:pt x="24510" y="661796"/>
                </a:lnTo>
                <a:lnTo>
                  <a:pt x="51181" y="678052"/>
                </a:lnTo>
                <a:lnTo>
                  <a:pt x="83946" y="684021"/>
                </a:lnTo>
                <a:lnTo>
                  <a:pt x="1637030" y="684021"/>
                </a:lnTo>
                <a:lnTo>
                  <a:pt x="1669795" y="678052"/>
                </a:lnTo>
                <a:lnTo>
                  <a:pt x="1696466" y="661796"/>
                </a:lnTo>
                <a:lnTo>
                  <a:pt x="1714372" y="637666"/>
                </a:lnTo>
                <a:lnTo>
                  <a:pt x="1720976" y="607948"/>
                </a:lnTo>
                <a:lnTo>
                  <a:pt x="1720976" y="75945"/>
                </a:lnTo>
                <a:lnTo>
                  <a:pt x="1714372" y="46354"/>
                </a:lnTo>
                <a:lnTo>
                  <a:pt x="1696466" y="22224"/>
                </a:lnTo>
                <a:lnTo>
                  <a:pt x="1669795" y="5968"/>
                </a:lnTo>
                <a:lnTo>
                  <a:pt x="163703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0" name="object 50">
            <a:extLst>
              <a:ext uri="{FF2B5EF4-FFF2-40B4-BE49-F238E27FC236}">
                <a16:creationId xmlns:a16="http://schemas.microsoft.com/office/drawing/2014/main" id="{CBE358AA-75DB-7DA3-0820-E2BC0C24E60A}"/>
              </a:ext>
            </a:extLst>
          </p:cNvPr>
          <p:cNvSpPr/>
          <p:nvPr userDrawn="1"/>
        </p:nvSpPr>
        <p:spPr>
          <a:xfrm>
            <a:off x="2557625" y="4706751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5" h="684529">
                <a:moveTo>
                  <a:pt x="1637157" y="0"/>
                </a:moveTo>
                <a:lnTo>
                  <a:pt x="84074" y="0"/>
                </a:lnTo>
                <a:lnTo>
                  <a:pt x="51308" y="5969"/>
                </a:lnTo>
                <a:lnTo>
                  <a:pt x="24638" y="22225"/>
                </a:lnTo>
                <a:lnTo>
                  <a:pt x="6604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4" y="637667"/>
                </a:lnTo>
                <a:lnTo>
                  <a:pt x="24638" y="661797"/>
                </a:lnTo>
                <a:lnTo>
                  <a:pt x="51308" y="678053"/>
                </a:lnTo>
                <a:lnTo>
                  <a:pt x="84074" y="684022"/>
                </a:lnTo>
                <a:lnTo>
                  <a:pt x="1637157" y="684022"/>
                </a:lnTo>
                <a:lnTo>
                  <a:pt x="1669795" y="678053"/>
                </a:lnTo>
                <a:lnTo>
                  <a:pt x="1696466" y="661797"/>
                </a:lnTo>
                <a:lnTo>
                  <a:pt x="1714500" y="637667"/>
                </a:lnTo>
                <a:lnTo>
                  <a:pt x="1721104" y="608076"/>
                </a:lnTo>
                <a:lnTo>
                  <a:pt x="1721104" y="76073"/>
                </a:lnTo>
                <a:lnTo>
                  <a:pt x="1714500" y="46482"/>
                </a:lnTo>
                <a:lnTo>
                  <a:pt x="1696466" y="22225"/>
                </a:lnTo>
                <a:lnTo>
                  <a:pt x="1669795" y="5969"/>
                </a:lnTo>
                <a:lnTo>
                  <a:pt x="1637157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1" name="object 72">
            <a:extLst>
              <a:ext uri="{FF2B5EF4-FFF2-40B4-BE49-F238E27FC236}">
                <a16:creationId xmlns:a16="http://schemas.microsoft.com/office/drawing/2014/main" id="{6B5741C3-232B-51E1-A9BA-C4960CEE4F46}"/>
              </a:ext>
            </a:extLst>
          </p:cNvPr>
          <p:cNvSpPr/>
          <p:nvPr userDrawn="1"/>
        </p:nvSpPr>
        <p:spPr>
          <a:xfrm>
            <a:off x="10247056" y="2786359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225"/>
                </a:lnTo>
                <a:lnTo>
                  <a:pt x="6603" y="46482"/>
                </a:lnTo>
                <a:lnTo>
                  <a:pt x="0" y="76073"/>
                </a:lnTo>
                <a:lnTo>
                  <a:pt x="0" y="608076"/>
                </a:lnTo>
                <a:lnTo>
                  <a:pt x="6603" y="637666"/>
                </a:lnTo>
                <a:lnTo>
                  <a:pt x="24637" y="661797"/>
                </a:lnTo>
                <a:lnTo>
                  <a:pt x="51307" y="678052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2"/>
                </a:lnTo>
                <a:lnTo>
                  <a:pt x="1696466" y="661797"/>
                </a:lnTo>
                <a:lnTo>
                  <a:pt x="1714373" y="637666"/>
                </a:lnTo>
                <a:lnTo>
                  <a:pt x="1720977" y="608076"/>
                </a:lnTo>
                <a:lnTo>
                  <a:pt x="1720977" y="76073"/>
                </a:lnTo>
                <a:lnTo>
                  <a:pt x="1714373" y="46482"/>
                </a:lnTo>
                <a:lnTo>
                  <a:pt x="1696466" y="22225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2" name="object 74">
            <a:extLst>
              <a:ext uri="{FF2B5EF4-FFF2-40B4-BE49-F238E27FC236}">
                <a16:creationId xmlns:a16="http://schemas.microsoft.com/office/drawing/2014/main" id="{29918909-89FA-2B24-9E54-03D17013E5E3}"/>
              </a:ext>
            </a:extLst>
          </p:cNvPr>
          <p:cNvSpPr/>
          <p:nvPr userDrawn="1"/>
        </p:nvSpPr>
        <p:spPr>
          <a:xfrm>
            <a:off x="10232463" y="3743192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8"/>
                </a:lnTo>
                <a:lnTo>
                  <a:pt x="24637" y="22351"/>
                </a:lnTo>
                <a:lnTo>
                  <a:pt x="6603" y="46481"/>
                </a:lnTo>
                <a:lnTo>
                  <a:pt x="0" y="76072"/>
                </a:lnTo>
                <a:lnTo>
                  <a:pt x="0" y="608075"/>
                </a:lnTo>
                <a:lnTo>
                  <a:pt x="6603" y="637666"/>
                </a:lnTo>
                <a:lnTo>
                  <a:pt x="24637" y="661796"/>
                </a:lnTo>
                <a:lnTo>
                  <a:pt x="51307" y="678179"/>
                </a:lnTo>
                <a:lnTo>
                  <a:pt x="83947" y="684148"/>
                </a:lnTo>
                <a:lnTo>
                  <a:pt x="1637156" y="684148"/>
                </a:lnTo>
                <a:lnTo>
                  <a:pt x="1669796" y="678179"/>
                </a:lnTo>
                <a:lnTo>
                  <a:pt x="1696465" y="661796"/>
                </a:lnTo>
                <a:lnTo>
                  <a:pt x="1714373" y="637666"/>
                </a:lnTo>
                <a:lnTo>
                  <a:pt x="1720977" y="608075"/>
                </a:lnTo>
                <a:lnTo>
                  <a:pt x="1720977" y="76072"/>
                </a:lnTo>
                <a:lnTo>
                  <a:pt x="1714373" y="46481"/>
                </a:lnTo>
                <a:lnTo>
                  <a:pt x="1696465" y="22351"/>
                </a:lnTo>
                <a:lnTo>
                  <a:pt x="1669796" y="5968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3" name="object 76">
            <a:extLst>
              <a:ext uri="{FF2B5EF4-FFF2-40B4-BE49-F238E27FC236}">
                <a16:creationId xmlns:a16="http://schemas.microsoft.com/office/drawing/2014/main" id="{202131E3-6159-9906-C51F-F4F664B66BFB}"/>
              </a:ext>
            </a:extLst>
          </p:cNvPr>
          <p:cNvSpPr/>
          <p:nvPr userDrawn="1"/>
        </p:nvSpPr>
        <p:spPr>
          <a:xfrm>
            <a:off x="10247056" y="4686318"/>
            <a:ext cx="1720141" cy="683996"/>
          </a:xfrm>
          <a:custGeom>
            <a:avLst/>
            <a:gdLst/>
            <a:ahLst/>
            <a:cxnLst/>
            <a:rect l="l" t="t" r="r" b="b"/>
            <a:pathLst>
              <a:path w="1721484" h="684529">
                <a:moveTo>
                  <a:pt x="1637156" y="0"/>
                </a:moveTo>
                <a:lnTo>
                  <a:pt x="83947" y="0"/>
                </a:lnTo>
                <a:lnTo>
                  <a:pt x="51307" y="5969"/>
                </a:lnTo>
                <a:lnTo>
                  <a:pt x="24637" y="22225"/>
                </a:lnTo>
                <a:lnTo>
                  <a:pt x="6603" y="46355"/>
                </a:lnTo>
                <a:lnTo>
                  <a:pt x="0" y="75946"/>
                </a:lnTo>
                <a:lnTo>
                  <a:pt x="0" y="607949"/>
                </a:lnTo>
                <a:lnTo>
                  <a:pt x="6603" y="637667"/>
                </a:lnTo>
                <a:lnTo>
                  <a:pt x="24637" y="661797"/>
                </a:lnTo>
                <a:lnTo>
                  <a:pt x="51307" y="678053"/>
                </a:lnTo>
                <a:lnTo>
                  <a:pt x="83947" y="684022"/>
                </a:lnTo>
                <a:lnTo>
                  <a:pt x="1637156" y="684022"/>
                </a:lnTo>
                <a:lnTo>
                  <a:pt x="1669796" y="678053"/>
                </a:lnTo>
                <a:lnTo>
                  <a:pt x="1696466" y="661797"/>
                </a:lnTo>
                <a:lnTo>
                  <a:pt x="1714373" y="637667"/>
                </a:lnTo>
                <a:lnTo>
                  <a:pt x="1720977" y="607949"/>
                </a:lnTo>
                <a:lnTo>
                  <a:pt x="1720977" y="75946"/>
                </a:lnTo>
                <a:lnTo>
                  <a:pt x="1714373" y="46355"/>
                </a:lnTo>
                <a:lnTo>
                  <a:pt x="1696466" y="22225"/>
                </a:lnTo>
                <a:lnTo>
                  <a:pt x="1669796" y="5969"/>
                </a:lnTo>
                <a:lnTo>
                  <a:pt x="1637156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pPr defTabSz="684693"/>
            <a:endParaRPr sz="1599" kern="0">
              <a:solidFill>
                <a:sysClr val="windowText" lastClr="000000"/>
              </a:solidFill>
              <a:latin typeface="Manrope Medium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57A35A-5C20-5CDC-FE7D-4D254586C062}"/>
              </a:ext>
            </a:extLst>
          </p:cNvPr>
          <p:cNvSpPr/>
          <p:nvPr userDrawn="1"/>
        </p:nvSpPr>
        <p:spPr>
          <a:xfrm>
            <a:off x="9167062" y="1651000"/>
            <a:ext cx="2743200" cy="4115984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E6FBA2-5672-EC02-ABE1-EAF29ED34C9A}"/>
              </a:ext>
            </a:extLst>
          </p:cNvPr>
          <p:cNvSpPr/>
          <p:nvPr userDrawn="1"/>
        </p:nvSpPr>
        <p:spPr>
          <a:xfrm>
            <a:off x="6198521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A49E38-B9DA-3E84-B054-B3D543CE1639}"/>
              </a:ext>
            </a:extLst>
          </p:cNvPr>
          <p:cNvSpPr/>
          <p:nvPr userDrawn="1"/>
        </p:nvSpPr>
        <p:spPr>
          <a:xfrm>
            <a:off x="3229980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A56D63-7B98-7FB5-C018-E5E2683724DA}"/>
              </a:ext>
            </a:extLst>
          </p:cNvPr>
          <p:cNvSpPr/>
          <p:nvPr userDrawn="1"/>
        </p:nvSpPr>
        <p:spPr>
          <a:xfrm>
            <a:off x="261439" y="1651000"/>
            <a:ext cx="2743200" cy="4115986"/>
          </a:xfrm>
          <a:prstGeom prst="rect">
            <a:avLst/>
          </a:prstGeom>
          <a:noFill/>
          <a:ln>
            <a:gradFill>
              <a:gsLst>
                <a:gs pos="0">
                  <a:srgbClr val="056BFC"/>
                </a:gs>
                <a:gs pos="100000">
                  <a:srgbClr val="62B849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9"/>
          </a:p>
        </p:txBody>
      </p:sp>
    </p:spTree>
    <p:extLst>
      <p:ext uri="{BB962C8B-B14F-4D97-AF65-F5344CB8AC3E}">
        <p14:creationId xmlns:p14="http://schemas.microsoft.com/office/powerpoint/2010/main" val="12056891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5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252499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4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5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99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90" y="2970352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388872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2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2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4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3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B5863-B4F1-F2F5-F618-E7E43C3734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111F7E1-3A33-4F90-A742-D4C1B18AB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4048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C5FD-38AF-4807-ACF5-E66F6F1E48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3" y="1417170"/>
            <a:ext cx="10515600" cy="47597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9AC36E-AC7F-C930-DF7C-43F77C062D93}"/>
              </a:ext>
            </a:extLst>
          </p:cNvPr>
          <p:cNvSpPr/>
          <p:nvPr userDrawn="1"/>
        </p:nvSpPr>
        <p:spPr>
          <a:xfrm>
            <a:off x="0" y="3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2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4DAECDC-798A-EFF5-36F4-993F484CB8F9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4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8EE8CD-7CCE-3E13-3DE9-0F016CBB89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F398F-DF69-6AAC-E1DE-634F3F4D90BD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B5863-B4F1-F2F5-F618-E7E43C3734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111F7E1-3A33-4F90-A742-D4C1B18AB9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0542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+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D223143-2100-90D7-4164-34C4971E6AEB}"/>
              </a:ext>
            </a:extLst>
          </p:cNvPr>
          <p:cNvSpPr/>
          <p:nvPr userDrawn="1"/>
        </p:nvSpPr>
        <p:spPr>
          <a:xfrm>
            <a:off x="0" y="1"/>
            <a:ext cx="12192000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DF4734-C1D4-A4C0-BD75-2DE74BC37B4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539" y="295812"/>
            <a:ext cx="9056032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350DB-E511-3A3B-334C-2F963BA947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10" y="181875"/>
            <a:ext cx="1556388" cy="77158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19225E-0850-EE99-D32E-1C63B1939BAA}"/>
              </a:ext>
            </a:extLst>
          </p:cNvPr>
          <p:cNvCxnSpPr>
            <a:cxnSpLocks/>
          </p:cNvCxnSpPr>
          <p:nvPr userDrawn="1"/>
        </p:nvCxnSpPr>
        <p:spPr>
          <a:xfrm>
            <a:off x="2279372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BC7996-BC68-A067-F2E2-C2ED28DED1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7388" y="1435499"/>
            <a:ext cx="10817225" cy="4759325"/>
          </a:xfrm>
          <a:prstGeom prst="rect">
            <a:avLst/>
          </a:prstGeom>
        </p:spPr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20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latin typeface="Manrope" pitchFamily="2" charset="0"/>
              </a:defRPr>
            </a:lvl1pPr>
          </a:lstStyle>
          <a:p>
            <a:endParaRPr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BB44D0D-5D67-9D7D-4E67-82F438B6AE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26175514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D288243-0A01-F2DD-75AF-447E33F29C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131196427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</p:spTree>
    <p:extLst>
      <p:ext uri="{BB962C8B-B14F-4D97-AF65-F5344CB8AC3E}">
        <p14:creationId xmlns:p14="http://schemas.microsoft.com/office/powerpoint/2010/main" val="33386645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DB9197F-FA5B-0608-D60D-B3B004AD1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E782D-1FC7-9DB1-0691-2EDDD4B25051}"/>
              </a:ext>
            </a:extLst>
          </p:cNvPr>
          <p:cNvGrpSpPr/>
          <p:nvPr userDrawn="1"/>
        </p:nvGrpSpPr>
        <p:grpSpPr>
          <a:xfrm>
            <a:off x="4352384" y="1651000"/>
            <a:ext cx="3487233" cy="4114800"/>
            <a:chOff x="5818150" y="2778242"/>
            <a:chExt cx="5230850" cy="6172200"/>
          </a:xfrm>
        </p:grpSpPr>
        <p:sp>
          <p:nvSpPr>
            <p:cNvPr id="5" name="Rounded Rectangle 21">
              <a:extLst>
                <a:ext uri="{FF2B5EF4-FFF2-40B4-BE49-F238E27FC236}">
                  <a16:creationId xmlns:a16="http://schemas.microsoft.com/office/drawing/2014/main" id="{FF688179-6699-38DC-C97A-518BF3C60D66}"/>
                </a:ext>
              </a:extLst>
            </p:cNvPr>
            <p:cNvSpPr/>
            <p:nvPr/>
          </p:nvSpPr>
          <p:spPr>
            <a:xfrm>
              <a:off x="5818150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48072F-3248-427A-A28C-A781CD7FFC8A}"/>
                </a:ext>
              </a:extLst>
            </p:cNvPr>
            <p:cNvCxnSpPr>
              <a:cxnSpLocks/>
            </p:cNvCxnSpPr>
            <p:nvPr/>
          </p:nvCxnSpPr>
          <p:spPr>
            <a:xfrm>
              <a:off x="7176275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CA3876-F1CB-187E-AC64-FA7F8FEA2CC7}"/>
              </a:ext>
            </a:extLst>
          </p:cNvPr>
          <p:cNvGrpSpPr/>
          <p:nvPr userDrawn="1"/>
        </p:nvGrpSpPr>
        <p:grpSpPr>
          <a:xfrm>
            <a:off x="499672" y="1651000"/>
            <a:ext cx="3487233" cy="4114800"/>
            <a:chOff x="450501" y="2778242"/>
            <a:chExt cx="5230850" cy="6172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36014A6-BF25-FBDF-0A3B-8782CB5622AA}"/>
                </a:ext>
              </a:extLst>
            </p:cNvPr>
            <p:cNvCxnSpPr>
              <a:cxnSpLocks/>
            </p:cNvCxnSpPr>
            <p:nvPr/>
          </p:nvCxnSpPr>
          <p:spPr>
            <a:xfrm>
              <a:off x="1808626" y="4000500"/>
              <a:ext cx="2514600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25">
              <a:extLst>
                <a:ext uri="{FF2B5EF4-FFF2-40B4-BE49-F238E27FC236}">
                  <a16:creationId xmlns:a16="http://schemas.microsoft.com/office/drawing/2014/main" id="{B5C0BB79-6D18-BB11-9AC6-F3EAA16E9CB2}"/>
                </a:ext>
              </a:extLst>
            </p:cNvPr>
            <p:cNvSpPr/>
            <p:nvPr/>
          </p:nvSpPr>
          <p:spPr>
            <a:xfrm>
              <a:off x="450501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FDEADC-7FF9-A910-3D11-3AEDF9DD9048}"/>
              </a:ext>
            </a:extLst>
          </p:cNvPr>
          <p:cNvGrpSpPr/>
          <p:nvPr userDrawn="1"/>
        </p:nvGrpSpPr>
        <p:grpSpPr>
          <a:xfrm>
            <a:off x="8205095" y="1651000"/>
            <a:ext cx="3487233" cy="4114800"/>
            <a:chOff x="11248524" y="2778242"/>
            <a:chExt cx="5230850" cy="6172200"/>
          </a:xfrm>
        </p:grpSpPr>
        <p:sp>
          <p:nvSpPr>
            <p:cNvPr id="14" name="Rounded Rectangle 26">
              <a:extLst>
                <a:ext uri="{FF2B5EF4-FFF2-40B4-BE49-F238E27FC236}">
                  <a16:creationId xmlns:a16="http://schemas.microsoft.com/office/drawing/2014/main" id="{D4061E5D-60B4-788F-FAB4-C0A352E8E89D}"/>
                </a:ext>
              </a:extLst>
            </p:cNvPr>
            <p:cNvSpPr/>
            <p:nvPr/>
          </p:nvSpPr>
          <p:spPr>
            <a:xfrm>
              <a:off x="11248524" y="2778242"/>
              <a:ext cx="5230850" cy="61722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0098D4-9702-ECF5-6BD6-6AAE4F138D0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604" y="4000500"/>
              <a:ext cx="3606691" cy="0"/>
            </a:xfrm>
            <a:prstGeom prst="line">
              <a:avLst/>
            </a:prstGeom>
            <a:ln w="25400">
              <a:solidFill>
                <a:srgbClr val="FCC02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2A128B1-851F-2AD5-4470-1ED0EE08D3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1" y="2970351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C21205E-A882-CBD4-AC0F-72122FDEAD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2134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1C57917-FAAF-B2C4-858B-92BBBA7DB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4845" y="2895600"/>
            <a:ext cx="2607733" cy="1625600"/>
          </a:xfrm>
          <a:prstGeom prst="rect">
            <a:avLst/>
          </a:prstGeom>
        </p:spPr>
        <p:txBody>
          <a:bodyPr anchor="t"/>
          <a:lstStyle>
            <a:lvl1pPr marL="190510" indent="-190510">
              <a:buFont typeface="Arial" panose="020B0604020202020204" pitchFamily="34" charset="0"/>
              <a:buChar char="•"/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7601BF5-8222-7607-0E47-FF0AB4D1ED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9422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EB27ACFF-68B7-6F2B-0E50-446FEF2409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2134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CA61022-4DF4-AA3E-6C01-3DBFC2E56E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44845" y="1814221"/>
            <a:ext cx="2607733" cy="48653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600" b="1" i="0">
                <a:solidFill>
                  <a:srgbClr val="056BFC"/>
                </a:solidFill>
                <a:latin typeface="Manrope SemiBold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08359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009651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B9C7FD6C-734C-9F34-93E6-6F132430C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12834" y="228600"/>
            <a:ext cx="9479494" cy="685800"/>
          </a:xfrm>
          <a:prstGeom prst="rect">
            <a:avLst/>
          </a:prstGeom>
        </p:spPr>
        <p:txBody>
          <a:bodyPr anchor="ctr"/>
          <a:lstStyle>
            <a:lvl1pPr>
              <a:defRPr sz="2667" b="1" i="0">
                <a:solidFill>
                  <a:srgbClr val="0253D2"/>
                </a:solidFill>
                <a:latin typeface="Manrope SemiBold" pitchFamily="2" charset="0"/>
              </a:defRPr>
            </a:lvl1pPr>
          </a:lstStyle>
          <a:p>
            <a:pPr lvl="0"/>
            <a:r>
              <a:rPr lang="en-US"/>
              <a:t>ValueMomentum Titles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C7F12-5B35-086A-ACFD-E62AA234B029}"/>
              </a:ext>
            </a:extLst>
          </p:cNvPr>
          <p:cNvGrpSpPr/>
          <p:nvPr userDrawn="1"/>
        </p:nvGrpSpPr>
        <p:grpSpPr>
          <a:xfrm>
            <a:off x="1091783" y="2081351"/>
            <a:ext cx="4173928" cy="3403600"/>
            <a:chOff x="749508" y="2476500"/>
            <a:chExt cx="6260892" cy="51054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6B833B-BC71-0557-D2FC-526DC7666856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492306-2EF1-A469-4545-7D62A1125FD4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44132AB-3514-CB34-86E0-7EE530FA1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7614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6BDC89-EBA8-5A97-ACF2-2352F48CF411}"/>
              </a:ext>
            </a:extLst>
          </p:cNvPr>
          <p:cNvGrpSpPr/>
          <p:nvPr userDrawn="1"/>
        </p:nvGrpSpPr>
        <p:grpSpPr>
          <a:xfrm>
            <a:off x="6710458" y="2081351"/>
            <a:ext cx="4173928" cy="3403600"/>
            <a:chOff x="749508" y="2476500"/>
            <a:chExt cx="6260892" cy="5105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3DA1B0B-0E06-716D-59B0-0FE9A131B00F}"/>
                </a:ext>
              </a:extLst>
            </p:cNvPr>
            <p:cNvSpPr/>
            <p:nvPr/>
          </p:nvSpPr>
          <p:spPr>
            <a:xfrm>
              <a:off x="749508" y="3354974"/>
              <a:ext cx="6260892" cy="33484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485E1A-0CF7-126C-A28C-5B54FD5D6155}"/>
                </a:ext>
              </a:extLst>
            </p:cNvPr>
            <p:cNvSpPr/>
            <p:nvPr/>
          </p:nvSpPr>
          <p:spPr>
            <a:xfrm>
              <a:off x="749508" y="2476500"/>
              <a:ext cx="6260892" cy="5105400"/>
            </a:xfrm>
            <a:prstGeom prst="rect">
              <a:avLst/>
            </a:prstGeom>
            <a:noFill/>
            <a:ln w="50800">
              <a:gradFill>
                <a:gsLst>
                  <a:gs pos="0">
                    <a:srgbClr val="056BFC"/>
                  </a:gs>
                  <a:gs pos="100000">
                    <a:srgbClr val="62B849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</p:grp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B83EFEA-AD3F-F60D-C47E-149587D2FC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26289" y="2970351"/>
            <a:ext cx="3742267" cy="1625600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Manrope" pitchFamily="2" charset="0"/>
              </a:defRPr>
            </a:lvl1pPr>
            <a:lvl2pPr>
              <a:defRPr>
                <a:latin typeface="Manrope" pitchFamily="2" charset="0"/>
              </a:defRPr>
            </a:lvl2pPr>
            <a:lvl3pPr>
              <a:defRPr>
                <a:latin typeface="Manrope" pitchFamily="2" charset="0"/>
              </a:defRPr>
            </a:lvl3pPr>
            <a:lvl4pPr>
              <a:defRPr>
                <a:latin typeface="Manrope" pitchFamily="2" charset="0"/>
              </a:defRPr>
            </a:lvl4pPr>
            <a:lvl5pPr>
              <a:defRPr>
                <a:latin typeface="Manrope" pitchFamily="2" charset="0"/>
              </a:defRPr>
            </a:lvl5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664166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6D08E7-167E-3FC1-1AB5-CBF02F55E0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5385" y="184317"/>
            <a:ext cx="1577261" cy="78194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357158-EBAF-931D-BEE2-E46B8BF81281}"/>
              </a:ext>
            </a:extLst>
          </p:cNvPr>
          <p:cNvSpPr/>
          <p:nvPr userDrawn="1"/>
        </p:nvSpPr>
        <p:spPr>
          <a:xfrm>
            <a:off x="1" y="1"/>
            <a:ext cx="12193567" cy="1139687"/>
          </a:xfrm>
          <a:prstGeom prst="rect">
            <a:avLst/>
          </a:prstGeom>
          <a:gradFill flip="none" rotWithShape="1">
            <a:gsLst>
              <a:gs pos="25000">
                <a:srgbClr val="2C3B73"/>
              </a:gs>
              <a:gs pos="76000">
                <a:srgbClr val="365ABC"/>
              </a:gs>
              <a:gs pos="100000">
                <a:srgbClr val="365ABC"/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76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9D85E2-CADA-EE70-25BB-29A2258E240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709888" y="295812"/>
            <a:ext cx="9057196" cy="58505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  <a:latin typeface="Abadi" panose="020B0604020104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699569-2733-47F3-E669-4C2125B1C0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250" y="181875"/>
            <a:ext cx="1556588" cy="77158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A0F318-0638-DEE9-370D-DEB3C22AD7D8}"/>
              </a:ext>
            </a:extLst>
          </p:cNvPr>
          <p:cNvCxnSpPr>
            <a:cxnSpLocks/>
          </p:cNvCxnSpPr>
          <p:nvPr userDrawn="1"/>
        </p:nvCxnSpPr>
        <p:spPr>
          <a:xfrm>
            <a:off x="2279665" y="243966"/>
            <a:ext cx="0" cy="64740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59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9">
          <p15:clr>
            <a:srgbClr val="FBAE40"/>
          </p15:clr>
        </p15:guide>
        <p15:guide id="2" pos="389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le 1">
            <a:extLst>
              <a:ext uri="{FF2B5EF4-FFF2-40B4-BE49-F238E27FC236}">
                <a16:creationId xmlns:a16="http://schemas.microsoft.com/office/drawing/2014/main" id="{BBEE2A22-0536-8F58-62D1-216EAF4E78C8}"/>
              </a:ext>
            </a:extLst>
          </p:cNvPr>
          <p:cNvSpPr/>
          <p:nvPr userDrawn="1"/>
        </p:nvSpPr>
        <p:spPr>
          <a:xfrm>
            <a:off x="5283200" y="0"/>
            <a:ext cx="6908800" cy="689025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FFC7315-D863-4111-E6AD-9AD1B1CAB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0217" y="3643442"/>
            <a:ext cx="2572255" cy="11495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F366B0-6423-7B2F-9057-3114074012A3}"/>
              </a:ext>
            </a:extLst>
          </p:cNvPr>
          <p:cNvSpPr txBox="1"/>
          <p:nvPr userDrawn="1"/>
        </p:nvSpPr>
        <p:spPr>
          <a:xfrm>
            <a:off x="800100" y="3352183"/>
            <a:ext cx="3374672" cy="9131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sz="5334" b="0" i="0">
                <a:solidFill>
                  <a:srgbClr val="056BFC"/>
                </a:solidFill>
                <a:latin typeface="Manrope Medium" pitchFamily="2" charset="0"/>
              </a:rPr>
              <a:t>Thank You</a:t>
            </a:r>
          </a:p>
        </p:txBody>
      </p:sp>
      <p:pic>
        <p:nvPicPr>
          <p:cNvPr id="5" name="Graphic 6">
            <a:extLst>
              <a:ext uri="{FF2B5EF4-FFF2-40B4-BE49-F238E27FC236}">
                <a16:creationId xmlns:a16="http://schemas.microsoft.com/office/drawing/2014/main" id="{3CB82A78-D346-5C0B-2A67-4FBBD76F15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5432" y="2163122"/>
            <a:ext cx="2229922" cy="876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1C3A7F-2045-D582-7F03-5127F7F1E425}"/>
              </a:ext>
            </a:extLst>
          </p:cNvPr>
          <p:cNvSpPr txBox="1"/>
          <p:nvPr userDrawn="1"/>
        </p:nvSpPr>
        <p:spPr>
          <a:xfrm>
            <a:off x="929409" y="4392897"/>
            <a:ext cx="2786981" cy="338554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sz="1600">
                <a:latin typeface="Manrope SemiBold" pitchFamily="2" charset="0"/>
                <a:hlinkClick r:id="rId5"/>
              </a:rPr>
              <a:t>www.valuemomentum.com</a:t>
            </a:r>
            <a:r>
              <a:rPr lang="en-US" sz="1600">
                <a:latin typeface="Manrope SemiBold" pitchFamily="2" charset="0"/>
              </a:rPr>
              <a:t> </a:t>
            </a:r>
          </a:p>
        </p:txBody>
      </p:sp>
      <p:pic>
        <p:nvPicPr>
          <p:cNvPr id="7" name="Graphic 6">
            <a:hlinkClick r:id="rId6"/>
            <a:extLst>
              <a:ext uri="{FF2B5EF4-FFF2-40B4-BE49-F238E27FC236}">
                <a16:creationId xmlns:a16="http://schemas.microsoft.com/office/drawing/2014/main" id="{43FF6DF3-EB03-6409-3D07-627A51428D1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871201" y="5480164"/>
            <a:ext cx="476707" cy="473397"/>
          </a:xfrm>
          <a:prstGeom prst="rect">
            <a:avLst/>
          </a:prstGeom>
        </p:spPr>
      </p:pic>
      <p:pic>
        <p:nvPicPr>
          <p:cNvPr id="8" name="Graphic 7">
            <a:hlinkClick r:id="rId9"/>
            <a:extLst>
              <a:ext uri="{FF2B5EF4-FFF2-40B4-BE49-F238E27FC236}">
                <a16:creationId xmlns:a16="http://schemas.microsoft.com/office/drawing/2014/main" id="{B19C9212-8F0B-3FDC-883E-70E63F375E5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504782" y="5479473"/>
            <a:ext cx="476708" cy="475052"/>
          </a:xfrm>
          <a:prstGeom prst="rect">
            <a:avLst/>
          </a:prstGeom>
        </p:spPr>
      </p:pic>
      <p:pic>
        <p:nvPicPr>
          <p:cNvPr id="9" name="Graphic 8">
            <a:hlinkClick r:id="rId12"/>
            <a:extLst>
              <a:ext uri="{FF2B5EF4-FFF2-40B4-BE49-F238E27FC236}">
                <a16:creationId xmlns:a16="http://schemas.microsoft.com/office/drawing/2014/main" id="{441118B8-A357-446C-498F-98EB638433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87992" y="5478783"/>
            <a:ext cx="476707" cy="47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8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tags" Target="../tags/tag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oleObject" Target="../embeddings/oleObject3.bin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image" Target="../media/image10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10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29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28.xml"/><Relationship Id="rId9" Type="http://schemas.openxmlformats.org/officeDocument/2006/relationships/tags" Target="../tags/tag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oleObject" Target="../embeddings/oleObject5.bin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tags" Target="../tags/tag5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theme" Target="../theme/theme5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oleObject" Target="../embeddings/oleObject6.bin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8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oleObject" Target="../embeddings/oleObject7.bin"/><Relationship Id="rId5" Type="http://schemas.openxmlformats.org/officeDocument/2006/relationships/slideLayout" Target="../slideLayouts/slideLayout68.xml"/><Relationship Id="rId10" Type="http://schemas.openxmlformats.org/officeDocument/2006/relationships/tags" Target="../tags/tag7.xml"/><Relationship Id="rId4" Type="http://schemas.openxmlformats.org/officeDocument/2006/relationships/slideLayout" Target="../slideLayouts/slideLayout67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95E12D6-A5AB-3B58-CF36-CB66C5853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4210743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5" imgH="405" progId="TCLayout.ActiveDocument.1">
                  <p:embed/>
                </p:oleObj>
              </mc:Choice>
              <mc:Fallback>
                <p:oleObj name="think-cell Slide" r:id="rId15" imgW="405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5E12D6-A5AB-3B58-CF36-CB66C5853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47B44-5FC4-F70D-1E06-BF973E6D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AFD76-ACD0-209B-C748-A365D99C5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02E06-7C71-7BCF-9CC8-F6058970D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B8BB6-33E4-42BA-9902-70DCB29FE30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9C17D-6C7C-2562-CD86-D8283D410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63411-3438-F739-3B90-12278DC99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8330E-1F06-43F3-81A0-FC3E8B185F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7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AE2B073-9376-6B42-2D09-59DDB076EA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0507226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05" imgH="405" progId="TCLayout.ActiveDocument.1">
                  <p:embed/>
                </p:oleObj>
              </mc:Choice>
              <mc:Fallback>
                <p:oleObj name="think-cell Slide" r:id="rId6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AE2B073-9376-6B42-2D09-59DDB076E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07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809A7B-498B-F3E9-933F-07C9D43D2285}"/>
              </a:ext>
            </a:extLst>
          </p:cNvPr>
          <p:cNvSpPr txBox="1"/>
          <p:nvPr userDrawn="1"/>
        </p:nvSpPr>
        <p:spPr>
          <a:xfrm>
            <a:off x="9860733" y="6572252"/>
            <a:ext cx="222689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r"/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Let’s insure the future. Together.</a:t>
            </a:r>
          </a:p>
        </p:txBody>
      </p:sp>
    </p:spTree>
    <p:extLst>
      <p:ext uri="{BB962C8B-B14F-4D97-AF65-F5344CB8AC3E}">
        <p14:creationId xmlns:p14="http://schemas.microsoft.com/office/powerpoint/2010/main" val="2366339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8" r:id="rId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FE9184-ECC5-1CD1-F6AC-B95A8684EA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2745637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5" imgH="405" progId="TCLayout.ActiveDocument.1">
                  <p:embed/>
                </p:oleObj>
              </mc:Choice>
              <mc:Fallback>
                <p:oleObj name="think-cell Slide" r:id="rId12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FE9184-ECC5-1CD1-F6AC-B95A8684EA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670924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5410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9F718F5-00ED-C606-57B4-D79F22A96C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166221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05" imgH="405" progId="TCLayout.ActiveDocument.1">
                  <p:embed/>
                </p:oleObj>
              </mc:Choice>
              <mc:Fallback>
                <p:oleObj name="think-cell Slide" r:id="rId10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F718F5-00ED-C606-57B4-D79F22A96C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2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995E386-697C-B5B7-0462-D9B581B6EB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550493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05" imgH="405" progId="TCLayout.ActiveDocument.1">
                  <p:embed/>
                </p:oleObj>
              </mc:Choice>
              <mc:Fallback>
                <p:oleObj name="think-cell Slide" r:id="rId25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95E386-697C-B5B7-0462-D9B581B6EB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27" cstate="print"/>
          <a:stretch>
            <a:fillRect/>
          </a:stretch>
        </p:blipFill>
        <p:spPr>
          <a:xfrm>
            <a:off x="378708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56659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64A2645-BF37-C334-AE97-9176308835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127932918"/>
              </p:ext>
            </p:extLst>
          </p:nvPr>
        </p:nvGraphicFramePr>
        <p:xfrm>
          <a:off x="1569" y="1567"/>
          <a:ext cx="1568" cy="1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05" imgH="405" progId="TCLayout.ActiveDocument.1">
                  <p:embed/>
                </p:oleObj>
              </mc:Choice>
              <mc:Fallback>
                <p:oleObj name="think-cell Slide" r:id="rId13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4A2645-BF37-C334-AE97-9176308835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69" y="1567"/>
                        <a:ext cx="1568" cy="1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5" cstate="print"/>
          <a:stretch>
            <a:fillRect/>
          </a:stretch>
        </p:blipFill>
        <p:spPr>
          <a:xfrm>
            <a:off x="378708" y="342902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51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8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7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8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3"/>
            <a:ext cx="2670924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49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9881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347">
        <a:defRPr>
          <a:latin typeface="+mn-lt"/>
          <a:ea typeface="+mn-ea"/>
          <a:cs typeface="+mn-cs"/>
        </a:defRPr>
      </a:lvl2pPr>
      <a:lvl3pPr marL="684693">
        <a:defRPr>
          <a:latin typeface="+mn-lt"/>
          <a:ea typeface="+mn-ea"/>
          <a:cs typeface="+mn-cs"/>
        </a:defRPr>
      </a:lvl3pPr>
      <a:lvl4pPr marL="1027040">
        <a:defRPr>
          <a:latin typeface="+mn-lt"/>
          <a:ea typeface="+mn-ea"/>
          <a:cs typeface="+mn-cs"/>
        </a:defRPr>
      </a:lvl4pPr>
      <a:lvl5pPr marL="1369386">
        <a:defRPr>
          <a:latin typeface="+mn-lt"/>
          <a:ea typeface="+mn-ea"/>
          <a:cs typeface="+mn-cs"/>
        </a:defRPr>
      </a:lvl5pPr>
      <a:lvl6pPr marL="1711732">
        <a:defRPr>
          <a:latin typeface="+mn-lt"/>
          <a:ea typeface="+mn-ea"/>
          <a:cs typeface="+mn-cs"/>
        </a:defRPr>
      </a:lvl6pPr>
      <a:lvl7pPr marL="2054078">
        <a:defRPr>
          <a:latin typeface="+mn-lt"/>
          <a:ea typeface="+mn-ea"/>
          <a:cs typeface="+mn-cs"/>
        </a:defRPr>
      </a:lvl7pPr>
      <a:lvl8pPr marL="2396425">
        <a:defRPr>
          <a:latin typeface="+mn-lt"/>
          <a:ea typeface="+mn-ea"/>
          <a:cs typeface="+mn-cs"/>
        </a:defRPr>
      </a:lvl8pPr>
      <a:lvl9pPr marL="273877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347">
        <a:defRPr>
          <a:latin typeface="+mn-lt"/>
          <a:ea typeface="+mn-ea"/>
          <a:cs typeface="+mn-cs"/>
        </a:defRPr>
      </a:lvl2pPr>
      <a:lvl3pPr marL="684693">
        <a:defRPr>
          <a:latin typeface="+mn-lt"/>
          <a:ea typeface="+mn-ea"/>
          <a:cs typeface="+mn-cs"/>
        </a:defRPr>
      </a:lvl3pPr>
      <a:lvl4pPr marL="1027040">
        <a:defRPr>
          <a:latin typeface="+mn-lt"/>
          <a:ea typeface="+mn-ea"/>
          <a:cs typeface="+mn-cs"/>
        </a:defRPr>
      </a:lvl4pPr>
      <a:lvl5pPr marL="1369386">
        <a:defRPr>
          <a:latin typeface="+mn-lt"/>
          <a:ea typeface="+mn-ea"/>
          <a:cs typeface="+mn-cs"/>
        </a:defRPr>
      </a:lvl5pPr>
      <a:lvl6pPr marL="1711732">
        <a:defRPr>
          <a:latin typeface="+mn-lt"/>
          <a:ea typeface="+mn-ea"/>
          <a:cs typeface="+mn-cs"/>
        </a:defRPr>
      </a:lvl6pPr>
      <a:lvl7pPr marL="2054078">
        <a:defRPr>
          <a:latin typeface="+mn-lt"/>
          <a:ea typeface="+mn-ea"/>
          <a:cs typeface="+mn-cs"/>
        </a:defRPr>
      </a:lvl7pPr>
      <a:lvl8pPr marL="2396425">
        <a:defRPr>
          <a:latin typeface="+mn-lt"/>
          <a:ea typeface="+mn-ea"/>
          <a:cs typeface="+mn-cs"/>
        </a:defRPr>
      </a:lvl8pPr>
      <a:lvl9pPr marL="2738771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F736AE4-F686-710F-DE52-A535F8A1F6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8886575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05" imgH="405" progId="TCLayout.ActiveDocument.1">
                  <p:embed/>
                </p:oleObj>
              </mc:Choice>
              <mc:Fallback>
                <p:oleObj name="think-cell Slide" r:id="rId11" imgW="405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736AE4-F686-710F-DE52-A535F8A1F6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object 3">
            <a:extLst>
              <a:ext uri="{FF2B5EF4-FFF2-40B4-BE49-F238E27FC236}">
                <a16:creationId xmlns:a16="http://schemas.microsoft.com/office/drawing/2014/main" id="{A6EF30AF-F5AF-3EB9-FB74-9314C9D77F23}"/>
              </a:ext>
            </a:extLst>
          </p:cNvPr>
          <p:cNvPicPr/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707" y="342901"/>
            <a:ext cx="1235905" cy="485775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96BB49B4-23F3-5E3D-6FC0-3DCDC4115B0F}"/>
              </a:ext>
            </a:extLst>
          </p:cNvPr>
          <p:cNvSpPr/>
          <p:nvPr userDrawn="1"/>
        </p:nvSpPr>
        <p:spPr>
          <a:xfrm>
            <a:off x="0" y="104774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6268700" h="12700">
                <a:moveTo>
                  <a:pt x="16268700" y="0"/>
                </a:moveTo>
                <a:lnTo>
                  <a:pt x="0" y="0"/>
                </a:lnTo>
                <a:lnTo>
                  <a:pt x="0" y="6350"/>
                </a:lnTo>
                <a:lnTo>
                  <a:pt x="0" y="12700"/>
                </a:lnTo>
                <a:lnTo>
                  <a:pt x="16268700" y="12700"/>
                </a:lnTo>
                <a:lnTo>
                  <a:pt x="16268700" y="6350"/>
                </a:lnTo>
                <a:lnTo>
                  <a:pt x="1626870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 sz="1349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C342F0-D3E4-8B9C-B58A-E886CB0C16B6}"/>
              </a:ext>
            </a:extLst>
          </p:cNvPr>
          <p:cNvCxnSpPr/>
          <p:nvPr userDrawn="1"/>
        </p:nvCxnSpPr>
        <p:spPr>
          <a:xfrm>
            <a:off x="1927307" y="227708"/>
            <a:ext cx="0" cy="685800"/>
          </a:xfrm>
          <a:prstGeom prst="line">
            <a:avLst/>
          </a:prstGeom>
          <a:ln w="38100">
            <a:solidFill>
              <a:srgbClr val="0253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33BD163-1B8C-25B8-F14A-3A5B80A42D19}"/>
              </a:ext>
            </a:extLst>
          </p:cNvPr>
          <p:cNvSpPr/>
          <p:nvPr userDrawn="1"/>
        </p:nvSpPr>
        <p:spPr>
          <a:xfrm>
            <a:off x="0" y="6505576"/>
            <a:ext cx="12192000" cy="352425"/>
          </a:xfrm>
          <a:prstGeom prst="rect">
            <a:avLst/>
          </a:prstGeom>
          <a:solidFill>
            <a:srgbClr val="0253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9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2FC8D0-78A2-B1D8-5108-DF687F903BEC}"/>
              </a:ext>
            </a:extLst>
          </p:cNvPr>
          <p:cNvSpPr txBox="1"/>
          <p:nvPr userDrawn="1"/>
        </p:nvSpPr>
        <p:spPr>
          <a:xfrm>
            <a:off x="104375" y="6572252"/>
            <a:ext cx="2890535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050" b="0" i="0">
                <a:ln>
                  <a:noFill/>
                </a:ln>
                <a:solidFill>
                  <a:schemeClr val="bg1"/>
                </a:solidFill>
                <a:latin typeface="Manrope Light" pitchFamily="2" charset="0"/>
              </a:rPr>
              <a:t>2025 © ValueMomentum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9827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643">
        <a:defRPr>
          <a:latin typeface="+mn-lt"/>
          <a:ea typeface="+mn-ea"/>
          <a:cs typeface="+mn-cs"/>
        </a:defRPr>
      </a:lvl2pPr>
      <a:lvl3pPr marL="685286">
        <a:defRPr>
          <a:latin typeface="+mn-lt"/>
          <a:ea typeface="+mn-ea"/>
          <a:cs typeface="+mn-cs"/>
        </a:defRPr>
      </a:lvl3pPr>
      <a:lvl4pPr marL="1027929">
        <a:defRPr>
          <a:latin typeface="+mn-lt"/>
          <a:ea typeface="+mn-ea"/>
          <a:cs typeface="+mn-cs"/>
        </a:defRPr>
      </a:lvl4pPr>
      <a:lvl5pPr marL="1370572">
        <a:defRPr>
          <a:latin typeface="+mn-lt"/>
          <a:ea typeface="+mn-ea"/>
          <a:cs typeface="+mn-cs"/>
        </a:defRPr>
      </a:lvl5pPr>
      <a:lvl6pPr marL="1713214">
        <a:defRPr>
          <a:latin typeface="+mn-lt"/>
          <a:ea typeface="+mn-ea"/>
          <a:cs typeface="+mn-cs"/>
        </a:defRPr>
      </a:lvl6pPr>
      <a:lvl7pPr marL="2055857">
        <a:defRPr>
          <a:latin typeface="+mn-lt"/>
          <a:ea typeface="+mn-ea"/>
          <a:cs typeface="+mn-cs"/>
        </a:defRPr>
      </a:lvl7pPr>
      <a:lvl8pPr marL="2398500">
        <a:defRPr>
          <a:latin typeface="+mn-lt"/>
          <a:ea typeface="+mn-ea"/>
          <a:cs typeface="+mn-cs"/>
        </a:defRPr>
      </a:lvl8pPr>
      <a:lvl9pPr marL="274114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5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svg"/><Relationship Id="rId5" Type="http://schemas.openxmlformats.org/officeDocument/2006/relationships/image" Target="../media/image3.png"/><Relationship Id="rId4" Type="http://schemas.openxmlformats.org/officeDocument/2006/relationships/image" Target="../media/image5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64.png"/><Relationship Id="rId5" Type="http://schemas.openxmlformats.org/officeDocument/2006/relationships/image" Target="../media/image63.jpeg"/><Relationship Id="rId4" Type="http://schemas.openxmlformats.org/officeDocument/2006/relationships/image" Target="../media/image6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angle 1">
            <a:extLst>
              <a:ext uri="{FF2B5EF4-FFF2-40B4-BE49-F238E27FC236}">
                <a16:creationId xmlns:a16="http://schemas.microsoft.com/office/drawing/2014/main" id="{597BB60D-A572-24F9-8052-6E986F6F67FD}"/>
              </a:ext>
            </a:extLst>
          </p:cNvPr>
          <p:cNvSpPr/>
          <p:nvPr/>
        </p:nvSpPr>
        <p:spPr>
          <a:xfrm>
            <a:off x="5283200" y="0"/>
            <a:ext cx="6908800" cy="6890250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056B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D646DF-4758-EF20-ABDA-50A9CB81E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0" y="5156200"/>
            <a:ext cx="2572255" cy="11495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EF6F14A-269B-DFEA-C2FE-78C6F42166FE}"/>
              </a:ext>
            </a:extLst>
          </p:cNvPr>
          <p:cNvGrpSpPr/>
          <p:nvPr/>
        </p:nvGrpSpPr>
        <p:grpSpPr>
          <a:xfrm>
            <a:off x="7782915" y="2359948"/>
            <a:ext cx="4409085" cy="4530301"/>
            <a:chOff x="11674372" y="3539922"/>
            <a:chExt cx="6613628" cy="6795452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F1693E4-E2EB-3725-10FF-83A9603A6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r="20734" b="1865"/>
            <a:stretch>
              <a:fillRect/>
            </a:stretch>
          </p:blipFill>
          <p:spPr>
            <a:xfrm>
              <a:off x="11674372" y="3539922"/>
              <a:ext cx="6613628" cy="6795452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6B4296A-AB21-CEB1-1ED1-6E3632954A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716000" y="7886700"/>
              <a:ext cx="4113162" cy="1828800"/>
            </a:xfrm>
            <a:prstGeom prst="rect">
              <a:avLst/>
            </a:prstGeom>
          </p:spPr>
        </p:pic>
      </p:grpSp>
      <p:sp>
        <p:nvSpPr>
          <p:cNvPr id="2" name="Triangle 1">
            <a:extLst>
              <a:ext uri="{FF2B5EF4-FFF2-40B4-BE49-F238E27FC236}">
                <a16:creationId xmlns:a16="http://schemas.microsoft.com/office/drawing/2014/main" id="{7E9A40D7-23A0-760D-1E78-AB54820A047E}"/>
              </a:ext>
            </a:extLst>
          </p:cNvPr>
          <p:cNvSpPr/>
          <p:nvPr/>
        </p:nvSpPr>
        <p:spPr>
          <a:xfrm>
            <a:off x="11064876" y="5820024"/>
            <a:ext cx="1127125" cy="1070226"/>
          </a:xfrm>
          <a:custGeom>
            <a:avLst/>
            <a:gdLst>
              <a:gd name="connsiteX0" fmla="*/ 0 w 3886200"/>
              <a:gd name="connsiteY0" fmla="*/ 2667000 h 2667000"/>
              <a:gd name="connsiteX1" fmla="*/ 1943100 w 3886200"/>
              <a:gd name="connsiteY1" fmla="*/ 0 h 2667000"/>
              <a:gd name="connsiteX2" fmla="*/ 3886200 w 3886200"/>
              <a:gd name="connsiteY2" fmla="*/ 2667000 h 2667000"/>
              <a:gd name="connsiteX3" fmla="*/ 0 w 3886200"/>
              <a:gd name="connsiteY3" fmla="*/ 2667000 h 2667000"/>
              <a:gd name="connsiteX0" fmla="*/ 0 w 3886200"/>
              <a:gd name="connsiteY0" fmla="*/ 4463143 h 4463143"/>
              <a:gd name="connsiteX1" fmla="*/ 3886200 w 3886200"/>
              <a:gd name="connsiteY1" fmla="*/ 0 h 4463143"/>
              <a:gd name="connsiteX2" fmla="*/ 3886200 w 3886200"/>
              <a:gd name="connsiteY2" fmla="*/ 4463143 h 4463143"/>
              <a:gd name="connsiteX3" fmla="*/ 0 w 3886200"/>
              <a:gd name="connsiteY3" fmla="*/ 4463143 h 4463143"/>
              <a:gd name="connsiteX0" fmla="*/ 0 w 3886200"/>
              <a:gd name="connsiteY0" fmla="*/ 3679371 h 3679371"/>
              <a:gd name="connsiteX1" fmla="*/ 3788229 w 3886200"/>
              <a:gd name="connsiteY1" fmla="*/ 0 h 3679371"/>
              <a:gd name="connsiteX2" fmla="*/ 3886200 w 3886200"/>
              <a:gd name="connsiteY2" fmla="*/ 3679371 h 3679371"/>
              <a:gd name="connsiteX3" fmla="*/ 0 w 3886200"/>
              <a:gd name="connsiteY3" fmla="*/ 3679371 h 3679371"/>
              <a:gd name="connsiteX0" fmla="*/ 0 w 3886201"/>
              <a:gd name="connsiteY0" fmla="*/ 3940629 h 3940629"/>
              <a:gd name="connsiteX1" fmla="*/ 3886201 w 3886201"/>
              <a:gd name="connsiteY1" fmla="*/ 0 h 3940629"/>
              <a:gd name="connsiteX2" fmla="*/ 3886200 w 3886201"/>
              <a:gd name="connsiteY2" fmla="*/ 3940629 h 3940629"/>
              <a:gd name="connsiteX3" fmla="*/ 0 w 3886201"/>
              <a:gd name="connsiteY3" fmla="*/ 3940629 h 3940629"/>
              <a:gd name="connsiteX0" fmla="*/ 0 w 3896833"/>
              <a:gd name="connsiteY0" fmla="*/ 3759875 h 3759875"/>
              <a:gd name="connsiteX1" fmla="*/ 3896833 w 3896833"/>
              <a:gd name="connsiteY1" fmla="*/ 0 h 3759875"/>
              <a:gd name="connsiteX2" fmla="*/ 3886200 w 3896833"/>
              <a:gd name="connsiteY2" fmla="*/ 3759875 h 3759875"/>
              <a:gd name="connsiteX3" fmla="*/ 0 w 3896833"/>
              <a:gd name="connsiteY3" fmla="*/ 3759875 h 3759875"/>
              <a:gd name="connsiteX0" fmla="*/ 0 w 3918099"/>
              <a:gd name="connsiteY0" fmla="*/ 3908731 h 3908731"/>
              <a:gd name="connsiteX1" fmla="*/ 3918099 w 3918099"/>
              <a:gd name="connsiteY1" fmla="*/ 0 h 3908731"/>
              <a:gd name="connsiteX2" fmla="*/ 3886200 w 3918099"/>
              <a:gd name="connsiteY2" fmla="*/ 3908731 h 3908731"/>
              <a:gd name="connsiteX3" fmla="*/ 0 w 3918099"/>
              <a:gd name="connsiteY3" fmla="*/ 3908731 h 3908731"/>
              <a:gd name="connsiteX0" fmla="*/ 0 w 3939364"/>
              <a:gd name="connsiteY0" fmla="*/ 3940628 h 3940628"/>
              <a:gd name="connsiteX1" fmla="*/ 3939364 w 3939364"/>
              <a:gd name="connsiteY1" fmla="*/ 0 h 3940628"/>
              <a:gd name="connsiteX2" fmla="*/ 3886200 w 3939364"/>
              <a:gd name="connsiteY2" fmla="*/ 3940628 h 3940628"/>
              <a:gd name="connsiteX3" fmla="*/ 0 w 3939364"/>
              <a:gd name="connsiteY3" fmla="*/ 3940628 h 3940628"/>
              <a:gd name="connsiteX0" fmla="*/ 0 w 3896834"/>
              <a:gd name="connsiteY0" fmla="*/ 3898098 h 3898098"/>
              <a:gd name="connsiteX1" fmla="*/ 3896834 w 3896834"/>
              <a:gd name="connsiteY1" fmla="*/ 0 h 3898098"/>
              <a:gd name="connsiteX2" fmla="*/ 3886200 w 3896834"/>
              <a:gd name="connsiteY2" fmla="*/ 3898098 h 3898098"/>
              <a:gd name="connsiteX3" fmla="*/ 0 w 3896834"/>
              <a:gd name="connsiteY3" fmla="*/ 3898098 h 3898098"/>
              <a:gd name="connsiteX0" fmla="*/ 0 w 3906363"/>
              <a:gd name="connsiteY0" fmla="*/ 3898098 h 3904815"/>
              <a:gd name="connsiteX1" fmla="*/ 3896834 w 3906363"/>
              <a:gd name="connsiteY1" fmla="*/ 0 h 3904815"/>
              <a:gd name="connsiteX2" fmla="*/ 3906363 w 3906363"/>
              <a:gd name="connsiteY2" fmla="*/ 3904815 h 3904815"/>
              <a:gd name="connsiteX3" fmla="*/ 0 w 3906363"/>
              <a:gd name="connsiteY3" fmla="*/ 3898098 h 3904815"/>
              <a:gd name="connsiteX0" fmla="*/ 0 w 3906363"/>
              <a:gd name="connsiteY0" fmla="*/ 3912684 h 3919401"/>
              <a:gd name="connsiteX1" fmla="*/ 3904110 w 3906363"/>
              <a:gd name="connsiteY1" fmla="*/ 0 h 3919401"/>
              <a:gd name="connsiteX2" fmla="*/ 3906363 w 3906363"/>
              <a:gd name="connsiteY2" fmla="*/ 3919401 h 3919401"/>
              <a:gd name="connsiteX3" fmla="*/ 0 w 3906363"/>
              <a:gd name="connsiteY3" fmla="*/ 3912684 h 3919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06363" h="3919401">
                <a:moveTo>
                  <a:pt x="0" y="3912684"/>
                </a:moveTo>
                <a:lnTo>
                  <a:pt x="3904110" y="0"/>
                </a:lnTo>
                <a:cubicBezTo>
                  <a:pt x="3904110" y="1313543"/>
                  <a:pt x="3906363" y="2605858"/>
                  <a:pt x="3906363" y="3919401"/>
                </a:cubicBezTo>
                <a:lnTo>
                  <a:pt x="0" y="3912684"/>
                </a:lnTo>
                <a:close/>
              </a:path>
            </a:pathLst>
          </a:custGeom>
          <a:solidFill>
            <a:srgbClr val="3FD5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652C2-0720-F0B7-0D71-E957B05D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5800" y="2111376"/>
            <a:ext cx="7972425" cy="18510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Advanced Analytics</a:t>
            </a:r>
          </a:p>
          <a:p>
            <a:r>
              <a:rPr lang="en-US" sz="4000" dirty="0">
                <a:solidFill>
                  <a:srgbClr val="3FD534"/>
                </a:solidFill>
              </a:rPr>
              <a:t>Cloud Agnostic Loss Run Parser Engine</a:t>
            </a:r>
          </a:p>
          <a:p>
            <a:r>
              <a:rPr lang="en-US" sz="3100" b="1" dirty="0">
                <a:solidFill>
                  <a:srgbClr val="FCC028"/>
                </a:solidFill>
              </a:rPr>
              <a:t>Mar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BA45-D3BB-E68B-8C2E-7FD81AF94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19193B-2919-A008-9504-40387D09CC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0176" y="228600"/>
            <a:ext cx="9479494" cy="685800"/>
          </a:xfrm>
        </p:spPr>
        <p:txBody>
          <a:bodyPr/>
          <a:lstStyle/>
          <a:p>
            <a:r>
              <a:rPr lang="en-IN" dirty="0"/>
              <a:t>Cloud Agnostic Solution Design Approach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F3370C-2F4A-55F9-1D3D-293CA895C54C}"/>
              </a:ext>
            </a:extLst>
          </p:cNvPr>
          <p:cNvSpPr/>
          <p:nvPr/>
        </p:nvSpPr>
        <p:spPr>
          <a:xfrm>
            <a:off x="912996" y="1137503"/>
            <a:ext cx="1389886" cy="738664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Upload Files </a:t>
            </a:r>
            <a:r>
              <a:rPr lang="en-IN" sz="1600" dirty="0">
                <a:solidFill>
                  <a:srgbClr val="000000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through Streamlit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 UI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DA6433-FDE5-996A-C3E5-AB243C156548}"/>
              </a:ext>
            </a:extLst>
          </p:cNvPr>
          <p:cNvCxnSpPr>
            <a:cxnSpLocks/>
          </p:cNvCxnSpPr>
          <p:nvPr/>
        </p:nvCxnSpPr>
        <p:spPr>
          <a:xfrm>
            <a:off x="1665387" y="22047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1FDA646-2D63-9B29-B89B-D4B833B044F6}"/>
              </a:ext>
            </a:extLst>
          </p:cNvPr>
          <p:cNvSpPr txBox="1"/>
          <p:nvPr/>
        </p:nvSpPr>
        <p:spPr>
          <a:xfrm>
            <a:off x="1691144" y="2827334"/>
            <a:ext cx="15113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Review layer</a:t>
            </a:r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57EECAC1-3F1C-8740-B77D-85D36ADADEA9}"/>
              </a:ext>
            </a:extLst>
          </p:cNvPr>
          <p:cNvSpPr/>
          <p:nvPr/>
        </p:nvSpPr>
        <p:spPr>
          <a:xfrm>
            <a:off x="4451966" y="5230802"/>
            <a:ext cx="1173612" cy="921157"/>
          </a:xfrm>
          <a:prstGeom prst="can">
            <a:avLst>
              <a:gd name="adj" fmla="val 120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Claims</a:t>
            </a:r>
          </a:p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Domain Model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F0578F43-7514-2602-9112-EE6A551413E5}"/>
              </a:ext>
            </a:extLst>
          </p:cNvPr>
          <p:cNvSpPr/>
          <p:nvPr/>
        </p:nvSpPr>
        <p:spPr>
          <a:xfrm>
            <a:off x="6907684" y="5238614"/>
            <a:ext cx="953485" cy="921157"/>
          </a:xfrm>
          <a:prstGeom prst="can">
            <a:avLst>
              <a:gd name="adj" fmla="val 15546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Feature Store*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7FF878-6217-2A2C-5344-F884E0C58C0F}"/>
              </a:ext>
            </a:extLst>
          </p:cNvPr>
          <p:cNvCxnSpPr>
            <a:cxnSpLocks/>
            <a:stCxn id="14" idx="4"/>
            <a:endCxn id="28" idx="2"/>
          </p:cNvCxnSpPr>
          <p:nvPr/>
        </p:nvCxnSpPr>
        <p:spPr>
          <a:xfrm>
            <a:off x="5625578" y="5691381"/>
            <a:ext cx="1282106" cy="7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A07B83-D82F-440E-3D08-398C48769EDB}"/>
              </a:ext>
            </a:extLst>
          </p:cNvPr>
          <p:cNvSpPr txBox="1"/>
          <p:nvPr/>
        </p:nvSpPr>
        <p:spPr>
          <a:xfrm>
            <a:off x="3655525" y="4670510"/>
            <a:ext cx="1885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Normalised Structure Data</a:t>
            </a:r>
          </a:p>
        </p:txBody>
      </p:sp>
      <p:pic>
        <p:nvPicPr>
          <p:cNvPr id="37" name="Picture 2" descr="Insurance with Duck Creek's SaaS ...">
            <a:extLst>
              <a:ext uri="{FF2B5EF4-FFF2-40B4-BE49-F238E27FC236}">
                <a16:creationId xmlns:a16="http://schemas.microsoft.com/office/drawing/2014/main" id="{F8F7C266-54DF-FBBA-DA34-9DBF3C631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3" b="14762"/>
          <a:stretch>
            <a:fillRect/>
          </a:stretch>
        </p:blipFill>
        <p:spPr bwMode="auto">
          <a:xfrm>
            <a:off x="1941286" y="5130592"/>
            <a:ext cx="1086537" cy="71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CFE3DBF-9C79-66D3-20C6-675DFEDC601C}"/>
              </a:ext>
            </a:extLst>
          </p:cNvPr>
          <p:cNvSpPr txBox="1"/>
          <p:nvPr/>
        </p:nvSpPr>
        <p:spPr>
          <a:xfrm>
            <a:off x="2536983" y="4954740"/>
            <a:ext cx="49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API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AFF262D-6D5B-0149-3749-27CF84AB8602}"/>
              </a:ext>
            </a:extLst>
          </p:cNvPr>
          <p:cNvSpPr/>
          <p:nvPr/>
        </p:nvSpPr>
        <p:spPr>
          <a:xfrm>
            <a:off x="3267130" y="119684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F80007F-DAAF-73AF-608E-21FB304F66FE}"/>
              </a:ext>
            </a:extLst>
          </p:cNvPr>
          <p:cNvSpPr/>
          <p:nvPr/>
        </p:nvSpPr>
        <p:spPr>
          <a:xfrm>
            <a:off x="528198" y="179073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D5BF47-A9B9-8D5F-A09F-C4300327F750}"/>
              </a:ext>
            </a:extLst>
          </p:cNvPr>
          <p:cNvSpPr/>
          <p:nvPr/>
        </p:nvSpPr>
        <p:spPr>
          <a:xfrm>
            <a:off x="5286531" y="1770310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3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341D079-4726-333C-9FFA-86C11E306089}"/>
              </a:ext>
            </a:extLst>
          </p:cNvPr>
          <p:cNvSpPr/>
          <p:nvPr/>
        </p:nvSpPr>
        <p:spPr>
          <a:xfrm>
            <a:off x="1359317" y="3702281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4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519B072-F73B-B60D-50DC-B1FB6242843C}"/>
              </a:ext>
            </a:extLst>
          </p:cNvPr>
          <p:cNvSpPr/>
          <p:nvPr/>
        </p:nvSpPr>
        <p:spPr>
          <a:xfrm>
            <a:off x="5978425" y="5108629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7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E79D7D9-C875-15FD-DC13-A9491C0E6A2C}"/>
              </a:ext>
            </a:extLst>
          </p:cNvPr>
          <p:cNvSpPr/>
          <p:nvPr/>
        </p:nvSpPr>
        <p:spPr>
          <a:xfrm>
            <a:off x="1704505" y="5062746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6</a:t>
            </a:r>
          </a:p>
        </p:txBody>
      </p:sp>
      <p:pic>
        <p:nvPicPr>
          <p:cNvPr id="15" name="Picture 2" descr="Azure AI Document Intelligence ...">
            <a:extLst>
              <a:ext uri="{FF2B5EF4-FFF2-40B4-BE49-F238E27FC236}">
                <a16:creationId xmlns:a16="http://schemas.microsoft.com/office/drawing/2014/main" id="{46A7D93E-9BF5-1515-3C2F-474897132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941" y="1890966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364BE9A-D2AF-2C24-BFD2-BA4D2D184A55}"/>
              </a:ext>
            </a:extLst>
          </p:cNvPr>
          <p:cNvSpPr/>
          <p:nvPr/>
        </p:nvSpPr>
        <p:spPr>
          <a:xfrm>
            <a:off x="8120743" y="1143294"/>
            <a:ext cx="3907971" cy="5213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50" b="1" u="sng" dirty="0"/>
              <a:t>Solution Flow:</a:t>
            </a:r>
            <a:endParaRPr lang="en-IN" sz="1150" u="sng" dirty="0"/>
          </a:p>
          <a:p>
            <a:r>
              <a:rPr lang="en-US" sz="1150" b="1" dirty="0"/>
              <a:t>1. Ingestion:</a:t>
            </a:r>
            <a:br>
              <a:rPr lang="en-US" sz="1150" dirty="0"/>
            </a:br>
            <a:r>
              <a:rPr lang="en-US" sz="1150" dirty="0"/>
              <a:t>User uploads </a:t>
            </a:r>
            <a:r>
              <a:rPr lang="en-US" sz="1150" b="1" dirty="0"/>
              <a:t>Excel or CSV Loss Run files through the Streamlit Web UI</a:t>
            </a:r>
            <a:r>
              <a:rPr lang="en-US" sz="1150" dirty="0"/>
              <a:t>, which initiates the processing workflow.</a:t>
            </a:r>
          </a:p>
          <a:p>
            <a:r>
              <a:rPr lang="en-US" sz="1150" b="1" dirty="0"/>
              <a:t>2. File Storage:</a:t>
            </a:r>
            <a:br>
              <a:rPr lang="en-US" sz="1150" dirty="0"/>
            </a:br>
            <a:r>
              <a:rPr lang="en-US" sz="1150" dirty="0"/>
              <a:t>The uploaded files are stored in the </a:t>
            </a:r>
            <a:r>
              <a:rPr lang="en-US" sz="1150" b="1" dirty="0"/>
              <a:t>Blob/File Storage Layer</a:t>
            </a:r>
            <a:r>
              <a:rPr lang="en-US" sz="1150" dirty="0"/>
              <a:t> to maintain the raw input for traceability and reprocessing.</a:t>
            </a:r>
          </a:p>
          <a:p>
            <a:r>
              <a:rPr lang="en-US" sz="1150" b="1" dirty="0"/>
              <a:t>3. Parsing &amp; Extraction:</a:t>
            </a:r>
            <a:br>
              <a:rPr lang="en-US" sz="1150" dirty="0"/>
            </a:br>
            <a:r>
              <a:rPr lang="en-US" sz="1150" dirty="0"/>
              <a:t>A </a:t>
            </a:r>
            <a:r>
              <a:rPr lang="en-US" sz="1150" b="1" dirty="0"/>
              <a:t>Loss Run Parsing Engine (Python)</a:t>
            </a:r>
            <a:r>
              <a:rPr lang="en-US" sz="1150" dirty="0"/>
              <a:t> processes the uploaded file, performs </a:t>
            </a:r>
            <a:r>
              <a:rPr lang="en-US" sz="1150" b="1" dirty="0"/>
              <a:t>layout detection, and extracts relevant claim fields</a:t>
            </a:r>
            <a:r>
              <a:rPr lang="en-US" sz="1150" dirty="0"/>
              <a:t>, generating an intermediate structured output.</a:t>
            </a:r>
          </a:p>
          <a:p>
            <a:r>
              <a:rPr lang="en-US" sz="1150" b="1" dirty="0"/>
              <a:t>4. Review &amp; Configuration:</a:t>
            </a:r>
            <a:br>
              <a:rPr lang="en-US" sz="1150" dirty="0"/>
            </a:br>
            <a:r>
              <a:rPr lang="en-US" sz="1150" dirty="0"/>
              <a:t>The </a:t>
            </a:r>
            <a:r>
              <a:rPr lang="en-US" sz="1150" b="1" dirty="0"/>
              <a:t>user reviews the extracted output in the review layer</a:t>
            </a:r>
            <a:r>
              <a:rPr lang="en-US" sz="1150" dirty="0"/>
              <a:t> and defines </a:t>
            </a:r>
            <a:r>
              <a:rPr lang="en-US" sz="1150" b="1" dirty="0"/>
              <a:t>configuration files</a:t>
            </a:r>
            <a:r>
              <a:rPr lang="en-US" sz="1150" dirty="0"/>
              <a:t> that control how the final output should be generated.</a:t>
            </a:r>
          </a:p>
          <a:p>
            <a:r>
              <a:rPr lang="en-US" sz="1150" b="1" dirty="0"/>
              <a:t>5. Post-Processing &amp; Normalization:</a:t>
            </a:r>
            <a:br>
              <a:rPr lang="en-US" sz="1150" dirty="0"/>
            </a:br>
            <a:r>
              <a:rPr lang="en-US" sz="1150" dirty="0"/>
              <a:t>The system applies </a:t>
            </a:r>
            <a:r>
              <a:rPr lang="en-US" sz="1150" b="1" dirty="0"/>
              <a:t>post-processing and normalization rules</a:t>
            </a:r>
            <a:r>
              <a:rPr lang="en-US" sz="1150" dirty="0"/>
              <a:t> based on the configuration files to generate </a:t>
            </a:r>
            <a:r>
              <a:rPr lang="en-US" sz="1150" b="1" dirty="0"/>
              <a:t>normalized structured data</a:t>
            </a:r>
            <a:r>
              <a:rPr lang="en-US" sz="1150" dirty="0"/>
              <a:t>.</a:t>
            </a:r>
          </a:p>
          <a:p>
            <a:r>
              <a:rPr lang="en-US" sz="1150" b="1" dirty="0"/>
              <a:t>6. Downstream Integration:</a:t>
            </a:r>
            <a:br>
              <a:rPr lang="en-US" sz="1150" dirty="0"/>
            </a:br>
            <a:r>
              <a:rPr lang="en-US" sz="1150" dirty="0"/>
              <a:t>The normalized data is delivered through </a:t>
            </a:r>
            <a:r>
              <a:rPr lang="en-US" sz="1150" b="1" dirty="0"/>
              <a:t>APIs to downstream systems such as Duck Creek or Guidewire</a:t>
            </a:r>
            <a:r>
              <a:rPr lang="en-US" sz="1150" dirty="0"/>
              <a:t>.</a:t>
            </a:r>
          </a:p>
          <a:p>
            <a:r>
              <a:rPr lang="en-US" sz="1150" b="1" dirty="0"/>
              <a:t>7. Storage &amp; Feature Layer:</a:t>
            </a:r>
            <a:br>
              <a:rPr lang="en-US" sz="1150" dirty="0"/>
            </a:br>
            <a:r>
              <a:rPr lang="en-US" sz="1150" dirty="0"/>
              <a:t>The finalized structured data is stored in the </a:t>
            </a:r>
            <a:r>
              <a:rPr lang="en-US" sz="1150" b="1" dirty="0"/>
              <a:t>Claims Domain Model and Feature Store</a:t>
            </a:r>
            <a:r>
              <a:rPr lang="en-US" sz="1150" dirty="0"/>
              <a:t> for downstream </a:t>
            </a:r>
            <a:r>
              <a:rPr lang="en-US" sz="1200" dirty="0"/>
              <a:t>analytics and business processing.</a:t>
            </a:r>
          </a:p>
        </p:txBody>
      </p:sp>
      <p:pic>
        <p:nvPicPr>
          <p:cNvPr id="9" name="Picture 28" descr="User Icon Image #383619 - Free Icons ...">
            <a:extLst>
              <a:ext uri="{FF2B5EF4-FFF2-40B4-BE49-F238E27FC236}">
                <a16:creationId xmlns:a16="http://schemas.microsoft.com/office/drawing/2014/main" id="{EEC969CE-ED3B-6BEC-EE68-F5EBA9E85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65" y="2450176"/>
            <a:ext cx="708374" cy="68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pplication - Free computer icons">
            <a:extLst>
              <a:ext uri="{FF2B5EF4-FFF2-40B4-BE49-F238E27FC236}">
                <a16:creationId xmlns:a16="http://schemas.microsoft.com/office/drawing/2014/main" id="{FC5C7316-8DF5-88E8-041F-CC0C0D5B2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751" y="1831201"/>
            <a:ext cx="804862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DC6C0F-05AD-C038-64FE-B6762A6768BB}"/>
              </a:ext>
            </a:extLst>
          </p:cNvPr>
          <p:cNvSpPr/>
          <p:nvPr/>
        </p:nvSpPr>
        <p:spPr>
          <a:xfrm>
            <a:off x="5807897" y="1610962"/>
            <a:ext cx="2176278" cy="5937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100" dirty="0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Loss run file Parsing Engine (Python) lay out detection and Fields Extraction </a:t>
            </a:r>
          </a:p>
          <a:p>
            <a:pPr algn="ctr"/>
            <a:endParaRPr lang="en-IN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90DFD3C-E4B7-4C70-639A-51817FCEFAD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3355613" y="2202265"/>
            <a:ext cx="1188328" cy="31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E2EA9A4-C898-BB09-74E0-85F59C35F932}"/>
              </a:ext>
            </a:extLst>
          </p:cNvPr>
          <p:cNvSpPr txBox="1"/>
          <p:nvPr/>
        </p:nvSpPr>
        <p:spPr>
          <a:xfrm>
            <a:off x="1856078" y="3082435"/>
            <a:ext cx="349115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User reviews extracted output and configures output generation through configuration files.</a:t>
            </a:r>
            <a:endParaRPr lang="en-IN" sz="1050" dirty="0"/>
          </a:p>
        </p:txBody>
      </p:sp>
      <p:sp>
        <p:nvSpPr>
          <p:cNvPr id="57" name="Flowchart: Card 56">
            <a:extLst>
              <a:ext uri="{FF2B5EF4-FFF2-40B4-BE49-F238E27FC236}">
                <a16:creationId xmlns:a16="http://schemas.microsoft.com/office/drawing/2014/main" id="{E4EBBD60-DDF1-A665-8B8B-02DBF59D26CC}"/>
              </a:ext>
            </a:extLst>
          </p:cNvPr>
          <p:cNvSpPr/>
          <p:nvPr/>
        </p:nvSpPr>
        <p:spPr>
          <a:xfrm>
            <a:off x="598883" y="4121014"/>
            <a:ext cx="1163162" cy="492276"/>
          </a:xfrm>
          <a:prstGeom prst="flowChartPunchedCar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config file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1F43A66-EEA5-77C2-E2A6-94119CBA380E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>
            <a:off x="2872496" y="1298876"/>
            <a:ext cx="789268" cy="321864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2" descr="Azure AI Document Intelligence ...">
            <a:extLst>
              <a:ext uri="{FF2B5EF4-FFF2-40B4-BE49-F238E27FC236}">
                <a16:creationId xmlns:a16="http://schemas.microsoft.com/office/drawing/2014/main" id="{CC676A06-02A9-6F1A-477C-6521A3DB7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922" y="4078598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Oval 62">
            <a:extLst>
              <a:ext uri="{FF2B5EF4-FFF2-40B4-BE49-F238E27FC236}">
                <a16:creationId xmlns:a16="http://schemas.microsoft.com/office/drawing/2014/main" id="{B92B5908-2300-A631-48C7-9FDCD0E5E404}"/>
              </a:ext>
            </a:extLst>
          </p:cNvPr>
          <p:cNvSpPr/>
          <p:nvPr/>
        </p:nvSpPr>
        <p:spPr>
          <a:xfrm>
            <a:off x="3521757" y="368873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5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1C14536-418E-03F8-2307-EC9C45F4F19A}"/>
              </a:ext>
            </a:extLst>
          </p:cNvPr>
          <p:cNvSpPr/>
          <p:nvPr/>
        </p:nvSpPr>
        <p:spPr>
          <a:xfrm>
            <a:off x="3977566" y="3664255"/>
            <a:ext cx="2176278" cy="3744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100" dirty="0">
              <a:solidFill>
                <a:srgbClr val="000000"/>
              </a:solidFill>
              <a:latin typeface="Gill Sans MT" panose="020B050202010402020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Post Processing and Normalisation </a:t>
            </a:r>
          </a:p>
          <a:p>
            <a:pPr algn="ctr"/>
            <a:endParaRPr lang="en-IN" dirty="0"/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635B8C77-78D3-2A25-3DFF-87827B1177EF}"/>
              </a:ext>
            </a:extLst>
          </p:cNvPr>
          <p:cNvCxnSpPr>
            <a:cxnSpLocks/>
          </p:cNvCxnSpPr>
          <p:nvPr/>
        </p:nvCxnSpPr>
        <p:spPr>
          <a:xfrm rot="5400000">
            <a:off x="2966299" y="3990455"/>
            <a:ext cx="429396" cy="185087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527141E-9D61-D051-8E11-D5ECE5CDD813}"/>
              </a:ext>
            </a:extLst>
          </p:cNvPr>
          <p:cNvCxnSpPr>
            <a:cxnSpLocks/>
            <a:stCxn id="62" idx="2"/>
            <a:endCxn id="14" idx="1"/>
          </p:cNvCxnSpPr>
          <p:nvPr/>
        </p:nvCxnSpPr>
        <p:spPr>
          <a:xfrm rot="16200000" flipH="1">
            <a:off x="4422299" y="4614329"/>
            <a:ext cx="529606" cy="7033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F948EBB-AC17-B55C-31C5-A1AF78C40B34}"/>
              </a:ext>
            </a:extLst>
          </p:cNvPr>
          <p:cNvCxnSpPr>
            <a:stCxn id="57" idx="3"/>
            <a:endCxn id="62" idx="1"/>
          </p:cNvCxnSpPr>
          <p:nvPr/>
        </p:nvCxnSpPr>
        <p:spPr>
          <a:xfrm>
            <a:off x="1762045" y="4367152"/>
            <a:ext cx="2240877" cy="2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D95A993B-D08C-C4CD-36B2-48D59AFCBE0B}"/>
              </a:ext>
            </a:extLst>
          </p:cNvPr>
          <p:cNvCxnSpPr>
            <a:stCxn id="12" idx="2"/>
            <a:endCxn id="57" idx="0"/>
          </p:cNvCxnSpPr>
          <p:nvPr/>
        </p:nvCxnSpPr>
        <p:spPr>
          <a:xfrm rot="5400000">
            <a:off x="1324348" y="2492179"/>
            <a:ext cx="1484951" cy="1772718"/>
          </a:xfrm>
          <a:prstGeom prst="bentConnector3">
            <a:avLst>
              <a:gd name="adj1" fmla="val 64908"/>
            </a:avLst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B37EC6B-0784-F799-4414-C106900A27F4}"/>
              </a:ext>
            </a:extLst>
          </p:cNvPr>
          <p:cNvCxnSpPr>
            <a:stCxn id="12" idx="0"/>
            <a:endCxn id="43" idx="2"/>
          </p:cNvCxnSpPr>
          <p:nvPr/>
        </p:nvCxnSpPr>
        <p:spPr>
          <a:xfrm flipV="1">
            <a:off x="2953182" y="1364904"/>
            <a:ext cx="313948" cy="466297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54285FD3-FE52-4167-9CA4-04BA9D45AA00}"/>
              </a:ext>
            </a:extLst>
          </p:cNvPr>
          <p:cNvSpPr/>
          <p:nvPr/>
        </p:nvSpPr>
        <p:spPr>
          <a:xfrm>
            <a:off x="3661034" y="1119073"/>
            <a:ext cx="1880072" cy="1594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Stores the file in Blob Storage</a:t>
            </a: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52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53" grpId="0" animBg="1"/>
      <p:bldP spid="55" grpId="0" animBg="1"/>
      <p:bldP spid="58" grpId="0" animBg="1"/>
      <p:bldP spid="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CCC97-FF04-5D7B-D129-029D2723B2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Cloud Agnostic Architecture Flow for Loss Run Parsing</a:t>
            </a:r>
            <a:endParaRPr lang="en-IN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8609445F-9F52-CBAD-F8DA-B818DE051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9681"/>
            <a:ext cx="12192000" cy="4815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19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CE41-E6B1-A980-9087-5994E62C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757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84166-D6FA-F980-5145-6B1B1733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37746D-0C88-E3DB-2074-6F2C55C56D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80176" y="228600"/>
            <a:ext cx="9479494" cy="685800"/>
          </a:xfrm>
        </p:spPr>
        <p:txBody>
          <a:bodyPr/>
          <a:lstStyle/>
          <a:p>
            <a:r>
              <a:rPr lang="en-IN" dirty="0"/>
              <a:t>ADI Solution Design Approach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95F85E-8344-4F8F-3A37-B2C3F3A4F178}"/>
              </a:ext>
            </a:extLst>
          </p:cNvPr>
          <p:cNvSpPr/>
          <p:nvPr/>
        </p:nvSpPr>
        <p:spPr>
          <a:xfrm>
            <a:off x="2775566" y="18999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7E9FF8-6449-98FF-8077-A00A268837BE}"/>
              </a:ext>
            </a:extLst>
          </p:cNvPr>
          <p:cNvSpPr/>
          <p:nvPr/>
        </p:nvSpPr>
        <p:spPr>
          <a:xfrm>
            <a:off x="2927966" y="20523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549828-83F1-07A4-D6C1-9F73958B6D06}"/>
              </a:ext>
            </a:extLst>
          </p:cNvPr>
          <p:cNvSpPr/>
          <p:nvPr/>
        </p:nvSpPr>
        <p:spPr>
          <a:xfrm>
            <a:off x="3080366" y="22047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05A126-2BE5-E0A2-E242-36D200053704}"/>
              </a:ext>
            </a:extLst>
          </p:cNvPr>
          <p:cNvSpPr/>
          <p:nvPr/>
        </p:nvSpPr>
        <p:spPr>
          <a:xfrm>
            <a:off x="3232766" y="2357135"/>
            <a:ext cx="1389886" cy="70789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ubai" panose="020B0503030403030204" pitchFamily="34" charset="-78"/>
                <a:cs typeface="Dubai" panose="020B0503030403030204" pitchFamily="34" charset="-78"/>
              </a:rPr>
              <a:t>Files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4F9665E-8327-FC00-5E2F-833E0BE4A4E8}"/>
              </a:ext>
            </a:extLst>
          </p:cNvPr>
          <p:cNvCxnSpPr>
            <a:cxnSpLocks/>
          </p:cNvCxnSpPr>
          <p:nvPr/>
        </p:nvCxnSpPr>
        <p:spPr>
          <a:xfrm>
            <a:off x="5322983" y="4024969"/>
            <a:ext cx="484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18FC1E-7E3B-FEE1-BB71-00569DE26548}"/>
              </a:ext>
            </a:extLst>
          </p:cNvPr>
          <p:cNvSpPr txBox="1"/>
          <p:nvPr/>
        </p:nvSpPr>
        <p:spPr>
          <a:xfrm>
            <a:off x="5178760" y="3144809"/>
            <a:ext cx="1329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[{XLS, Forms}, {Loss Run, SOVs, Accord}]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44DB29-7993-A07A-F3DE-37F793C646AD}"/>
              </a:ext>
            </a:extLst>
          </p:cNvPr>
          <p:cNvSpPr txBox="1"/>
          <p:nvPr/>
        </p:nvSpPr>
        <p:spPr>
          <a:xfrm>
            <a:off x="866768" y="2020069"/>
            <a:ext cx="1234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/>
              <a:t>TPA</a:t>
            </a:r>
          </a:p>
          <a:p>
            <a:r>
              <a:rPr lang="en-IN" b="1"/>
              <a:t>Ingestion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7A55E3-D658-18F7-444F-2D030C47CD98}"/>
              </a:ext>
            </a:extLst>
          </p:cNvPr>
          <p:cNvCxnSpPr>
            <a:cxnSpLocks/>
          </p:cNvCxnSpPr>
          <p:nvPr/>
        </p:nvCxnSpPr>
        <p:spPr>
          <a:xfrm>
            <a:off x="1665387" y="22047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9D327F-B9F0-2B99-D46D-706BB2F64014}"/>
              </a:ext>
            </a:extLst>
          </p:cNvPr>
          <p:cNvSpPr txBox="1"/>
          <p:nvPr/>
        </p:nvSpPr>
        <p:spPr>
          <a:xfrm>
            <a:off x="2689910" y="1443784"/>
            <a:ext cx="15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Blob Storage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2F7CDD-739A-4E42-D097-56A3433BE6FE}"/>
              </a:ext>
            </a:extLst>
          </p:cNvPr>
          <p:cNvSpPr txBox="1"/>
          <p:nvPr/>
        </p:nvSpPr>
        <p:spPr>
          <a:xfrm>
            <a:off x="5895626" y="3826073"/>
            <a:ext cx="1856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IN" sz="1200" dirty="0"/>
              <a:t>Structured Doc Parser </a:t>
            </a:r>
          </a:p>
          <a:p>
            <a:r>
              <a:rPr lang="en-IN" sz="1200" dirty="0"/>
              <a:t>(E.g., Loss Run Parser)</a:t>
            </a:r>
          </a:p>
        </p:txBody>
      </p:sp>
      <p:pic>
        <p:nvPicPr>
          <p:cNvPr id="25" name="Picture 28" descr="User Icon Image #383619 - Free Icons ...">
            <a:extLst>
              <a:ext uri="{FF2B5EF4-FFF2-40B4-BE49-F238E27FC236}">
                <a16:creationId xmlns:a16="http://schemas.microsoft.com/office/drawing/2014/main" id="{EAF1EFC1-9E27-9F16-E191-720F91FCA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09" y="3811168"/>
            <a:ext cx="708374" cy="68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Application - Free computer icons">
            <a:extLst>
              <a:ext uri="{FF2B5EF4-FFF2-40B4-BE49-F238E27FC236}">
                <a16:creationId xmlns:a16="http://schemas.microsoft.com/office/drawing/2014/main" id="{0DB12795-92C3-3691-8A5C-EC3ADB0D3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032" y="3647613"/>
            <a:ext cx="804862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4D01A23-EF18-9E2A-E0E0-317AA9A07A46}"/>
              </a:ext>
            </a:extLst>
          </p:cNvPr>
          <p:cNvCxnSpPr>
            <a:cxnSpLocks/>
            <a:stCxn id="7" idx="2"/>
            <a:endCxn id="36" idx="0"/>
          </p:cNvCxnSpPr>
          <p:nvPr/>
        </p:nvCxnSpPr>
        <p:spPr>
          <a:xfrm rot="16200000" flipH="1">
            <a:off x="4051070" y="2941672"/>
            <a:ext cx="587999" cy="8347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0DCD0D-FF5B-6C35-D5AC-3C39EC50664E}"/>
              </a:ext>
            </a:extLst>
          </p:cNvPr>
          <p:cNvCxnSpPr>
            <a:cxnSpLocks/>
          </p:cNvCxnSpPr>
          <p:nvPr/>
        </p:nvCxnSpPr>
        <p:spPr>
          <a:xfrm>
            <a:off x="1439821" y="4151435"/>
            <a:ext cx="877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CE36E69-22FE-C216-28C8-7DF16939828A}"/>
              </a:ext>
            </a:extLst>
          </p:cNvPr>
          <p:cNvSpPr txBox="1"/>
          <p:nvPr/>
        </p:nvSpPr>
        <p:spPr>
          <a:xfrm>
            <a:off x="1298427" y="3379033"/>
            <a:ext cx="1511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Review </a:t>
            </a:r>
          </a:p>
          <a:p>
            <a:r>
              <a:rPr lang="en-IN" sz="1400" dirty="0"/>
              <a:t>Processed files/</a:t>
            </a:r>
          </a:p>
          <a:p>
            <a:r>
              <a:rPr lang="en-IN" sz="1400" dirty="0"/>
              <a:t>Feedback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5528D3-BF4E-3AB8-127B-806E3FB44CC8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232766" y="3954050"/>
            <a:ext cx="970331" cy="1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 descr="Azure Cognitive Services: A Approach to ...">
            <a:extLst>
              <a:ext uri="{FF2B5EF4-FFF2-40B4-BE49-F238E27FC236}">
                <a16:creationId xmlns:a16="http://schemas.microsoft.com/office/drawing/2014/main" id="{6DE00699-A24F-DE7C-0CE5-7588DE38C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097" y="3653032"/>
            <a:ext cx="1118663" cy="62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AE9D06D-D9B6-D819-0E6E-F0C16598433F}"/>
              </a:ext>
            </a:extLst>
          </p:cNvPr>
          <p:cNvSpPr txBox="1"/>
          <p:nvPr/>
        </p:nvSpPr>
        <p:spPr>
          <a:xfrm>
            <a:off x="4296432" y="4219955"/>
            <a:ext cx="1511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Azure Functions Orchestrator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6DEB4D4-0B8B-B000-1528-427CA889019E}"/>
              </a:ext>
            </a:extLst>
          </p:cNvPr>
          <p:cNvCxnSpPr>
            <a:cxnSpLocks/>
          </p:cNvCxnSpPr>
          <p:nvPr/>
        </p:nvCxnSpPr>
        <p:spPr>
          <a:xfrm flipH="1">
            <a:off x="3292590" y="4115969"/>
            <a:ext cx="949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549D3C5-EAEB-0A9E-062C-66FD1BFEFAA2}"/>
              </a:ext>
            </a:extLst>
          </p:cNvPr>
          <p:cNvSpPr txBox="1"/>
          <p:nvPr/>
        </p:nvSpPr>
        <p:spPr>
          <a:xfrm>
            <a:off x="3357683" y="4168188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Response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BB8484-956F-1AA4-284B-C5063C678212}"/>
              </a:ext>
            </a:extLst>
          </p:cNvPr>
          <p:cNvSpPr txBox="1"/>
          <p:nvPr/>
        </p:nvSpPr>
        <p:spPr>
          <a:xfrm>
            <a:off x="3256307" y="3634553"/>
            <a:ext cx="13361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Input/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F37482-AE54-0E4E-1552-2D16B3B5C277}"/>
              </a:ext>
            </a:extLst>
          </p:cNvPr>
          <p:cNvSpPr/>
          <p:nvPr/>
        </p:nvSpPr>
        <p:spPr>
          <a:xfrm>
            <a:off x="5831069" y="3779269"/>
            <a:ext cx="1856983" cy="79960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0EE6C6B0-FBC8-8766-956B-5CC3D84A972F}"/>
              </a:ext>
            </a:extLst>
          </p:cNvPr>
          <p:cNvSpPr/>
          <p:nvPr/>
        </p:nvSpPr>
        <p:spPr>
          <a:xfrm>
            <a:off x="5841256" y="1117077"/>
            <a:ext cx="1934317" cy="93506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79202"/>
              <a:gd name="adj6" fmla="val -4566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dirty="0"/>
              <a:t>Azure Document Intelligence (ADI) for file classification, Template detection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8BE9093-FB9D-2132-E869-A8B03F121AC4}"/>
              </a:ext>
            </a:extLst>
          </p:cNvPr>
          <p:cNvCxnSpPr>
            <a:cxnSpLocks/>
          </p:cNvCxnSpPr>
          <p:nvPr/>
        </p:nvCxnSpPr>
        <p:spPr>
          <a:xfrm rot="16200000" flipH="1">
            <a:off x="2609329" y="4615444"/>
            <a:ext cx="748950" cy="4164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ylinder 13">
            <a:extLst>
              <a:ext uri="{FF2B5EF4-FFF2-40B4-BE49-F238E27FC236}">
                <a16:creationId xmlns:a16="http://schemas.microsoft.com/office/drawing/2014/main" id="{27F5118E-4372-2BE7-EC06-0B9539EAABFA}"/>
              </a:ext>
            </a:extLst>
          </p:cNvPr>
          <p:cNvSpPr/>
          <p:nvPr/>
        </p:nvSpPr>
        <p:spPr>
          <a:xfrm>
            <a:off x="2927966" y="5230802"/>
            <a:ext cx="1173612" cy="921157"/>
          </a:xfrm>
          <a:prstGeom prst="can">
            <a:avLst>
              <a:gd name="adj" fmla="val 1200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Claims</a:t>
            </a:r>
          </a:p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Domain Model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CB75DC78-EDB0-0BBF-0429-BBDA3301AAB7}"/>
              </a:ext>
            </a:extLst>
          </p:cNvPr>
          <p:cNvSpPr/>
          <p:nvPr/>
        </p:nvSpPr>
        <p:spPr>
          <a:xfrm>
            <a:off x="5383684" y="5238614"/>
            <a:ext cx="953485" cy="921157"/>
          </a:xfrm>
          <a:prstGeom prst="can">
            <a:avLst>
              <a:gd name="adj" fmla="val 15546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Dubai" panose="020B0503030403030204" pitchFamily="34" charset="-78"/>
                <a:cs typeface="Dubai" panose="020B0503030403030204" pitchFamily="34" charset="-78"/>
              </a:rPr>
              <a:t>Feature Store*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5C6B32-F067-0DDF-3DF1-7262A38881D9}"/>
              </a:ext>
            </a:extLst>
          </p:cNvPr>
          <p:cNvSpPr txBox="1"/>
          <p:nvPr/>
        </p:nvSpPr>
        <p:spPr>
          <a:xfrm>
            <a:off x="2409015" y="4789109"/>
            <a:ext cx="1357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/>
              <a:t>Reviewed Input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E5350BD-09A7-9097-539D-D4D520F1F754}"/>
              </a:ext>
            </a:extLst>
          </p:cNvPr>
          <p:cNvCxnSpPr>
            <a:cxnSpLocks/>
            <a:stCxn id="14" idx="4"/>
            <a:endCxn id="28" idx="2"/>
          </p:cNvCxnSpPr>
          <p:nvPr/>
        </p:nvCxnSpPr>
        <p:spPr>
          <a:xfrm>
            <a:off x="4101578" y="5691381"/>
            <a:ext cx="1282106" cy="7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8D4C056-C9CF-671E-A2EC-9D2461AA11A3}"/>
              </a:ext>
            </a:extLst>
          </p:cNvPr>
          <p:cNvSpPr txBox="1"/>
          <p:nvPr/>
        </p:nvSpPr>
        <p:spPr>
          <a:xfrm>
            <a:off x="4285055" y="5374266"/>
            <a:ext cx="822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Transform</a:t>
            </a:r>
          </a:p>
        </p:txBody>
      </p:sp>
      <p:pic>
        <p:nvPicPr>
          <p:cNvPr id="37" name="Picture 2" descr="Insurance with Duck Creek's SaaS ...">
            <a:extLst>
              <a:ext uri="{FF2B5EF4-FFF2-40B4-BE49-F238E27FC236}">
                <a16:creationId xmlns:a16="http://schemas.microsoft.com/office/drawing/2014/main" id="{076CA2C2-056D-B590-35E2-1A6AEFB2C8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3" b="14762"/>
          <a:stretch>
            <a:fillRect/>
          </a:stretch>
        </p:blipFill>
        <p:spPr bwMode="auto">
          <a:xfrm>
            <a:off x="417286" y="5130592"/>
            <a:ext cx="1086537" cy="71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38DDE8-4AAA-DC8A-EAED-67BFE261A811}"/>
              </a:ext>
            </a:extLst>
          </p:cNvPr>
          <p:cNvCxnSpPr>
            <a:cxnSpLocks/>
          </p:cNvCxnSpPr>
          <p:nvPr/>
        </p:nvCxnSpPr>
        <p:spPr>
          <a:xfrm flipH="1" flipV="1">
            <a:off x="1298427" y="5525128"/>
            <a:ext cx="1580483" cy="41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430393A-7284-C7B9-BC89-89F6221FAB6C}"/>
              </a:ext>
            </a:extLst>
          </p:cNvPr>
          <p:cNvSpPr txBox="1"/>
          <p:nvPr/>
        </p:nvSpPr>
        <p:spPr>
          <a:xfrm>
            <a:off x="2070484" y="5152152"/>
            <a:ext cx="4908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API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FA7523-9E0E-EC73-8686-8561D24D409C}"/>
              </a:ext>
            </a:extLst>
          </p:cNvPr>
          <p:cNvSpPr/>
          <p:nvPr/>
        </p:nvSpPr>
        <p:spPr>
          <a:xfrm>
            <a:off x="2288329" y="141948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E38704C-B10F-733A-1E53-F69D2AA4F4BC}"/>
              </a:ext>
            </a:extLst>
          </p:cNvPr>
          <p:cNvSpPr/>
          <p:nvPr/>
        </p:nvSpPr>
        <p:spPr>
          <a:xfrm>
            <a:off x="486044" y="2085828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EEB8DA1-CABA-BBD7-182C-BF5CC4893C97}"/>
              </a:ext>
            </a:extLst>
          </p:cNvPr>
          <p:cNvSpPr/>
          <p:nvPr/>
        </p:nvSpPr>
        <p:spPr>
          <a:xfrm>
            <a:off x="4796795" y="3446507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3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0F0C403-7A13-497F-3E08-F4ABFC4CA230}"/>
              </a:ext>
            </a:extLst>
          </p:cNvPr>
          <p:cNvSpPr/>
          <p:nvPr/>
        </p:nvSpPr>
        <p:spPr>
          <a:xfrm>
            <a:off x="2413949" y="322093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4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61BA0A8-3AF3-FA39-6409-A51FBC4A7FB9}"/>
              </a:ext>
            </a:extLst>
          </p:cNvPr>
          <p:cNvSpPr/>
          <p:nvPr/>
        </p:nvSpPr>
        <p:spPr>
          <a:xfrm>
            <a:off x="2862412" y="4476384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5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E3615DD-EE12-B3DD-2A86-3738CC73036F}"/>
              </a:ext>
            </a:extLst>
          </p:cNvPr>
          <p:cNvSpPr/>
          <p:nvPr/>
        </p:nvSpPr>
        <p:spPr>
          <a:xfrm>
            <a:off x="4454425" y="5108629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Manrope" panose="00000506000000000000"/>
                <a:cs typeface="Mangal" panose="02040503050203030202" pitchFamily="18" charset="0"/>
              </a:rPr>
              <a:t>6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F938110-F7F2-068F-5AAD-FD153D421445}"/>
              </a:ext>
            </a:extLst>
          </p:cNvPr>
          <p:cNvSpPr/>
          <p:nvPr/>
        </p:nvSpPr>
        <p:spPr>
          <a:xfrm>
            <a:off x="1551716" y="5151123"/>
            <a:ext cx="384798" cy="33611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Manrope" panose="00000506000000000000"/>
                <a:cs typeface="Mangal" panose="02040503050203030202" pitchFamily="18" charset="0"/>
              </a:rPr>
              <a:t>7</a:t>
            </a:r>
          </a:p>
        </p:txBody>
      </p:sp>
      <p:pic>
        <p:nvPicPr>
          <p:cNvPr id="15" name="Picture 2" descr="Azure AI Document Intelligence ...">
            <a:extLst>
              <a:ext uri="{FF2B5EF4-FFF2-40B4-BE49-F238E27FC236}">
                <a16:creationId xmlns:a16="http://schemas.microsoft.com/office/drawing/2014/main" id="{132379FB-61F5-5323-9150-35D954605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2876" y="1143294"/>
            <a:ext cx="665021" cy="62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372F14-4E9C-1D4F-60FD-1124C409A4F3}"/>
              </a:ext>
            </a:extLst>
          </p:cNvPr>
          <p:cNvSpPr/>
          <p:nvPr/>
        </p:nvSpPr>
        <p:spPr>
          <a:xfrm>
            <a:off x="8120743" y="1143294"/>
            <a:ext cx="3907971" cy="52139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500" b="1" u="sng" dirty="0"/>
              <a:t>Solution Flow:</a:t>
            </a:r>
          </a:p>
          <a:p>
            <a:endParaRPr lang="en-IN" sz="1500" u="sng" dirty="0"/>
          </a:p>
          <a:p>
            <a:pPr lvl="0"/>
            <a:r>
              <a:rPr lang="en-IN" sz="1500" b="1" dirty="0"/>
              <a:t>1.Ingestion:</a:t>
            </a:r>
            <a:r>
              <a:rPr lang="en-IN" sz="1500" dirty="0"/>
              <a:t> User uploads Excel or PDF files via a Custom Web App. The files are stored in </a:t>
            </a:r>
            <a:r>
              <a:rPr lang="en-IN" sz="1500" b="1" dirty="0"/>
              <a:t>Azure Blob Storage</a:t>
            </a:r>
            <a:r>
              <a:rPr lang="en-IN" sz="1500" dirty="0"/>
              <a:t>.</a:t>
            </a:r>
          </a:p>
          <a:p>
            <a:pPr lvl="0"/>
            <a:r>
              <a:rPr lang="en-IN" sz="1500" b="1" dirty="0"/>
              <a:t>2.Extraction :</a:t>
            </a:r>
            <a:r>
              <a:rPr lang="en-IN" sz="1500" dirty="0"/>
              <a:t> An </a:t>
            </a:r>
            <a:r>
              <a:rPr lang="en-IN" sz="1500" b="1" dirty="0"/>
              <a:t>Azure Function</a:t>
            </a:r>
            <a:r>
              <a:rPr lang="en-IN" sz="1500" dirty="0"/>
              <a:t> triggers </a:t>
            </a:r>
            <a:r>
              <a:rPr lang="en-IN" sz="1500" b="1" dirty="0"/>
              <a:t>Azure Document Intelligence (ADI)</a:t>
            </a:r>
            <a:r>
              <a:rPr lang="en-IN" sz="1500" dirty="0"/>
              <a:t> to extract text, tables, and key-value pairs.</a:t>
            </a:r>
          </a:p>
          <a:p>
            <a:pPr lvl="0"/>
            <a:r>
              <a:rPr lang="en-IN" sz="1500" b="1" dirty="0"/>
              <a:t>3.Confidence Check:</a:t>
            </a:r>
            <a:r>
              <a:rPr lang="en-IN" sz="1500" dirty="0"/>
              <a:t> The system checks the confidence score for each field.</a:t>
            </a:r>
          </a:p>
          <a:p>
            <a:pPr lvl="1"/>
            <a:r>
              <a:rPr lang="en-IN" sz="1500" b="1" dirty="0"/>
              <a:t>High Confidence (&gt;=0.9):</a:t>
            </a:r>
            <a:r>
              <a:rPr lang="en-IN" sz="1500" dirty="0"/>
              <a:t> Data is auto accepted and stored.</a:t>
            </a:r>
          </a:p>
          <a:p>
            <a:pPr lvl="1"/>
            <a:r>
              <a:rPr lang="en-IN" sz="1500" b="1" dirty="0"/>
              <a:t>Low Confidence (&lt; 0.9):</a:t>
            </a:r>
            <a:r>
              <a:rPr lang="en-IN" sz="1500" dirty="0"/>
              <a:t> Data is routed to the </a:t>
            </a:r>
            <a:r>
              <a:rPr lang="en-IN" sz="1500" b="1" dirty="0"/>
              <a:t>Review Interface</a:t>
            </a:r>
            <a:r>
              <a:rPr lang="en-IN" sz="1500" dirty="0"/>
              <a:t>.</a:t>
            </a:r>
          </a:p>
          <a:p>
            <a:pPr lvl="0"/>
            <a:r>
              <a:rPr lang="en-IN" sz="1500" b="1" dirty="0"/>
              <a:t>4.Human Review:</a:t>
            </a:r>
            <a:r>
              <a:rPr lang="en-IN" sz="1500" dirty="0"/>
              <a:t> A user reviews the extraction in a custom UI, makes edits, and hits "Save."</a:t>
            </a:r>
          </a:p>
          <a:p>
            <a:pPr lvl="0"/>
            <a:r>
              <a:rPr lang="en-IN" sz="1500" b="1" dirty="0"/>
              <a:t>5.Storage:</a:t>
            </a:r>
            <a:r>
              <a:rPr lang="en-IN" sz="1500" dirty="0"/>
              <a:t> Both the </a:t>
            </a:r>
            <a:r>
              <a:rPr lang="en-IN" sz="1500" b="1" dirty="0"/>
              <a:t>Raw AI Output</a:t>
            </a:r>
            <a:r>
              <a:rPr lang="en-IN" sz="1500" dirty="0"/>
              <a:t> and the </a:t>
            </a:r>
            <a:r>
              <a:rPr lang="en-IN" sz="1500" b="1" dirty="0"/>
              <a:t>Human-Reviewed Response</a:t>
            </a:r>
            <a:r>
              <a:rPr lang="en-IN" sz="1500" dirty="0"/>
              <a:t> are stored for business use.</a:t>
            </a:r>
          </a:p>
        </p:txBody>
      </p:sp>
    </p:spTree>
    <p:extLst>
      <p:ext uri="{BB962C8B-B14F-4D97-AF65-F5344CB8AC3E}">
        <p14:creationId xmlns:p14="http://schemas.microsoft.com/office/powerpoint/2010/main" val="228755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3" grpId="0" animBg="1"/>
      <p:bldP spid="44" grpId="0" animBg="1"/>
      <p:bldP spid="45" grpId="0" animBg="1"/>
      <p:bldP spid="46" grpId="0" animBg="1"/>
      <p:bldP spid="53" grpId="0" animBg="1"/>
      <p:bldP spid="55" grpId="0" animBg="1"/>
      <p:bldP spid="5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1100-DD2F-584B-5753-8D2FFC232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A4576-4509-776B-15A9-6D490FD9A8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Architecture 	Flow for Loss Run Parsing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11C78B-2316-CC1C-1AF1-2D5ED2061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7873"/>
            <a:ext cx="12192000" cy="502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6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B5C4C0-E53E-C8AD-854C-2DE7EAFE1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dirty="0"/>
              <a:t>ADI capabilities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B885BB-E262-2B6D-BF61-375306817791}"/>
              </a:ext>
            </a:extLst>
          </p:cNvPr>
          <p:cNvGraphicFramePr>
            <a:graphicFrameLocks noGrp="1"/>
          </p:cNvGraphicFramePr>
          <p:nvPr/>
        </p:nvGraphicFramePr>
        <p:xfrm>
          <a:off x="729344" y="1144207"/>
          <a:ext cx="10962984" cy="5221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746">
                  <a:extLst>
                    <a:ext uri="{9D8B030D-6E8A-4147-A177-3AD203B41FA5}">
                      <a16:colId xmlns:a16="http://schemas.microsoft.com/office/drawing/2014/main" val="1769282568"/>
                    </a:ext>
                  </a:extLst>
                </a:gridCol>
                <a:gridCol w="2740746">
                  <a:extLst>
                    <a:ext uri="{9D8B030D-6E8A-4147-A177-3AD203B41FA5}">
                      <a16:colId xmlns:a16="http://schemas.microsoft.com/office/drawing/2014/main" val="3086628726"/>
                    </a:ext>
                  </a:extLst>
                </a:gridCol>
                <a:gridCol w="2740746">
                  <a:extLst>
                    <a:ext uri="{9D8B030D-6E8A-4147-A177-3AD203B41FA5}">
                      <a16:colId xmlns:a16="http://schemas.microsoft.com/office/drawing/2014/main" val="1204671072"/>
                    </a:ext>
                  </a:extLst>
                </a:gridCol>
                <a:gridCol w="2740746">
                  <a:extLst>
                    <a:ext uri="{9D8B030D-6E8A-4147-A177-3AD203B41FA5}">
                      <a16:colId xmlns:a16="http://schemas.microsoft.com/office/drawing/2014/main" val="369897638"/>
                    </a:ext>
                  </a:extLst>
                </a:gridCol>
              </a:tblGrid>
              <a:tr h="476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dirty="0"/>
                        <a:t>ADI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/>
                        <a:t>Core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/>
                        <a:t>Scenario (When to Use)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/>
                        <a:t>Example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4469179"/>
                  </a:ext>
                </a:extLst>
              </a:tr>
              <a:tr h="1089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Prebuilt Read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OCR that extracts all visible text with reading order, without interpreting layout or tables.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Text-heavy documents where only content needs to be searchable, classified, or analyzed without table reconstruction.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Claim notes, adjuster reports, medical narratives, emails, policy wording documents.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5768830"/>
                  </a:ext>
                </a:extLst>
              </a:tr>
              <a:tr h="129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Prebuilt Layout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Detects structural elements such as tables, rows, columns, headers, and spatial relationships with cell-level coordinates.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Table-based reports with varying formats where rows/columns must be reconstructed before mapping to a standard schema.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b="0" dirty="0"/>
                        <a:t>Loss run Excel/PDF</a:t>
                      </a:r>
                      <a:r>
                        <a:rPr lang="en-US" sz="1550" dirty="0"/>
                        <a:t>, bordereaux reports, financial statements, exposure schedules, claim listings.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14288"/>
                  </a:ext>
                </a:extLst>
              </a:tr>
              <a:tr h="885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Custom Classification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Trained model that predicts document type based on layout and content patterns.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Multiple document types enter the pipeline and must be routed to the correct extraction logic.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Mixed uploads: loss runs, FNOL, policies, invoices, bordereaux.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718131"/>
                  </a:ext>
                </a:extLst>
              </a:tr>
              <a:tr h="129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50" b="1"/>
                        <a:t>Custom Extraction</a:t>
                      </a:r>
                      <a:endParaRPr lang="en-IN" sz="15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Trained model that learns standardized fields or table schema from labeled documents across layout variations.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/>
                        <a:t>Specific business fields must be extracted consistently from highly diverse templates where layout parsing alone is insufficient.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50" dirty="0"/>
                        <a:t>Multi-carrier loss runs, ACORD forms, claim intake forms, underwriting submissions.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9112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774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A0F27-87B5-90C9-9CCE-194EDE311D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ADI Features and How They Enable Document Processing</a:t>
            </a:r>
            <a:endParaRPr lang="en-IN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DFC6FE0-223C-9A7D-931D-DC7D1969ADB7}"/>
              </a:ext>
            </a:extLst>
          </p:cNvPr>
          <p:cNvGraphicFramePr>
            <a:graphicFrameLocks noGrp="1"/>
          </p:cNvGraphicFramePr>
          <p:nvPr/>
        </p:nvGraphicFramePr>
        <p:xfrm>
          <a:off x="391885" y="1187751"/>
          <a:ext cx="1140822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2743">
                  <a:extLst>
                    <a:ext uri="{9D8B030D-6E8A-4147-A177-3AD203B41FA5}">
                      <a16:colId xmlns:a16="http://schemas.microsoft.com/office/drawing/2014/main" val="3548632571"/>
                    </a:ext>
                  </a:extLst>
                </a:gridCol>
                <a:gridCol w="3802743">
                  <a:extLst>
                    <a:ext uri="{9D8B030D-6E8A-4147-A177-3AD203B41FA5}">
                      <a16:colId xmlns:a16="http://schemas.microsoft.com/office/drawing/2014/main" val="2192877381"/>
                    </a:ext>
                  </a:extLst>
                </a:gridCol>
                <a:gridCol w="3802743">
                  <a:extLst>
                    <a:ext uri="{9D8B030D-6E8A-4147-A177-3AD203B41FA5}">
                      <a16:colId xmlns:a16="http://schemas.microsoft.com/office/drawing/2014/main" val="617398335"/>
                    </a:ext>
                  </a:extLst>
                </a:gridCol>
              </a:tblGrid>
              <a:tr h="302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Capability /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How it Helps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365920"/>
                  </a:ext>
                </a:extLst>
              </a:tr>
              <a:tr h="745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Prebuilt-Read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Extracts printed and handwritten text from PDFs, images, Word, Excel, and HTML with preserved reading order.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Converts unstructured documents into machine-readable text for downstream processing.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6201202"/>
                  </a:ext>
                </a:extLst>
              </a:tr>
              <a:tr h="969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Prebuilt-Layout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Detects document structure such as tables, paragraphs, headers, and selection marks with spatial relationships.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structured data extraction and accurate table/field reconstruction.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127148"/>
                  </a:ext>
                </a:extLst>
              </a:tr>
              <a:tr h="745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Bounding Regions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precise spatial location of each field using multi-point polygon geometry.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Supports visual overlays and robust extraction from rotated or complex layouts.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9885641"/>
                  </a:ext>
                </a:extLst>
              </a:tr>
              <a:tr h="745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Confidence 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Assigns reliability score (0.0–1.0) to each extracted element and word.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Enables quality filtering, validation thresholds, and human-in-the-loop review.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420545"/>
                  </a:ext>
                </a:extLst>
              </a:tr>
              <a:tr h="52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Word-Level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Confidence available at individual word granularity.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Allows fine-grained validation and targeted correction of extracted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5231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289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D4515-55A8-EFF6-4A23-CEAC49A78B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Additional Azure Document Intelligence(ADI) Capabilities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AFACC9-6C08-5FC6-23D8-691B83FE3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78273"/>
              </p:ext>
            </p:extLst>
          </p:nvPr>
        </p:nvGraphicFramePr>
        <p:xfrm>
          <a:off x="402771" y="1125584"/>
          <a:ext cx="11289555" cy="508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3185">
                  <a:extLst>
                    <a:ext uri="{9D8B030D-6E8A-4147-A177-3AD203B41FA5}">
                      <a16:colId xmlns:a16="http://schemas.microsoft.com/office/drawing/2014/main" val="742139621"/>
                    </a:ext>
                  </a:extLst>
                </a:gridCol>
                <a:gridCol w="3763185">
                  <a:extLst>
                    <a:ext uri="{9D8B030D-6E8A-4147-A177-3AD203B41FA5}">
                      <a16:colId xmlns:a16="http://schemas.microsoft.com/office/drawing/2014/main" val="539203249"/>
                    </a:ext>
                  </a:extLst>
                </a:gridCol>
                <a:gridCol w="3763185">
                  <a:extLst>
                    <a:ext uri="{9D8B030D-6E8A-4147-A177-3AD203B41FA5}">
                      <a16:colId xmlns:a16="http://schemas.microsoft.com/office/drawing/2014/main" val="2994150638"/>
                    </a:ext>
                  </a:extLst>
                </a:gridCol>
              </a:tblGrid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ADI Features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Technical Capability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Our P&amp;C Usage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7749313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prebuilt-layout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 extraction, structure detection, 95%+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model for loss runs, registers, bordereaux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624502"/>
                  </a:ext>
                </a:extLst>
              </a:tr>
              <a:tr h="707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prebuilt-read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Advanced OCR (printed/handwritten), Word/Excel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Scanned docs, handwritten notes, legacy PDFs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182956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prebuilt-invoice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Invoice-specific field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Premium invoices, vendor payments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401452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prebuilt-identity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ID document extraction (DL, </a:t>
                      </a:r>
                      <a:r>
                        <a:rPr lang="fr-FR" dirty="0" err="1"/>
                        <a:t>Passport</a:t>
                      </a:r>
                      <a:r>
                        <a:rPr lang="fr-F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Underwriting identity verification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379671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prebuilt-financial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Bank statement, receipt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Premium reconciliation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315694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Custom Model Extraction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Train on 5+ samples, 97%+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 custom models for ACORD, TPAs, inspections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155172"/>
                  </a:ext>
                </a:extLst>
              </a:tr>
              <a:tr h="495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Custom Model Classification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Auto-split multi-doc PDFs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Mixed submission files (app + docs)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466218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Bounding Regions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Polygon coordinates for each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Click-to-highlight in review portal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903221"/>
                  </a:ext>
                </a:extLst>
              </a:tr>
              <a:tr h="28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Confidence Scores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Word-level accuracy (0.0-1.0)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Field validation and QA flagging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212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0735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2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8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ValueMomentum 2025">
      <a:dk1>
        <a:srgbClr val="000000"/>
      </a:dk1>
      <a:lt1>
        <a:srgbClr val="FFFFFF"/>
      </a:lt1>
      <a:dk2>
        <a:srgbClr val="024099"/>
      </a:dk2>
      <a:lt2>
        <a:srgbClr val="DFDFDF"/>
      </a:lt2>
      <a:accent1>
        <a:srgbClr val="0254CC"/>
      </a:accent1>
      <a:accent2>
        <a:srgbClr val="056BFC"/>
      </a:accent2>
      <a:accent3>
        <a:srgbClr val="69A7FD"/>
      </a:accent3>
      <a:accent4>
        <a:srgbClr val="2EB124"/>
      </a:accent4>
      <a:accent5>
        <a:srgbClr val="3FD534"/>
      </a:accent5>
      <a:accent6>
        <a:srgbClr val="FABD00"/>
      </a:accent6>
      <a:hlink>
        <a:srgbClr val="056AFB"/>
      </a:hlink>
      <a:folHlink>
        <a:srgbClr val="FABD0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25C39AABBCD54FB9AF44ACF5B22BF1" ma:contentTypeVersion="11" ma:contentTypeDescription="Create a new document." ma:contentTypeScope="" ma:versionID="7ebbf432252fcc9ce5240ec3f1bfba26">
  <xsd:schema xmlns:xsd="http://www.w3.org/2001/XMLSchema" xmlns:xs="http://www.w3.org/2001/XMLSchema" xmlns:p="http://schemas.microsoft.com/office/2006/metadata/properties" xmlns:ns2="3e856c52-c385-47ff-a09c-ac94d054bd1d" xmlns:ns3="adf4e06f-7580-4cab-94a3-022c3fe4e372" targetNamespace="http://schemas.microsoft.com/office/2006/metadata/properties" ma:root="true" ma:fieldsID="91ce003b5896f2dbbec4064c36991ee0" ns2:_="" ns3:_="">
    <xsd:import namespace="3e856c52-c385-47ff-a09c-ac94d054bd1d"/>
    <xsd:import namespace="adf4e06f-7580-4cab-94a3-022c3fe4e3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856c52-c385-47ff-a09c-ac94d054b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1087d73-5bfe-4c6e-a130-3d60249556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f4e06f-7580-4cab-94a3-022c3fe4e37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ba0d23a-6c76-42ef-961f-161990e773d7}" ma:internalName="TaxCatchAll" ma:showField="CatchAllData" ma:web="adf4e06f-7580-4cab-94a3-022c3fe4e3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856c52-c385-47ff-a09c-ac94d054bd1d">
      <Terms xmlns="http://schemas.microsoft.com/office/infopath/2007/PartnerControls"/>
    </lcf76f155ced4ddcb4097134ff3c332f>
    <TaxCatchAll xmlns="adf4e06f-7580-4cab-94a3-022c3fe4e372" xsi:nil="true"/>
  </documentManagement>
</p:properties>
</file>

<file path=customXml/itemProps1.xml><?xml version="1.0" encoding="utf-8"?>
<ds:datastoreItem xmlns:ds="http://schemas.openxmlformats.org/officeDocument/2006/customXml" ds:itemID="{23CD2ABB-BDEA-408D-A41B-48ABB8E820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6177F3-A7F6-47E1-BDE1-74CEE41FB7FD}">
  <ds:schemaRefs>
    <ds:schemaRef ds:uri="3e856c52-c385-47ff-a09c-ac94d054bd1d"/>
    <ds:schemaRef ds:uri="adf4e06f-7580-4cab-94a3-022c3fe4e37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45356D5-E73E-44BB-A76A-264455AA4F52}">
  <ds:schemaRefs>
    <ds:schemaRef ds:uri="3e856c52-c385-47ff-a09c-ac94d054bd1d"/>
    <ds:schemaRef ds:uri="adf4e06f-7580-4cab-94a3-022c3fe4e3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3085c86-4bcb-460a-a6f0-b373421c6323}" enabled="0" method="" siteId="{13085c86-4bcb-460a-a6f0-b373421c63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1608</Words>
  <Application>Microsoft Office PowerPoint</Application>
  <PresentationFormat>Widescreen</PresentationFormat>
  <Paragraphs>179</Paragraphs>
  <Slides>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9" baseType="lpstr">
      <vt:lpstr>Abadi</vt:lpstr>
      <vt:lpstr>Aptos</vt:lpstr>
      <vt:lpstr>Arial</vt:lpstr>
      <vt:lpstr>Calibri</vt:lpstr>
      <vt:lpstr>Calibri Light</vt:lpstr>
      <vt:lpstr>Dubai</vt:lpstr>
      <vt:lpstr>Gill Sans MT</vt:lpstr>
      <vt:lpstr>Manrope</vt:lpstr>
      <vt:lpstr>Manrope Light</vt:lpstr>
      <vt:lpstr>Manrope Medium</vt:lpstr>
      <vt:lpstr>Manrope SemiBold</vt:lpstr>
      <vt:lpstr>Segoe UI</vt:lpstr>
      <vt:lpstr>Office Theme</vt:lpstr>
      <vt:lpstr>5_Office Theme</vt:lpstr>
      <vt:lpstr>3_Office Theme</vt:lpstr>
      <vt:lpstr>4_Office Theme</vt:lpstr>
      <vt:lpstr>12_Office Theme</vt:lpstr>
      <vt:lpstr>8_Office Theme</vt:lpstr>
      <vt:lpstr>6_Office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Lakshmi Narayana Cherukuri</dc:creator>
  <cp:lastModifiedBy>Lakshmi Narayana Cherukuri</cp:lastModifiedBy>
  <cp:revision>21</cp:revision>
  <dcterms:created xsi:type="dcterms:W3CDTF">2023-10-29T11:09:19Z</dcterms:created>
  <dcterms:modified xsi:type="dcterms:W3CDTF">2026-03-05T11:52:31Z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0x010100F625C39AABBCD54FB9AF44ACF5B22BF1</vt:lpwstr>
  </property>
  <property fmtid="{D5CDD505-2E9C-101B-9397-08002B2CF9AE}" pid="3" name="MediaServiceImageTags">
    <vt:lpwstr/>
  </property>
</Properties>
</file>