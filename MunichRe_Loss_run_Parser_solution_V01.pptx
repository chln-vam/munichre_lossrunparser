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tags/tag6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7.xml" ContentType="application/vnd.openxmlformats-officedocument.theme+xml"/>
  <Override PartName="/ppt/tags/tag7.xml" ContentType="application/vnd.openxmlformats-officedocument.presentationml.tags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3" r:id="rId5"/>
    <p:sldMasterId id="2147483707" r:id="rId6"/>
    <p:sldMasterId id="2147483717" r:id="rId7"/>
    <p:sldMasterId id="2147483728" r:id="rId8"/>
    <p:sldMasterId id="2147483751" r:id="rId9"/>
    <p:sldMasterId id="2147483762" r:id="rId10"/>
  </p:sldMasterIdLst>
  <p:notesMasterIdLst>
    <p:notesMasterId r:id="rId15"/>
  </p:notesMasterIdLst>
  <p:sldIdLst>
    <p:sldId id="2147482658" r:id="rId11"/>
    <p:sldId id="2147482656" r:id="rId12"/>
    <p:sldId id="2147482659" r:id="rId13"/>
    <p:sldId id="21474826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E88847-E734-6A9A-41D7-326453EE662B}" name="Raghavendra Aithal" initials="RA" userId="S::raghavendra.aithal@valuemomentum.com::ab6804b4-a36f-4a58-aac4-29980ee4c1c5" providerId="AD"/>
  <p188:author id="{19A52666-C5F4-5F0E-5891-B1F76BDDC0A5}" name="SaiSurya Vamsi Sapireddy" initials="SS" userId="S::Vamsi.Sapireddy@valuemomentum.com::98105cfd-cd14-42c5-912d-10dfaf84a0f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D534"/>
    <a:srgbClr val="056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A38ED-1E5D-4FE5-9D14-CC358E30E8F1}" v="1" dt="2026-03-09T15:23:07.0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3447" autoAdjust="0"/>
  </p:normalViewPr>
  <p:slideViewPr>
    <p:cSldViewPr snapToGrid="0">
      <p:cViewPr varScale="1">
        <p:scale>
          <a:sx n="74" d="100"/>
          <a:sy n="74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Narayana Cherukuri" userId="047c11d5-947e-4cdf-aa93-4c586a277f72" providerId="ADAL" clId="{74754F0A-5D55-4D06-98B2-CEF3D6A838E8}"/>
    <pc:docChg chg="custSel addSld delSld modSld">
      <pc:chgData name="Lakshmi Narayana Cherukuri" userId="047c11d5-947e-4cdf-aa93-4c586a277f72" providerId="ADAL" clId="{74754F0A-5D55-4D06-98B2-CEF3D6A838E8}" dt="2026-03-09T15:24:15.093" v="42" actId="20577"/>
      <pc:docMkLst>
        <pc:docMk/>
      </pc:docMkLst>
      <pc:sldChg chg="del">
        <pc:chgData name="Lakshmi Narayana Cherukuri" userId="047c11d5-947e-4cdf-aa93-4c586a277f72" providerId="ADAL" clId="{74754F0A-5D55-4D06-98B2-CEF3D6A838E8}" dt="2026-03-09T15:23:14.044" v="1" actId="47"/>
        <pc:sldMkLst>
          <pc:docMk/>
          <pc:sldMk cId="0" sldId="277"/>
        </pc:sldMkLst>
      </pc:sldChg>
      <pc:sldChg chg="del">
        <pc:chgData name="Lakshmi Narayana Cherukuri" userId="047c11d5-947e-4cdf-aa93-4c586a277f72" providerId="ADAL" clId="{74754F0A-5D55-4D06-98B2-CEF3D6A838E8}" dt="2026-03-09T15:23:32.884" v="2" actId="47"/>
        <pc:sldMkLst>
          <pc:docMk/>
          <pc:sldMk cId="687198215" sldId="2147482654"/>
        </pc:sldMkLst>
      </pc:sldChg>
      <pc:sldChg chg="add">
        <pc:chgData name="Lakshmi Narayana Cherukuri" userId="047c11d5-947e-4cdf-aa93-4c586a277f72" providerId="ADAL" clId="{74754F0A-5D55-4D06-98B2-CEF3D6A838E8}" dt="2026-03-09T15:23:07.070" v="0"/>
        <pc:sldMkLst>
          <pc:docMk/>
          <pc:sldMk cId="3320525652" sldId="2147482656"/>
        </pc:sldMkLst>
      </pc:sldChg>
      <pc:sldChg chg="modSp mod">
        <pc:chgData name="Lakshmi Narayana Cherukuri" userId="047c11d5-947e-4cdf-aa93-4c586a277f72" providerId="ADAL" clId="{74754F0A-5D55-4D06-98B2-CEF3D6A838E8}" dt="2026-03-09T15:24:15.093" v="42" actId="20577"/>
        <pc:sldMkLst>
          <pc:docMk/>
          <pc:sldMk cId="1631035718" sldId="2147482657"/>
        </pc:sldMkLst>
        <pc:spChg chg="mod">
          <ac:chgData name="Lakshmi Narayana Cherukuri" userId="047c11d5-947e-4cdf-aa93-4c586a277f72" providerId="ADAL" clId="{74754F0A-5D55-4D06-98B2-CEF3D6A838E8}" dt="2026-03-09T15:24:15.093" v="42" actId="20577"/>
          <ac:spMkLst>
            <pc:docMk/>
            <pc:sldMk cId="1631035718" sldId="2147482657"/>
            <ac:spMk id="3" creationId="{0CBEC6C2-0338-78AF-E5AE-1DB76FB6F351}"/>
          </ac:spMkLst>
        </pc:spChg>
        <pc:spChg chg="mod">
          <ac:chgData name="Lakshmi Narayana Cherukuri" userId="047c11d5-947e-4cdf-aa93-4c586a277f72" providerId="ADAL" clId="{74754F0A-5D55-4D06-98B2-CEF3D6A838E8}" dt="2026-03-09T15:23:50.991" v="3" actId="313"/>
          <ac:spMkLst>
            <pc:docMk/>
            <pc:sldMk cId="1631035718" sldId="2147482657"/>
            <ac:spMk id="81" creationId="{9BB6DF7D-508B-FBF1-A509-D86335CA69E8}"/>
          </ac:spMkLst>
        </pc:spChg>
      </pc:sldChg>
      <pc:sldChg chg="add">
        <pc:chgData name="Lakshmi Narayana Cherukuri" userId="047c11d5-947e-4cdf-aa93-4c586a277f72" providerId="ADAL" clId="{74754F0A-5D55-4D06-98B2-CEF3D6A838E8}" dt="2026-03-09T15:23:07.070" v="0"/>
        <pc:sldMkLst>
          <pc:docMk/>
          <pc:sldMk cId="0" sldId="2147482658"/>
        </pc:sldMkLst>
      </pc:sldChg>
      <pc:sldChg chg="add">
        <pc:chgData name="Lakshmi Narayana Cherukuri" userId="047c11d5-947e-4cdf-aa93-4c586a277f72" providerId="ADAL" clId="{74754F0A-5D55-4D06-98B2-CEF3D6A838E8}" dt="2026-03-09T15:23:07.070" v="0"/>
        <pc:sldMkLst>
          <pc:docMk/>
          <pc:sldMk cId="3216161466" sldId="21474826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EE525-1013-4DE6-8653-4C4DD61DD0A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F36A7-C90F-4CF4-AC13-2BAF6F66A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45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72F823-FB13-4AD0-8C9E-1066A7422A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02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36A7-C90F-4CF4-AC13-2BAF6F66A1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35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User</a:t>
            </a:r>
            <a:r>
              <a:rPr lang="en-US" dirty="0"/>
              <a:t> – Business user uploads Loss Run files for processing.</a:t>
            </a:r>
          </a:p>
          <a:p>
            <a:r>
              <a:rPr lang="en-US" b="1" dirty="0"/>
              <a:t>Streamlit UI (Client Layer)</a:t>
            </a:r>
            <a:r>
              <a:rPr lang="en-US" dirty="0"/>
              <a:t> – Web interface used to upload files and initiate the parsing workflow.</a:t>
            </a:r>
          </a:p>
          <a:p>
            <a:r>
              <a:rPr lang="en-US" b="1" dirty="0"/>
              <a:t>Blob Storage Layer (Secure Storage)</a:t>
            </a:r>
            <a:r>
              <a:rPr lang="en-US" dirty="0"/>
              <a:t> – Uploaded files are securely stored before processing begins.</a:t>
            </a:r>
          </a:p>
          <a:p>
            <a:r>
              <a:rPr lang="en-US" b="1" dirty="0"/>
              <a:t>Python Processing Engine</a:t>
            </a:r>
            <a:r>
              <a:rPr lang="en-US" dirty="0"/>
              <a:t> – Core service that orchestrates file parsing and layout detection.</a:t>
            </a:r>
          </a:p>
          <a:p>
            <a:r>
              <a:rPr lang="en-US" b="1" dirty="0"/>
              <a:t>Excel Structure Analyzer</a:t>
            </a:r>
            <a:r>
              <a:rPr lang="en-US" dirty="0"/>
              <a:t> – Detects the file structure and identifies claim tables and relevant sections.</a:t>
            </a:r>
          </a:p>
          <a:p>
            <a:r>
              <a:rPr lang="en-US" b="1" dirty="0"/>
              <a:t>Raw Data Extraction (XLS → JSON)</a:t>
            </a:r>
            <a:r>
              <a:rPr lang="en-US" dirty="0"/>
              <a:t> – Extracts claim data from the file and converts it into structured JSON format.</a:t>
            </a:r>
          </a:p>
          <a:p>
            <a:r>
              <a:rPr lang="en-US" b="1" dirty="0"/>
              <a:t>Schema Mapping Engine (Configuration Driven)</a:t>
            </a:r>
            <a:r>
              <a:rPr lang="en-US" dirty="0"/>
              <a:t> – Applies configurable mappings to align extracted data with the target schema.</a:t>
            </a:r>
          </a:p>
          <a:p>
            <a:r>
              <a:rPr lang="en-US" b="1" dirty="0"/>
              <a:t>Post Processing / Normalization</a:t>
            </a:r>
            <a:r>
              <a:rPr lang="en-US" dirty="0"/>
              <a:t> – Cleans, standardizes, and prepares the data for downstream systems.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Human Review Portal</a:t>
            </a:r>
            <a:r>
              <a:rPr lang="en-US"/>
              <a:t> – Users review extracted values and validate or correct the parsed data.</a:t>
            </a:r>
            <a:endParaRPr lang="en-US" dirty="0"/>
          </a:p>
          <a:p>
            <a:r>
              <a:rPr lang="en-US" b="1" dirty="0"/>
              <a:t>Normalized Structured Data</a:t>
            </a:r>
            <a:r>
              <a:rPr lang="en-US" dirty="0"/>
              <a:t> – Final structured dataset ready for integration and storage.</a:t>
            </a:r>
          </a:p>
          <a:p>
            <a:r>
              <a:rPr lang="en-US" b="1" dirty="0"/>
              <a:t>Integration API Layer</a:t>
            </a:r>
            <a:r>
              <a:rPr lang="en-US" dirty="0"/>
              <a:t> – Exposes processed data to external systems through APIs.</a:t>
            </a:r>
          </a:p>
          <a:p>
            <a:r>
              <a:rPr lang="en-US" b="1" dirty="0"/>
              <a:t>Claims Domain Model</a:t>
            </a:r>
            <a:r>
              <a:rPr lang="en-US" dirty="0"/>
              <a:t> – Stores the normalized claims data in the canonical business data model.</a:t>
            </a:r>
          </a:p>
          <a:p>
            <a:r>
              <a:rPr lang="en-US" b="1" dirty="0"/>
              <a:t>Duck Creek / Guidewire</a:t>
            </a:r>
            <a:r>
              <a:rPr lang="en-US" dirty="0"/>
              <a:t> – Downstream insurance platforms consume the processed claims data.</a:t>
            </a:r>
          </a:p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36A7-C90F-4CF4-AC13-2BAF6F66A1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88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2C42A-F0FB-6903-B2AE-E7B70DEC0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808E9-EA8E-0E28-A7BB-01A0700B3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27512-C575-9B87-99ED-9AD49C7A8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DE0F9-2B9C-543E-CE67-B31E7BDE8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72F823-FB13-4AD0-8C9E-1066A7422A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024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0.jpeg"/><Relationship Id="rId3" Type="http://schemas.openxmlformats.org/officeDocument/2006/relationships/image" Target="../media/image17.svg"/><Relationship Id="rId21" Type="http://schemas.openxmlformats.org/officeDocument/2006/relationships/image" Target="../media/image33.png"/><Relationship Id="rId7" Type="http://schemas.microsoft.com/office/2007/relationships/hdphoto" Target="../media/hdphoto1.wdp"/><Relationship Id="rId12" Type="http://schemas.openxmlformats.org/officeDocument/2006/relationships/image" Target="../media/image25.png"/><Relationship Id="rId17" Type="http://schemas.openxmlformats.org/officeDocument/2006/relationships/image" Target="../media/image29.png"/><Relationship Id="rId2" Type="http://schemas.openxmlformats.org/officeDocument/2006/relationships/image" Target="../media/image16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24" Type="http://schemas.openxmlformats.org/officeDocument/2006/relationships/image" Target="../media/image36.png"/><Relationship Id="rId5" Type="http://schemas.openxmlformats.org/officeDocument/2006/relationships/image" Target="../media/image19.png"/><Relationship Id="rId15" Type="http://schemas.microsoft.com/office/2007/relationships/hdphoto" Target="../media/hdphoto2.wdp"/><Relationship Id="rId23" Type="http://schemas.openxmlformats.org/officeDocument/2006/relationships/image" Target="../media/image35.png"/><Relationship Id="rId10" Type="http://schemas.openxmlformats.org/officeDocument/2006/relationships/image" Target="../media/image23.png"/><Relationship Id="rId19" Type="http://schemas.openxmlformats.org/officeDocument/2006/relationships/image" Target="../media/image31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4.png"/></Relationships>
</file>

<file path=ppt/slideLayouts/_rels/slideLayout4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37.png"/><Relationship Id="rId21" Type="http://schemas.openxmlformats.org/officeDocument/2006/relationships/image" Target="../media/image32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image" Target="../media/image12.png"/><Relationship Id="rId16" Type="http://schemas.microsoft.com/office/2007/relationships/hdphoto" Target="../media/hdphoto2.wdp"/><Relationship Id="rId20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24" Type="http://schemas.openxmlformats.org/officeDocument/2006/relationships/image" Target="../media/image35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4.png"/><Relationship Id="rId10" Type="http://schemas.openxmlformats.org/officeDocument/2006/relationships/image" Target="../media/image22.png"/><Relationship Id="rId19" Type="http://schemas.openxmlformats.org/officeDocument/2006/relationships/image" Target="../media/image30.jpeg"/><Relationship Id="rId4" Type="http://schemas.openxmlformats.org/officeDocument/2006/relationships/image" Target="../media/image38.sv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3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659B-AD0E-1054-C0D3-AFF377B59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A51EA-2078-559B-B612-2476D1E94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EA665-72F7-1BAD-73EC-A315A8B53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12A90-6BF8-1E87-9AD2-93671B93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98228-8EC4-3CD8-869F-BB946016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1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7A49-24CA-EFAF-BBC2-689CC182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8A4BC-05F5-E91E-6528-86BDF2D89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FE548-0BF3-0681-242F-B98D42CE4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DFA33-9734-FC17-F375-AFF3CC71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5C657-F48A-8A18-F6DA-925B6FE2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5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C38E-3205-C4E0-C14C-439F1DFA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61F02-F73B-8310-06C5-5C29EDCCB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3C11A-F2E5-49F4-CEF6-904EE8CC0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351F2-79B2-BD30-DD04-D4930EEA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AF288-F668-DD0C-D7FC-E36D7B4F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5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795A-E1DD-C314-C9BD-794845CF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6AB41-3BB6-077A-50B8-3DDFABBE1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96C0F-D64C-0FAE-52CE-16A2FF000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39184-3BE5-0816-1C30-94E7B28F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22738-A92D-0BDB-A2D5-836C8A18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809CD-375F-1183-0C7B-84E646CC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99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2FA0-1903-7A07-495C-00336DE5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2C4AB-9133-8433-AD59-663819A5D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894BE-3E70-3FC3-D6BE-8573BDD4D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88E56-C796-3FAD-FB43-AD3673CBE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0EF652-07BE-C16F-FCF9-14163CA43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42299A-AE1B-EE17-64E9-DEA77F7B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E6DBD-6E4D-F1D0-2EF4-3F38001D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AF288-A582-8FED-77CC-0FF1EAE4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4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8366-1FF0-D948-3A7A-4B415A29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A03ED-A87A-E5DF-67D8-62191805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C123A-55F9-E214-D5E0-AFE3E38F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5472A-2095-C4E6-73C6-32F48C44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1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4C654-A8F9-7B66-87A5-34176709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FCC0C-19A2-A2F7-EF7A-4274CE0C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F26CB-1169-4356-22B6-DC67BAE4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green and blue logo&#10;&#10;Description automatically generated">
            <a:extLst>
              <a:ext uri="{FF2B5EF4-FFF2-40B4-BE49-F238E27FC236}">
                <a16:creationId xmlns:a16="http://schemas.microsoft.com/office/drawing/2014/main" id="{513DFC10-2E36-8FC3-B87F-FB0AC6B551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000" y="62436"/>
            <a:ext cx="985373" cy="20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8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BF86-9FAF-6723-8569-3598143E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1D4F-E410-7601-376E-8CCA1244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20FC0-AE27-AA88-1963-76282FBF4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3835B-795D-AA28-90F3-C268553C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10B03-8BE1-6924-B118-B90BFEE6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0F33E-45C9-272A-7CAB-8BAE4CF3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2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C002-FA9E-CDDE-415E-EF1C475B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2EE72-F99A-DC34-2283-D2D0C3F55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52312-CE28-9DED-3806-5FFCF33A4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B3759-9033-9AD0-109D-122D9CA6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BAC85-A4CE-0E09-2B1F-DD18D9B54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17DAA-3C93-D1E2-DC0A-E654574D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0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13FF-C9CF-EFE7-373D-0845BACE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01D59-8DFB-36BC-6233-8DD6AC706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E0816-A636-964C-FC9A-2DD7FA5A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22F2C-7AF1-A1E5-E1B5-B9E889F4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850DD-7CDA-2414-F386-D24A48AB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2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0E0413-6C17-6229-07CF-C11CE48C7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776C7-E8B8-0274-8023-DB2C6E64A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D11A7-7471-A352-F723-79F31B1E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4A938-981B-0E3D-B1DF-51B8FBDA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D878-ECC6-2C9B-93E8-E1287C45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8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905A7E-29AB-9947-F7A2-CDA50A4E545A}"/>
              </a:ext>
            </a:extLst>
          </p:cNvPr>
          <p:cNvSpPr/>
          <p:nvPr userDrawn="1"/>
        </p:nvSpPr>
        <p:spPr>
          <a:xfrm>
            <a:off x="0" y="206188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637CB-8E9A-BA4B-D551-B90A05FD4900}"/>
              </a:ext>
            </a:extLst>
          </p:cNvPr>
          <p:cNvSpPr/>
          <p:nvPr userDrawn="1"/>
        </p:nvSpPr>
        <p:spPr>
          <a:xfrm>
            <a:off x="-1" y="5548871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riangle 1">
            <a:extLst>
              <a:ext uri="{FF2B5EF4-FFF2-40B4-BE49-F238E27FC236}">
                <a16:creationId xmlns:a16="http://schemas.microsoft.com/office/drawing/2014/main" id="{0908E45D-2D2E-5AD9-D89E-804D8689326A}"/>
              </a:ext>
            </a:extLst>
          </p:cNvPr>
          <p:cNvSpPr/>
          <p:nvPr userDrawn="1"/>
        </p:nvSpPr>
        <p:spPr>
          <a:xfrm>
            <a:off x="5283196" y="28748"/>
            <a:ext cx="6908800" cy="6858000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056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CD8C36-2A9D-2F81-4DF5-E62CEDA8292A}"/>
              </a:ext>
            </a:extLst>
          </p:cNvPr>
          <p:cNvGrpSpPr/>
          <p:nvPr userDrawn="1"/>
        </p:nvGrpSpPr>
        <p:grpSpPr>
          <a:xfrm>
            <a:off x="7782915" y="2359949"/>
            <a:ext cx="4409085" cy="4498052"/>
            <a:chOff x="11674372" y="3539922"/>
            <a:chExt cx="6613628" cy="6795452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CF3DC7E-278A-ADA1-14A5-3D6151D1D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20734" b="1865"/>
            <a:stretch>
              <a:fillRect/>
            </a:stretch>
          </p:blipFill>
          <p:spPr>
            <a:xfrm>
              <a:off x="11674372" y="3539922"/>
              <a:ext cx="6613628" cy="6795452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B4EB811-63B4-9ADE-743C-21D2100F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716000" y="7886700"/>
              <a:ext cx="4113162" cy="1828800"/>
            </a:xfrm>
            <a:prstGeom prst="rect">
              <a:avLst/>
            </a:prstGeom>
          </p:spPr>
        </p:pic>
      </p:grpSp>
      <p:sp>
        <p:nvSpPr>
          <p:cNvPr id="7" name="Triangle 1">
            <a:extLst>
              <a:ext uri="{FF2B5EF4-FFF2-40B4-BE49-F238E27FC236}">
                <a16:creationId xmlns:a16="http://schemas.microsoft.com/office/drawing/2014/main" id="{66EB9A3D-82B0-9EED-6AD6-E29880F7D4ED}"/>
              </a:ext>
            </a:extLst>
          </p:cNvPr>
          <p:cNvSpPr/>
          <p:nvPr userDrawn="1"/>
        </p:nvSpPr>
        <p:spPr>
          <a:xfrm>
            <a:off x="11064876" y="5820023"/>
            <a:ext cx="1127125" cy="1037977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3FD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2BC4E1CE-C266-648D-CEB9-DFC944D5EE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111376"/>
            <a:ext cx="5214409" cy="185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34" b="0" i="0">
                <a:solidFill>
                  <a:srgbClr val="056BFC"/>
                </a:solidFill>
                <a:latin typeface="Manrope Medium" pitchFamily="2" charset="0"/>
              </a:defRPr>
            </a:lvl1pPr>
          </a:lstStyle>
          <a:p>
            <a:pPr lvl="0"/>
            <a:r>
              <a:rPr lang="en-US"/>
              <a:t>Title Slide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678EE49A-9B2E-D124-1079-7C2B56757FB5}"/>
              </a:ext>
            </a:extLst>
          </p:cNvPr>
          <p:cNvSpPr/>
          <p:nvPr userDrawn="1"/>
        </p:nvSpPr>
        <p:spPr>
          <a:xfrm>
            <a:off x="685800" y="427969"/>
            <a:ext cx="2351672" cy="923031"/>
          </a:xfrm>
          <a:custGeom>
            <a:avLst/>
            <a:gdLst/>
            <a:ahLst/>
            <a:cxnLst/>
            <a:rect l="l" t="t" r="r" b="b"/>
            <a:pathLst>
              <a:path w="3527508" h="1384547">
                <a:moveTo>
                  <a:pt x="0" y="0"/>
                </a:moveTo>
                <a:lnTo>
                  <a:pt x="3527508" y="0"/>
                </a:lnTo>
                <a:lnTo>
                  <a:pt x="3527508" y="1384547"/>
                </a:lnTo>
                <a:lnTo>
                  <a:pt x="0" y="1384547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067731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4022056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994915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797013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4128250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9D2DCF-E028-665D-D0E2-7328332D33EE}"/>
              </a:ext>
            </a:extLst>
          </p:cNvPr>
          <p:cNvSpPr/>
          <p:nvPr userDrawn="1"/>
        </p:nvSpPr>
        <p:spPr>
          <a:xfrm>
            <a:off x="-1" y="5534561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7427AE-35B9-ED93-C9C7-9438A9A5543D}"/>
              </a:ext>
            </a:extLst>
          </p:cNvPr>
          <p:cNvSpPr/>
          <p:nvPr userDrawn="1"/>
        </p:nvSpPr>
        <p:spPr>
          <a:xfrm>
            <a:off x="0" y="206188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0CF2A-875F-76FC-5062-588EA20A77F3}"/>
              </a:ext>
            </a:extLst>
          </p:cNvPr>
          <p:cNvSpPr>
            <a:spLocks noChangeAspect="1"/>
          </p:cNvSpPr>
          <p:nvPr userDrawn="1"/>
        </p:nvSpPr>
        <p:spPr>
          <a:xfrm>
            <a:off x="4114800" y="0"/>
            <a:ext cx="80772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CB774E8-C792-4949-7B85-67A3DDD5995E}"/>
              </a:ext>
            </a:extLst>
          </p:cNvPr>
          <p:cNvSpPr/>
          <p:nvPr userDrawn="1"/>
        </p:nvSpPr>
        <p:spPr>
          <a:xfrm>
            <a:off x="685800" y="427969"/>
            <a:ext cx="2351672" cy="923031"/>
          </a:xfrm>
          <a:custGeom>
            <a:avLst/>
            <a:gdLst/>
            <a:ahLst/>
            <a:cxnLst/>
            <a:rect l="l" t="t" r="r" b="b"/>
            <a:pathLst>
              <a:path w="3527508" h="1384547">
                <a:moveTo>
                  <a:pt x="0" y="0"/>
                </a:moveTo>
                <a:lnTo>
                  <a:pt x="3527508" y="0"/>
                </a:lnTo>
                <a:lnTo>
                  <a:pt x="3527508" y="1384547"/>
                </a:lnTo>
                <a:lnTo>
                  <a:pt x="0" y="1384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9FA60B3-300B-24CF-72E2-4B898CA98659}"/>
              </a:ext>
            </a:extLst>
          </p:cNvPr>
          <p:cNvSpPr txBox="1"/>
          <p:nvPr userDrawn="1"/>
        </p:nvSpPr>
        <p:spPr>
          <a:xfrm>
            <a:off x="4521200" y="1193800"/>
            <a:ext cx="4876800" cy="631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00"/>
              </a:lnSpc>
            </a:pPr>
            <a:r>
              <a:rPr lang="en-US" sz="2923" b="1" kern="0">
                <a:solidFill>
                  <a:srgbClr val="056BFC"/>
                </a:solidFill>
                <a:latin typeface="Manrope" pitchFamily="2" charset="0"/>
                <a:sym typeface="Avenir Bold"/>
              </a:rPr>
              <a:t>TABLE OF CONTENTS 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B85F75C-BCAD-CFE3-2D1B-A27015A51A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2067984"/>
            <a:ext cx="1567392" cy="372321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3600" b="1" i="0">
                <a:solidFill>
                  <a:srgbClr val="056BFC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25E5274-64C2-1BA2-8E14-6A362CFD95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21200" y="2067983"/>
            <a:ext cx="3795486" cy="372321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3600" b="1" i="0">
                <a:solidFill>
                  <a:schemeClr val="tx1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Item</a:t>
            </a:r>
          </a:p>
          <a:p>
            <a:pPr lvl="0"/>
            <a:r>
              <a:rPr lang="en-US"/>
              <a:t>Item</a:t>
            </a:r>
          </a:p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7348886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70785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9991349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716062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6065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6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0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6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5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0" y="280691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7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0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6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6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89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5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4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5" y="278635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2" y="374319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5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374494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188847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54078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2C57D-42D1-D4FB-3BDB-43DB486C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D66BE-23BD-0262-2673-147E771FB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BEC3-1605-9572-C140-59836EAA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8BD5-0374-4438-9AA1-4435DD1220F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FF3BC-756C-F657-2A57-B095FB48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C90A-CCDC-EE59-43E3-D2307FF5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5BCE-78B7-407D-9B54-5A7C4E4A1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314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0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1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33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458297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7143646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41476794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3521425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6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0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6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5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0" y="280691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7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0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6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6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89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5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4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5" y="278635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2" y="374319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5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818965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011403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682358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2"/>
            <a:ext cx="1036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5536A0-44D9-A442-2598-495669FC98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8342984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8048947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2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2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504251-7D41-26B9-12D6-B60BF35A1F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1910190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760911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1210091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97EFEB26-929D-7DEA-04AA-171CD8CDDC0F}"/>
              </a:ext>
            </a:extLst>
          </p:cNvPr>
          <p:cNvSpPr/>
          <p:nvPr userDrawn="1"/>
        </p:nvSpPr>
        <p:spPr>
          <a:xfrm>
            <a:off x="342632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F63D2A46-C77F-63C3-5900-949FA936B41F}"/>
              </a:ext>
            </a:extLst>
          </p:cNvPr>
          <p:cNvSpPr/>
          <p:nvPr userDrawn="1"/>
        </p:nvSpPr>
        <p:spPr>
          <a:xfrm>
            <a:off x="342632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24A0215C-A7DD-A167-922E-581085EB1710}"/>
              </a:ext>
            </a:extLst>
          </p:cNvPr>
          <p:cNvSpPr/>
          <p:nvPr userDrawn="1"/>
        </p:nvSpPr>
        <p:spPr>
          <a:xfrm>
            <a:off x="6214969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0C458B0E-2691-88B6-303A-D9C381AAE928}"/>
              </a:ext>
            </a:extLst>
          </p:cNvPr>
          <p:cNvSpPr/>
          <p:nvPr userDrawn="1"/>
        </p:nvSpPr>
        <p:spPr>
          <a:xfrm>
            <a:off x="6214969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079F743-04B8-4D59-841E-8D3904F2322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2311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4AB4A42-075B-51DA-48BA-67E72705BA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577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5451E0-A358-62C5-D532-F5AAD522D8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1190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D5B7238B-5AEA-434D-C3B3-E185475AAB4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2311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14FE4E9-9D77-DC36-650D-3E0448784E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577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FF53134-BB33-3097-C00A-F8C7F86271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1190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09B0CC2-B229-6628-921E-BD3419E6087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87277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C07B648-FBF2-67F4-A066-5B01419878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44543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69651-FAEA-548D-5533-52A7C26150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6156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7746F1-3CB1-FE6D-22F3-140D6FD81EA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787277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050F89B-5D8A-4B0E-F8C6-92E4BA075C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44543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BC277F03-5E96-92EF-FAA1-3C5E05D309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6156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11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97EFEB26-929D-7DEA-04AA-171CD8CDDC0F}"/>
              </a:ext>
            </a:extLst>
          </p:cNvPr>
          <p:cNvSpPr/>
          <p:nvPr userDrawn="1"/>
        </p:nvSpPr>
        <p:spPr>
          <a:xfrm>
            <a:off x="342632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B7EFB3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F63D2A46-C77F-63C3-5900-949FA936B41F}"/>
              </a:ext>
            </a:extLst>
          </p:cNvPr>
          <p:cNvSpPr/>
          <p:nvPr userDrawn="1"/>
        </p:nvSpPr>
        <p:spPr>
          <a:xfrm>
            <a:off x="342632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DFF8DD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24A0215C-A7DD-A167-922E-581085EB1710}"/>
              </a:ext>
            </a:extLst>
          </p:cNvPr>
          <p:cNvSpPr/>
          <p:nvPr userDrawn="1"/>
        </p:nvSpPr>
        <p:spPr>
          <a:xfrm>
            <a:off x="6214969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DFF8DD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0C458B0E-2691-88B6-303A-D9C381AAE928}"/>
              </a:ext>
            </a:extLst>
          </p:cNvPr>
          <p:cNvSpPr/>
          <p:nvPr userDrawn="1"/>
        </p:nvSpPr>
        <p:spPr>
          <a:xfrm>
            <a:off x="6214969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B7EFB3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079F743-04B8-4D59-841E-8D3904F2322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2311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4AB4A42-075B-51DA-48BA-67E72705BA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577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5451E0-A358-62C5-D532-F5AAD522D8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1190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D5B7238B-5AEA-434D-C3B3-E185475AAB4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2311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14FE4E9-9D77-DC36-650D-3E0448784E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577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FF53134-BB33-3097-C00A-F8C7F86271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1190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09B0CC2-B229-6628-921E-BD3419E6087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87277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C07B648-FBF2-67F4-A066-5B01419878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44543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69651-FAEA-548D-5533-52A7C26150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6156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7746F1-3CB1-FE6D-22F3-140D6FD81EA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787277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050F89B-5D8A-4B0E-F8C6-92E4BA075C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44543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BC277F03-5E96-92EF-FAA1-3C5E05D309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6156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323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40663B2B-0A85-1C48-970B-5230088F2D28}"/>
              </a:ext>
            </a:extLst>
          </p:cNvPr>
          <p:cNvGrpSpPr/>
          <p:nvPr userDrawn="1"/>
        </p:nvGrpSpPr>
        <p:grpSpPr>
          <a:xfrm>
            <a:off x="456844" y="1371600"/>
            <a:ext cx="11278314" cy="1447800"/>
            <a:chOff x="609600" y="2336800"/>
            <a:chExt cx="15049500" cy="1930400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BB070F07-0A58-C3B2-569A-94C996783F01}"/>
                </a:ext>
              </a:extLst>
            </p:cNvPr>
            <p:cNvSpPr/>
            <p:nvPr/>
          </p:nvSpPr>
          <p:spPr>
            <a:xfrm>
              <a:off x="6096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9CC5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66DEABB8-C88B-D64F-6175-4E5D3182FF39}"/>
                </a:ext>
              </a:extLst>
            </p:cNvPr>
            <p:cNvSpPr/>
            <p:nvPr/>
          </p:nvSpPr>
          <p:spPr>
            <a:xfrm>
              <a:off x="43688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CFE2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84BE99-43EF-CCEC-E6D6-9230B0D53B7D}"/>
                </a:ext>
              </a:extLst>
            </p:cNvPr>
            <p:cNvSpPr/>
            <p:nvPr/>
          </p:nvSpPr>
          <p:spPr>
            <a:xfrm>
              <a:off x="81407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9CC5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615CC5D-504B-528A-ECD5-079617294AD6}"/>
                </a:ext>
              </a:extLst>
            </p:cNvPr>
            <p:cNvSpPr/>
            <p:nvPr/>
          </p:nvSpPr>
          <p:spPr>
            <a:xfrm>
              <a:off x="118999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CFE2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31" name="Picture Placeholder 14">
            <a:extLst>
              <a:ext uri="{FF2B5EF4-FFF2-40B4-BE49-F238E27FC236}">
                <a16:creationId xmlns:a16="http://schemas.microsoft.com/office/drawing/2014/main" id="{3FC88AF6-64DE-663E-793D-9EC2920E84B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47094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C56DE8A1-5E6B-74A4-A670-C0F931D173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1E6D71F5-E3B5-8F9F-F2F9-7D3660D585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45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14085669-D3E2-F787-AF9B-27F3922F93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16575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6D82C2BB-23B7-2D30-65F6-A20F0FCAF0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5468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0C5A5843-D116-A910-4554-0EF9254DCD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55474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7" name="Picture Placeholder 14">
            <a:extLst>
              <a:ext uri="{FF2B5EF4-FFF2-40B4-BE49-F238E27FC236}">
                <a16:creationId xmlns:a16="http://schemas.microsoft.com/office/drawing/2014/main" id="{C0D734D6-3D2C-14D2-BBDF-8F2ED9DE2C4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4737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14FA1EED-CAAE-F5A0-C33D-C3F2E56A12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5284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4D1743D9-5FBD-1E60-E616-FAE8F2FFFD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219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40" name="Picture Placeholder 14">
            <a:extLst>
              <a:ext uri="{FF2B5EF4-FFF2-40B4-BE49-F238E27FC236}">
                <a16:creationId xmlns:a16="http://schemas.microsoft.com/office/drawing/2014/main" id="{6929C21D-2633-DDE9-C39B-845539752C5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093249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4BA2FCB-D906-6934-BF57-C9E0D2B4EF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135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EA9F3B5-CD29-E3E8-9A26-B6D4E160DE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36796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247A7FF-A5C8-15CF-5D6F-D6DC50D4C54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0840427"/>
              </p:ext>
            </p:extLst>
          </p:nvPr>
        </p:nvGraphicFramePr>
        <p:xfrm>
          <a:off x="456843" y="1371601"/>
          <a:ext cx="11278312" cy="484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578">
                  <a:extLst>
                    <a:ext uri="{9D8B030D-6E8A-4147-A177-3AD203B41FA5}">
                      <a16:colId xmlns:a16="http://schemas.microsoft.com/office/drawing/2014/main" val="431924042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52983817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2562294899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266032356"/>
                    </a:ext>
                  </a:extLst>
                </a:gridCol>
              </a:tblGrid>
              <a:tr h="142875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6798"/>
                  </a:ext>
                </a:extLst>
              </a:tr>
              <a:tr h="70310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426285"/>
                  </a:ext>
                </a:extLst>
              </a:tr>
              <a:tr h="2715079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19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0933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40663B2B-0A85-1C48-970B-5230088F2D28}"/>
              </a:ext>
            </a:extLst>
          </p:cNvPr>
          <p:cNvGrpSpPr/>
          <p:nvPr userDrawn="1"/>
        </p:nvGrpSpPr>
        <p:grpSpPr>
          <a:xfrm>
            <a:off x="456844" y="1371600"/>
            <a:ext cx="11278314" cy="1447800"/>
            <a:chOff x="609600" y="2336800"/>
            <a:chExt cx="15049500" cy="1930400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BB070F07-0A58-C3B2-569A-94C996783F01}"/>
                </a:ext>
              </a:extLst>
            </p:cNvPr>
            <p:cNvSpPr/>
            <p:nvPr/>
          </p:nvSpPr>
          <p:spPr>
            <a:xfrm>
              <a:off x="6096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8FE68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66DEABB8-C88B-D64F-6175-4E5D3182FF39}"/>
                </a:ext>
              </a:extLst>
            </p:cNvPr>
            <p:cNvSpPr/>
            <p:nvPr/>
          </p:nvSpPr>
          <p:spPr>
            <a:xfrm>
              <a:off x="43688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B7EFB3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84BE99-43EF-CCEC-E6D6-9230B0D53B7D}"/>
                </a:ext>
              </a:extLst>
            </p:cNvPr>
            <p:cNvSpPr/>
            <p:nvPr/>
          </p:nvSpPr>
          <p:spPr>
            <a:xfrm>
              <a:off x="81407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8FE68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615CC5D-504B-528A-ECD5-079617294AD6}"/>
                </a:ext>
              </a:extLst>
            </p:cNvPr>
            <p:cNvSpPr/>
            <p:nvPr/>
          </p:nvSpPr>
          <p:spPr>
            <a:xfrm>
              <a:off x="118999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B7EFB3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31" name="Picture Placeholder 14">
            <a:extLst>
              <a:ext uri="{FF2B5EF4-FFF2-40B4-BE49-F238E27FC236}">
                <a16:creationId xmlns:a16="http://schemas.microsoft.com/office/drawing/2014/main" id="{3FC88AF6-64DE-663E-793D-9EC2920E84B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47094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C56DE8A1-5E6B-74A4-A670-C0F931D173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1E6D71F5-E3B5-8F9F-F2F9-7D3660D585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45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14085669-D3E2-F787-AF9B-27F3922F93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16575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6D82C2BB-23B7-2D30-65F6-A20F0FCAF0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5468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0C5A5843-D116-A910-4554-0EF9254DCD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55474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7" name="Picture Placeholder 14">
            <a:extLst>
              <a:ext uri="{FF2B5EF4-FFF2-40B4-BE49-F238E27FC236}">
                <a16:creationId xmlns:a16="http://schemas.microsoft.com/office/drawing/2014/main" id="{C0D734D6-3D2C-14D2-BBDF-8F2ED9DE2C4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4737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14FA1EED-CAAE-F5A0-C33D-C3F2E56A12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5284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4D1743D9-5FBD-1E60-E616-FAE8F2FFFD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219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40" name="Picture Placeholder 14">
            <a:extLst>
              <a:ext uri="{FF2B5EF4-FFF2-40B4-BE49-F238E27FC236}">
                <a16:creationId xmlns:a16="http://schemas.microsoft.com/office/drawing/2014/main" id="{6929C21D-2633-DDE9-C39B-845539752C5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093249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4BA2FCB-D906-6934-BF57-C9E0D2B4EF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135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EA9F3B5-CD29-E3E8-9A26-B6D4E160DE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36796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247A7FF-A5C8-15CF-5D6F-D6DC50D4C54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5747665"/>
              </p:ext>
            </p:extLst>
          </p:nvPr>
        </p:nvGraphicFramePr>
        <p:xfrm>
          <a:off x="456843" y="1371601"/>
          <a:ext cx="11278312" cy="484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578">
                  <a:extLst>
                    <a:ext uri="{9D8B030D-6E8A-4147-A177-3AD203B41FA5}">
                      <a16:colId xmlns:a16="http://schemas.microsoft.com/office/drawing/2014/main" val="431924042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52983817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2562294899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266032356"/>
                    </a:ext>
                  </a:extLst>
                </a:gridCol>
              </a:tblGrid>
              <a:tr h="142875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6798"/>
                  </a:ext>
                </a:extLst>
              </a:tr>
              <a:tr h="70310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426285"/>
                  </a:ext>
                </a:extLst>
              </a:tr>
              <a:tr h="2715079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19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1238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7ED4BD36-9BED-4EF7-FD63-7320A60B027E}"/>
              </a:ext>
            </a:extLst>
          </p:cNvPr>
          <p:cNvSpPr/>
          <p:nvPr userDrawn="1"/>
        </p:nvSpPr>
        <p:spPr>
          <a:xfrm>
            <a:off x="456844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D3528154-C6CC-1D75-61D2-E17233D42A69}"/>
              </a:ext>
            </a:extLst>
          </p:cNvPr>
          <p:cNvSpPr/>
          <p:nvPr userDrawn="1"/>
        </p:nvSpPr>
        <p:spPr>
          <a:xfrm>
            <a:off x="3340666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C8D881E6-CB0C-8DFC-220D-1A106C7B580F}"/>
              </a:ext>
            </a:extLst>
          </p:cNvPr>
          <p:cNvSpPr/>
          <p:nvPr userDrawn="1"/>
        </p:nvSpPr>
        <p:spPr>
          <a:xfrm>
            <a:off x="6224488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391B23FA-5326-F016-A184-5D42706A5BBB}"/>
              </a:ext>
            </a:extLst>
          </p:cNvPr>
          <p:cNvSpPr/>
          <p:nvPr userDrawn="1"/>
        </p:nvSpPr>
        <p:spPr>
          <a:xfrm>
            <a:off x="9098792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86B13-312F-6BCC-EF2B-6B1B2C3F56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0834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B60A92-8217-9A1F-FA1F-3293C69F9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585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C95ED58-4035-0CB3-9C2C-CB40CAB45B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585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762E2364-A71C-57A7-2115-0D99572878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57824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10BD5D9-0129-0EC1-4E38-0BE895D35B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284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718D087-76DF-0390-7D59-28017076AD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284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F3EE2BC-36EA-0BFC-A7AA-8896DACCBAC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5936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727C2525-E438-09B6-8228-7483CCB9B8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3095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ADEA212-96D9-0D66-7B5E-8CD0B440C0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3095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1048E5E5-744A-3FD7-322B-C47A39F599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0180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9747BBB-B0E9-F296-45A2-FDCF243EC4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3519C241-1ADE-CCEB-855C-1316E0E85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5200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106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7ED4BD36-9BED-4EF7-FD63-7320A60B027E}"/>
              </a:ext>
            </a:extLst>
          </p:cNvPr>
          <p:cNvSpPr/>
          <p:nvPr userDrawn="1"/>
        </p:nvSpPr>
        <p:spPr>
          <a:xfrm>
            <a:off x="456844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D3528154-C6CC-1D75-61D2-E17233D42A69}"/>
              </a:ext>
            </a:extLst>
          </p:cNvPr>
          <p:cNvSpPr/>
          <p:nvPr userDrawn="1"/>
        </p:nvSpPr>
        <p:spPr>
          <a:xfrm>
            <a:off x="3340666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C8D881E6-CB0C-8DFC-220D-1A106C7B580F}"/>
              </a:ext>
            </a:extLst>
          </p:cNvPr>
          <p:cNvSpPr/>
          <p:nvPr userDrawn="1"/>
        </p:nvSpPr>
        <p:spPr>
          <a:xfrm>
            <a:off x="6224488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391B23FA-5326-F016-A184-5D42706A5BBB}"/>
              </a:ext>
            </a:extLst>
          </p:cNvPr>
          <p:cNvSpPr/>
          <p:nvPr userDrawn="1"/>
        </p:nvSpPr>
        <p:spPr>
          <a:xfrm>
            <a:off x="9098792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86B13-312F-6BCC-EF2B-6B1B2C3F56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0834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B60A92-8217-9A1F-FA1F-3293C69F9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585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C95ED58-4035-0CB3-9C2C-CB40CAB45B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585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762E2364-A71C-57A7-2115-0D99572878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57824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10BD5D9-0129-0EC1-4E38-0BE895D35B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284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718D087-76DF-0390-7D59-28017076AD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284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F3EE2BC-36EA-0BFC-A7AA-8896DACCBAC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5936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727C2525-E438-09B6-8228-7483CCB9B8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3095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ADEA212-96D9-0D66-7B5E-8CD0B440C0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3095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1048E5E5-744A-3FD7-322B-C47A39F599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0180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9747BBB-B0E9-F296-45A2-FDCF243EC4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3519C241-1ADE-CCEB-855C-1316E0E85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5200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459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153DAD-FC8D-9228-FBE7-0F7A6FB642AF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A3467-0FE6-771E-9E01-270A158C8AC0}"/>
              </a:ext>
            </a:extLst>
          </p:cNvPr>
          <p:cNvSpPr txBox="1"/>
          <p:nvPr userDrawn="1"/>
        </p:nvSpPr>
        <p:spPr>
          <a:xfrm>
            <a:off x="104374" y="6572252"/>
            <a:ext cx="2279791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9" b="0" i="0">
                <a:solidFill>
                  <a:schemeClr val="bg1"/>
                </a:solidFill>
                <a:latin typeface="Manrope Medium" pitchFamily="2" charset="0"/>
              </a:rPr>
              <a:t>Let’s insure the future. Together.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F4A9E2E-C2B4-1AF9-A1A8-F2CA7B67B7E6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6EB84D5F-92F1-5A21-5DC6-F0E8DB517CD0}"/>
              </a:ext>
            </a:extLst>
          </p:cNvPr>
          <p:cNvSpPr/>
          <p:nvPr userDrawn="1"/>
        </p:nvSpPr>
        <p:spPr>
          <a:xfrm>
            <a:off x="0" y="6505576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9DBB2E-214B-DBD2-3EB3-ABF899460A07}"/>
              </a:ext>
            </a:extLst>
          </p:cNvPr>
          <p:cNvSpPr txBox="1"/>
          <p:nvPr userDrawn="1"/>
        </p:nvSpPr>
        <p:spPr>
          <a:xfrm>
            <a:off x="354814" y="1539845"/>
            <a:ext cx="4085130" cy="156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8">
                <a:solidFill>
                  <a:srgbClr val="0253D2"/>
                </a:solidFill>
                <a:latin typeface="Manrope Light" pitchFamily="2" charset="0"/>
              </a:rPr>
              <a:t>Insuring the future </a:t>
            </a:r>
            <a:r>
              <a:rPr lang="en-US" sz="2398">
                <a:latin typeface="Manrope Light" pitchFamily="2" charset="0"/>
              </a:rPr>
              <a:t>with global, national, and regional insurers since 2000.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97EFB2E3-6C32-DF09-0251-754B38FBAB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550" b="33715"/>
          <a:stretch>
            <a:fillRect/>
          </a:stretch>
        </p:blipFill>
        <p:spPr>
          <a:xfrm>
            <a:off x="354815" y="2408757"/>
            <a:ext cx="6225495" cy="382153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26C12B8-2AF6-F25A-7A4C-DF2F5D249085}"/>
              </a:ext>
            </a:extLst>
          </p:cNvPr>
          <p:cNvSpPr txBox="1"/>
          <p:nvPr userDrawn="1"/>
        </p:nvSpPr>
        <p:spPr>
          <a:xfrm>
            <a:off x="2212835" y="380053"/>
            <a:ext cx="2044149" cy="415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98" b="1" i="0">
                <a:solidFill>
                  <a:srgbClr val="0153D2"/>
                </a:solidFill>
                <a:latin typeface="Manrope SemiBold" pitchFamily="2" charset="0"/>
              </a:rPr>
              <a:t>Who We Serve</a:t>
            </a:r>
          </a:p>
        </p:txBody>
      </p:sp>
      <p:pic>
        <p:nvPicPr>
          <p:cNvPr id="36" name="Picture 2" descr="Image result for pekin insurance logo png">
            <a:extLst>
              <a:ext uri="{FF2B5EF4-FFF2-40B4-BE49-F238E27FC236}">
                <a16:creationId xmlns:a16="http://schemas.microsoft.com/office/drawing/2014/main" id="{7CD4846B-2269-884D-71F9-C40C1A19F9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32206" y="3364718"/>
            <a:ext cx="1727588" cy="51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D68B525-D122-AAC2-A78E-020D26E1B5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5859" y="3318357"/>
            <a:ext cx="1392827" cy="62246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912BDE3-BD2A-F7E8-5505-43DDA666785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7445" y="3461340"/>
            <a:ext cx="1520220" cy="32336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B01FF46-4F4E-D408-746C-5D73D9F6E02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9726" y="4400550"/>
            <a:ext cx="1610994" cy="47297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21548DC-EB79-C66D-8BC0-028DAA713F2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8844" y="5364830"/>
            <a:ext cx="1840930" cy="30338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BECD29D-7898-9CB8-2F6D-F0AE45048DD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2207" y="1580646"/>
            <a:ext cx="1255285" cy="58324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5ADA74E-A1A1-28AB-9334-F4D23D5771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1670" r="20310"/>
          <a:stretch/>
        </p:blipFill>
        <p:spPr>
          <a:xfrm>
            <a:off x="8384408" y="4218587"/>
            <a:ext cx="964208" cy="68726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FDBCF6F-6447-2DAB-F32C-DF369914688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2208" y="5177687"/>
            <a:ext cx="693462" cy="67767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42D79D7-59B5-5C76-3906-C92D8879124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13377" y="5378390"/>
            <a:ext cx="1760343" cy="303384"/>
          </a:xfrm>
          <a:prstGeom prst="rect">
            <a:avLst/>
          </a:prstGeom>
        </p:spPr>
      </p:pic>
      <p:pic>
        <p:nvPicPr>
          <p:cNvPr id="45" name="Picture 44" descr="See the source image">
            <a:extLst>
              <a:ext uri="{FF2B5EF4-FFF2-40B4-BE49-F238E27FC236}">
                <a16:creationId xmlns:a16="http://schemas.microsoft.com/office/drawing/2014/main" id="{CE0E5540-7116-2EF2-85FA-2BFA683D5C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815" y="1444603"/>
            <a:ext cx="947940" cy="85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1BA846B-CB66-8631-6FCF-494FFBC61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4"/>
          <a:stretch/>
        </p:blipFill>
        <p:spPr>
          <a:xfrm>
            <a:off x="5232207" y="4349075"/>
            <a:ext cx="1247035" cy="45288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09AFF7A-2DF5-B9E5-AF13-F8259AAD783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2488" r="12029"/>
          <a:stretch>
            <a:fillRect/>
          </a:stretch>
        </p:blipFill>
        <p:spPr>
          <a:xfrm>
            <a:off x="9594913" y="2445209"/>
            <a:ext cx="1944861" cy="632240"/>
          </a:xfrm>
          <a:prstGeom prst="rect">
            <a:avLst/>
          </a:prstGeom>
        </p:spPr>
      </p:pic>
      <p:pic>
        <p:nvPicPr>
          <p:cNvPr id="48" name="Picture 2" descr="Home | Mountain West Farm Bureau Mutual Insurance Company">
            <a:extLst>
              <a:ext uri="{FF2B5EF4-FFF2-40B4-BE49-F238E27FC236}">
                <a16:creationId xmlns:a16="http://schemas.microsoft.com/office/drawing/2014/main" id="{6347BC93-3A02-4AF2-B9ED-69E147B25C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789" y="4464440"/>
            <a:ext cx="1934985" cy="22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" descr="HAI Group Blog: Affordable Housing and Insurance Insights">
            <a:extLst>
              <a:ext uri="{FF2B5EF4-FFF2-40B4-BE49-F238E27FC236}">
                <a16:creationId xmlns:a16="http://schemas.microsoft.com/office/drawing/2014/main" id="{4A396442-12E7-EDCF-60B8-4B3F45EE73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455" y="2440019"/>
            <a:ext cx="1880357" cy="56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COUNTRY Financial | Insurance, Investing, Retirement Planning">
            <a:extLst>
              <a:ext uri="{FF2B5EF4-FFF2-40B4-BE49-F238E27FC236}">
                <a16:creationId xmlns:a16="http://schemas.microsoft.com/office/drawing/2014/main" id="{6B9CAC46-D774-8E0E-0A32-7A03B2893B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168" y="1580054"/>
            <a:ext cx="1597986" cy="58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American National Insurance Company - Wikipedia">
            <a:extLst>
              <a:ext uri="{FF2B5EF4-FFF2-40B4-BE49-F238E27FC236}">
                <a16:creationId xmlns:a16="http://schemas.microsoft.com/office/drawing/2014/main" id="{629BCBF7-AA6E-AA88-BCB9-49EF81A7C4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4796" y="3355040"/>
            <a:ext cx="954977" cy="53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00C90EE-4A94-3E5C-940A-B0EE122E92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5266" r="5927"/>
          <a:stretch/>
        </p:blipFill>
        <p:spPr>
          <a:xfrm>
            <a:off x="10408417" y="1644773"/>
            <a:ext cx="1131357" cy="454997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2B85DC12-8D29-7E38-EBB1-91C5BFE68ABD}"/>
              </a:ext>
            </a:extLst>
          </p:cNvPr>
          <p:cNvGrpSpPr/>
          <p:nvPr userDrawn="1"/>
        </p:nvGrpSpPr>
        <p:grpSpPr>
          <a:xfrm>
            <a:off x="8377825" y="5232318"/>
            <a:ext cx="891013" cy="685466"/>
            <a:chOff x="9256132" y="5428957"/>
            <a:chExt cx="897771" cy="729412"/>
          </a:xfrm>
        </p:grpSpPr>
        <p:pic>
          <p:nvPicPr>
            <p:cNvPr id="54" name="Picture 53" descr="Idaho Farm Bureau Insurance Company">
              <a:extLst>
                <a:ext uri="{FF2B5EF4-FFF2-40B4-BE49-F238E27FC236}">
                  <a16:creationId xmlns:a16="http://schemas.microsoft.com/office/drawing/2014/main" id="{37802D7F-4FEF-2957-A4F5-79FDF197D9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6132" y="5428957"/>
              <a:ext cx="897771" cy="527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33">
              <a:extLst>
                <a:ext uri="{FF2B5EF4-FFF2-40B4-BE49-F238E27FC236}">
                  <a16:creationId xmlns:a16="http://schemas.microsoft.com/office/drawing/2014/main" id="{F648401F-4479-B385-05BC-AEC66BB29D76}"/>
                </a:ext>
              </a:extLst>
            </p:cNvPr>
            <p:cNvSpPr txBox="1"/>
            <p:nvPr/>
          </p:nvSpPr>
          <p:spPr>
            <a:xfrm>
              <a:off x="9435171" y="5884900"/>
              <a:ext cx="645575" cy="273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8973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70" b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Idaho</a:t>
              </a:r>
            </a:p>
          </p:txBody>
        </p:sp>
      </p:grpSp>
      <p:pic>
        <p:nvPicPr>
          <p:cNvPr id="56" name="Picture 55" descr="A black and grey logo&#10;&#10;AI-generated content may be incorrect.">
            <a:extLst>
              <a:ext uri="{FF2B5EF4-FFF2-40B4-BE49-F238E27FC236}">
                <a16:creationId xmlns:a16="http://schemas.microsoft.com/office/drawing/2014/main" id="{A1FACE7E-38C1-784B-C9B3-FE2DA2F91D6E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207" y="2417801"/>
            <a:ext cx="2117721" cy="5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499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306E10-9D40-E55D-C5D3-9669F498C2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" t="2975" r="27190" b="50772"/>
          <a:stretch>
            <a:fillRect/>
          </a:stretch>
        </p:blipFill>
        <p:spPr>
          <a:xfrm>
            <a:off x="268449" y="1294718"/>
            <a:ext cx="4635028" cy="492605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C153DAD-FC8D-9228-FBE7-0F7A6FB642AF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A3467-0FE6-771E-9E01-270A158C8AC0}"/>
              </a:ext>
            </a:extLst>
          </p:cNvPr>
          <p:cNvSpPr txBox="1"/>
          <p:nvPr userDrawn="1"/>
        </p:nvSpPr>
        <p:spPr>
          <a:xfrm>
            <a:off x="104374" y="6572252"/>
            <a:ext cx="2279791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9" b="0" i="0">
                <a:solidFill>
                  <a:schemeClr val="bg1"/>
                </a:solidFill>
                <a:latin typeface="Manrope Medium" pitchFamily="2" charset="0"/>
              </a:rPr>
              <a:t>Let’s insure the future. Together.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F4A9E2E-C2B4-1AF9-A1A8-F2CA7B67B7E6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6EB84D5F-92F1-5A21-5DC6-F0E8DB517CD0}"/>
              </a:ext>
            </a:extLst>
          </p:cNvPr>
          <p:cNvSpPr/>
          <p:nvPr userDrawn="1"/>
        </p:nvSpPr>
        <p:spPr>
          <a:xfrm>
            <a:off x="0" y="6505576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9DBB2E-214B-DBD2-3EB3-ABF899460A07}"/>
              </a:ext>
            </a:extLst>
          </p:cNvPr>
          <p:cNvSpPr txBox="1"/>
          <p:nvPr userDrawn="1"/>
        </p:nvSpPr>
        <p:spPr>
          <a:xfrm>
            <a:off x="543398" y="1653964"/>
            <a:ext cx="4085130" cy="156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8">
                <a:solidFill>
                  <a:srgbClr val="0253D2"/>
                </a:solidFill>
                <a:latin typeface="Manrope Light" pitchFamily="2" charset="0"/>
              </a:rPr>
              <a:t>Insuring the future </a:t>
            </a:r>
            <a:r>
              <a:rPr lang="en-US" sz="2398">
                <a:latin typeface="Manrope Light" pitchFamily="2" charset="0"/>
              </a:rPr>
              <a:t>with global, national, and regional insurers since 2000.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6C12B8-2AF6-F25A-7A4C-DF2F5D249085}"/>
              </a:ext>
            </a:extLst>
          </p:cNvPr>
          <p:cNvSpPr txBox="1"/>
          <p:nvPr userDrawn="1"/>
        </p:nvSpPr>
        <p:spPr>
          <a:xfrm>
            <a:off x="2212835" y="380053"/>
            <a:ext cx="2044149" cy="415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98" b="1" i="0">
                <a:solidFill>
                  <a:srgbClr val="0153D2"/>
                </a:solidFill>
                <a:latin typeface="Manrope SemiBold" pitchFamily="2" charset="0"/>
              </a:rPr>
              <a:t>Who We Serve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54F21F9-26A5-0551-9EAE-52551B14D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6629" y="3744363"/>
            <a:ext cx="2047421" cy="2135768"/>
          </a:xfrm>
          <a:prstGeom prst="rect">
            <a:avLst/>
          </a:prstGeom>
        </p:spPr>
      </p:pic>
      <p:pic>
        <p:nvPicPr>
          <p:cNvPr id="38" name="Picture 2" descr="Image result for pekin insurance logo png">
            <a:extLst>
              <a:ext uri="{FF2B5EF4-FFF2-40B4-BE49-F238E27FC236}">
                <a16:creationId xmlns:a16="http://schemas.microsoft.com/office/drawing/2014/main" id="{407A39B1-5616-D7A8-3CF5-7DF959B77C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20124" y="3364718"/>
            <a:ext cx="1727588" cy="51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8EEBBF5-DEBB-C582-7DAB-38E07CAB1AA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3777" y="3318357"/>
            <a:ext cx="1392827" cy="62246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14E6E2D-9B3A-A0BB-F148-8ABCC4B6474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5364" y="3461340"/>
            <a:ext cx="1520220" cy="3233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FB291AA-CF4B-1B8B-28EB-6CE589B7709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7644" y="4400550"/>
            <a:ext cx="1610994" cy="47297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3480007-2994-ADE4-71ED-B4800EB235D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6762" y="5364830"/>
            <a:ext cx="1840930" cy="30338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B578F85-BB8C-143F-9429-E946C6B2B06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0125" y="1580646"/>
            <a:ext cx="1255285" cy="58324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AE3FC8D-2149-F9E8-5DF5-E3B46623C5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1670" r="20310"/>
          <a:stretch/>
        </p:blipFill>
        <p:spPr>
          <a:xfrm>
            <a:off x="8672326" y="4218587"/>
            <a:ext cx="964208" cy="68726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DC7F377-ED9A-333F-E4C3-1F104832A25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0126" y="5177687"/>
            <a:ext cx="693462" cy="67767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D2788CF-86DF-D1A3-22B3-5E2430A9F98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01295" y="5378390"/>
            <a:ext cx="1760343" cy="303384"/>
          </a:xfrm>
          <a:prstGeom prst="rect">
            <a:avLst/>
          </a:prstGeom>
        </p:spPr>
      </p:pic>
      <p:pic>
        <p:nvPicPr>
          <p:cNvPr id="47" name="Picture 46" descr="See the source image">
            <a:extLst>
              <a:ext uri="{FF2B5EF4-FFF2-40B4-BE49-F238E27FC236}">
                <a16:creationId xmlns:a16="http://schemas.microsoft.com/office/drawing/2014/main" id="{F4A785BD-0080-8833-7949-AEE2038D1F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733" y="1444603"/>
            <a:ext cx="947940" cy="85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7D19D2-001A-6C57-5230-89D6412068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4"/>
          <a:stretch/>
        </p:blipFill>
        <p:spPr>
          <a:xfrm>
            <a:off x="5520125" y="4349075"/>
            <a:ext cx="1247035" cy="45288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0C2C232-4B5A-234C-0697-C141E73D1AE3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2488" r="12029"/>
          <a:stretch>
            <a:fillRect/>
          </a:stretch>
        </p:blipFill>
        <p:spPr>
          <a:xfrm>
            <a:off x="9882832" y="2445209"/>
            <a:ext cx="1944861" cy="632240"/>
          </a:xfrm>
          <a:prstGeom prst="rect">
            <a:avLst/>
          </a:prstGeom>
        </p:spPr>
      </p:pic>
      <p:pic>
        <p:nvPicPr>
          <p:cNvPr id="50" name="Picture 2" descr="Home | Mountain West Farm Bureau Mutual Insurance Company">
            <a:extLst>
              <a:ext uri="{FF2B5EF4-FFF2-40B4-BE49-F238E27FC236}">
                <a16:creationId xmlns:a16="http://schemas.microsoft.com/office/drawing/2014/main" id="{D908D864-4726-063E-E0CB-1E24FAFC54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2707" y="4464440"/>
            <a:ext cx="1934985" cy="22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8" descr="HAI Group Blog: Affordable Housing and Insurance Insights">
            <a:extLst>
              <a:ext uri="{FF2B5EF4-FFF2-40B4-BE49-F238E27FC236}">
                <a16:creationId xmlns:a16="http://schemas.microsoft.com/office/drawing/2014/main" id="{0B7F193D-6DC8-6605-3FB9-685A2D75EE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374" y="2440019"/>
            <a:ext cx="1880357" cy="56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COUNTRY Financial | Insurance, Investing, Retirement Planning">
            <a:extLst>
              <a:ext uri="{FF2B5EF4-FFF2-40B4-BE49-F238E27FC236}">
                <a16:creationId xmlns:a16="http://schemas.microsoft.com/office/drawing/2014/main" id="{A085A8D6-62C6-6C59-7781-4B7F034E8D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086" y="1580054"/>
            <a:ext cx="1597986" cy="58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American National Insurance Company - Wikipedia">
            <a:extLst>
              <a:ext uri="{FF2B5EF4-FFF2-40B4-BE49-F238E27FC236}">
                <a16:creationId xmlns:a16="http://schemas.microsoft.com/office/drawing/2014/main" id="{2B0892B0-D209-BB4D-850D-C13144961F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2715" y="3355040"/>
            <a:ext cx="954977" cy="53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14700CD-7553-0116-5E7F-28A985214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/>
          <a:srcRect l="5266" r="5927"/>
          <a:stretch/>
        </p:blipFill>
        <p:spPr>
          <a:xfrm>
            <a:off x="10696335" y="1644773"/>
            <a:ext cx="1131357" cy="454997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02E321A0-E699-6C6B-E4F7-AFE5CB708E16}"/>
              </a:ext>
            </a:extLst>
          </p:cNvPr>
          <p:cNvGrpSpPr/>
          <p:nvPr userDrawn="1"/>
        </p:nvGrpSpPr>
        <p:grpSpPr>
          <a:xfrm>
            <a:off x="8665744" y="5232318"/>
            <a:ext cx="891013" cy="685466"/>
            <a:chOff x="9256132" y="5428957"/>
            <a:chExt cx="897771" cy="729412"/>
          </a:xfrm>
        </p:grpSpPr>
        <p:pic>
          <p:nvPicPr>
            <p:cNvPr id="56" name="Picture 55" descr="Idaho Farm Bureau Insurance Company">
              <a:extLst>
                <a:ext uri="{FF2B5EF4-FFF2-40B4-BE49-F238E27FC236}">
                  <a16:creationId xmlns:a16="http://schemas.microsoft.com/office/drawing/2014/main" id="{D13E8920-CCFE-A6E5-A3FC-20DD246E81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6132" y="5428957"/>
              <a:ext cx="897771" cy="527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Box 33">
              <a:extLst>
                <a:ext uri="{FF2B5EF4-FFF2-40B4-BE49-F238E27FC236}">
                  <a16:creationId xmlns:a16="http://schemas.microsoft.com/office/drawing/2014/main" id="{4AA0EDCA-81F0-32F9-E73C-896DA6D4429F}"/>
                </a:ext>
              </a:extLst>
            </p:cNvPr>
            <p:cNvSpPr txBox="1"/>
            <p:nvPr/>
          </p:nvSpPr>
          <p:spPr>
            <a:xfrm>
              <a:off x="9435171" y="5884900"/>
              <a:ext cx="645575" cy="273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8973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70" b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Idaho</a:t>
              </a:r>
            </a:p>
          </p:txBody>
        </p:sp>
      </p:grpSp>
      <p:pic>
        <p:nvPicPr>
          <p:cNvPr id="58" name="Picture 57" descr="A black and grey logo&#10;&#10;AI-generated content may be incorrect.">
            <a:extLst>
              <a:ext uri="{FF2B5EF4-FFF2-40B4-BE49-F238E27FC236}">
                <a16:creationId xmlns:a16="http://schemas.microsoft.com/office/drawing/2014/main" id="{9C182163-932B-B129-87F9-9C1DD9BA4317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125" y="2417801"/>
            <a:ext cx="2117721" cy="5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737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8D63801-78FD-1CC9-BD65-A93C9BFE3B78}"/>
              </a:ext>
            </a:extLst>
          </p:cNvPr>
          <p:cNvSpPr/>
          <p:nvPr userDrawn="1"/>
        </p:nvSpPr>
        <p:spPr>
          <a:xfrm>
            <a:off x="762384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10" y="0"/>
                </a:moveTo>
                <a:lnTo>
                  <a:pt x="209969" y="0"/>
                </a:lnTo>
                <a:lnTo>
                  <a:pt x="161824" y="5543"/>
                </a:lnTo>
                <a:lnTo>
                  <a:pt x="117629" y="21336"/>
                </a:lnTo>
                <a:lnTo>
                  <a:pt x="78643" y="46116"/>
                </a:lnTo>
                <a:lnTo>
                  <a:pt x="46127" y="78625"/>
                </a:lnTo>
                <a:lnTo>
                  <a:pt x="21341" y="117604"/>
                </a:lnTo>
                <a:lnTo>
                  <a:pt x="5545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5" y="3859535"/>
                </a:lnTo>
                <a:lnTo>
                  <a:pt x="21341" y="3903723"/>
                </a:lnTo>
                <a:lnTo>
                  <a:pt x="46127" y="3942702"/>
                </a:lnTo>
                <a:lnTo>
                  <a:pt x="78643" y="3975211"/>
                </a:lnTo>
                <a:lnTo>
                  <a:pt x="117629" y="3999991"/>
                </a:lnTo>
                <a:lnTo>
                  <a:pt x="161824" y="4015784"/>
                </a:lnTo>
                <a:lnTo>
                  <a:pt x="209969" y="4021328"/>
                </a:lnTo>
                <a:lnTo>
                  <a:pt x="2142210" y="4021328"/>
                </a:lnTo>
                <a:lnTo>
                  <a:pt x="2190348" y="4015784"/>
                </a:lnTo>
                <a:lnTo>
                  <a:pt x="2234537" y="3999991"/>
                </a:lnTo>
                <a:lnTo>
                  <a:pt x="2273515" y="3975211"/>
                </a:lnTo>
                <a:lnTo>
                  <a:pt x="2306025" y="3942702"/>
                </a:lnTo>
                <a:lnTo>
                  <a:pt x="2330805" y="3903723"/>
                </a:lnTo>
                <a:lnTo>
                  <a:pt x="2346597" y="3859535"/>
                </a:lnTo>
                <a:lnTo>
                  <a:pt x="2352141" y="3811397"/>
                </a:lnTo>
                <a:lnTo>
                  <a:pt x="2352141" y="209930"/>
                </a:lnTo>
                <a:lnTo>
                  <a:pt x="2346597" y="161792"/>
                </a:lnTo>
                <a:lnTo>
                  <a:pt x="2330805" y="117604"/>
                </a:lnTo>
                <a:lnTo>
                  <a:pt x="2306025" y="78625"/>
                </a:lnTo>
                <a:lnTo>
                  <a:pt x="2273515" y="46116"/>
                </a:lnTo>
                <a:lnTo>
                  <a:pt x="2234537" y="21336"/>
                </a:lnTo>
                <a:lnTo>
                  <a:pt x="2190348" y="5543"/>
                </a:lnTo>
                <a:lnTo>
                  <a:pt x="214221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2CC40287-EA8D-649C-385C-2FB1D9202F9B}"/>
              </a:ext>
            </a:extLst>
          </p:cNvPr>
          <p:cNvSpPr/>
          <p:nvPr userDrawn="1"/>
        </p:nvSpPr>
        <p:spPr>
          <a:xfrm>
            <a:off x="639176" y="1910842"/>
            <a:ext cx="2597026" cy="4318508"/>
          </a:xfrm>
          <a:custGeom>
            <a:avLst/>
            <a:gdLst/>
            <a:ahLst/>
            <a:cxnLst/>
            <a:rect l="l" t="t" r="r" b="b"/>
            <a:pathLst>
              <a:path w="2599055" h="4434840">
                <a:moveTo>
                  <a:pt x="2424645" y="0"/>
                </a:moveTo>
                <a:lnTo>
                  <a:pt x="174193" y="0"/>
                </a:lnTo>
                <a:lnTo>
                  <a:pt x="127886" y="6221"/>
                </a:lnTo>
                <a:lnTo>
                  <a:pt x="86275" y="23777"/>
                </a:lnTo>
                <a:lnTo>
                  <a:pt x="51020" y="51006"/>
                </a:lnTo>
                <a:lnTo>
                  <a:pt x="23782" y="86247"/>
                </a:lnTo>
                <a:lnTo>
                  <a:pt x="6222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2" y="4306408"/>
                </a:lnTo>
                <a:lnTo>
                  <a:pt x="23782" y="4348021"/>
                </a:lnTo>
                <a:lnTo>
                  <a:pt x="51020" y="4383279"/>
                </a:lnTo>
                <a:lnTo>
                  <a:pt x="86275" y="4410520"/>
                </a:lnTo>
                <a:lnTo>
                  <a:pt x="127886" y="4428083"/>
                </a:lnTo>
                <a:lnTo>
                  <a:pt x="174193" y="4434306"/>
                </a:lnTo>
                <a:lnTo>
                  <a:pt x="2424645" y="4434306"/>
                </a:lnTo>
                <a:lnTo>
                  <a:pt x="2470925" y="4428083"/>
                </a:lnTo>
                <a:lnTo>
                  <a:pt x="2512515" y="4410520"/>
                </a:lnTo>
                <a:lnTo>
                  <a:pt x="2547756" y="4383279"/>
                </a:lnTo>
                <a:lnTo>
                  <a:pt x="2574985" y="4348021"/>
                </a:lnTo>
                <a:lnTo>
                  <a:pt x="2592541" y="4306408"/>
                </a:lnTo>
                <a:lnTo>
                  <a:pt x="2598762" y="4260100"/>
                </a:lnTo>
                <a:lnTo>
                  <a:pt x="2598762" y="174116"/>
                </a:lnTo>
                <a:lnTo>
                  <a:pt x="2592541" y="127837"/>
                </a:lnTo>
                <a:lnTo>
                  <a:pt x="2574985" y="86247"/>
                </a:lnTo>
                <a:lnTo>
                  <a:pt x="2547756" y="51006"/>
                </a:lnTo>
                <a:lnTo>
                  <a:pt x="2512515" y="23777"/>
                </a:lnTo>
                <a:lnTo>
                  <a:pt x="2470925" y="6221"/>
                </a:lnTo>
                <a:lnTo>
                  <a:pt x="2424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4D8AB085-7064-F24E-C230-AAFCE0849D89}"/>
              </a:ext>
            </a:extLst>
          </p:cNvPr>
          <p:cNvSpPr/>
          <p:nvPr userDrawn="1"/>
        </p:nvSpPr>
        <p:spPr>
          <a:xfrm>
            <a:off x="639176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5" h="4434840">
                <a:moveTo>
                  <a:pt x="0" y="174116"/>
                </a:moveTo>
                <a:lnTo>
                  <a:pt x="6222" y="127837"/>
                </a:lnTo>
                <a:lnTo>
                  <a:pt x="23782" y="86247"/>
                </a:lnTo>
                <a:lnTo>
                  <a:pt x="51020" y="51006"/>
                </a:lnTo>
                <a:lnTo>
                  <a:pt x="86275" y="23777"/>
                </a:lnTo>
                <a:lnTo>
                  <a:pt x="127886" y="6221"/>
                </a:lnTo>
                <a:lnTo>
                  <a:pt x="174193" y="0"/>
                </a:lnTo>
                <a:lnTo>
                  <a:pt x="2424645" y="0"/>
                </a:lnTo>
                <a:lnTo>
                  <a:pt x="2470925" y="6221"/>
                </a:lnTo>
                <a:lnTo>
                  <a:pt x="2512515" y="23777"/>
                </a:lnTo>
                <a:lnTo>
                  <a:pt x="2547756" y="51006"/>
                </a:lnTo>
                <a:lnTo>
                  <a:pt x="2574985" y="86247"/>
                </a:lnTo>
                <a:lnTo>
                  <a:pt x="2592541" y="127837"/>
                </a:lnTo>
                <a:lnTo>
                  <a:pt x="2598762" y="174116"/>
                </a:lnTo>
                <a:lnTo>
                  <a:pt x="2598762" y="4260100"/>
                </a:lnTo>
                <a:lnTo>
                  <a:pt x="2592541" y="4306408"/>
                </a:lnTo>
                <a:lnTo>
                  <a:pt x="2574985" y="4348021"/>
                </a:lnTo>
                <a:lnTo>
                  <a:pt x="2547756" y="4383279"/>
                </a:lnTo>
                <a:lnTo>
                  <a:pt x="2512515" y="4410520"/>
                </a:lnTo>
                <a:lnTo>
                  <a:pt x="2470925" y="4428083"/>
                </a:lnTo>
                <a:lnTo>
                  <a:pt x="2424645" y="4434306"/>
                </a:lnTo>
                <a:lnTo>
                  <a:pt x="174193" y="4434306"/>
                </a:lnTo>
                <a:lnTo>
                  <a:pt x="127886" y="4428083"/>
                </a:lnTo>
                <a:lnTo>
                  <a:pt x="86275" y="4410520"/>
                </a:lnTo>
                <a:lnTo>
                  <a:pt x="51020" y="4383279"/>
                </a:lnTo>
                <a:lnTo>
                  <a:pt x="23782" y="4348021"/>
                </a:lnTo>
                <a:lnTo>
                  <a:pt x="6222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C39A5F2-69EB-75CB-C0A5-2D43AAAC364A}"/>
              </a:ext>
            </a:extLst>
          </p:cNvPr>
          <p:cNvSpPr/>
          <p:nvPr userDrawn="1"/>
        </p:nvSpPr>
        <p:spPr>
          <a:xfrm>
            <a:off x="3549862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0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6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0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6" y="3811397"/>
                </a:lnTo>
                <a:lnTo>
                  <a:pt x="2352166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0154C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3521A166-3762-7467-2BD7-C684B31E00A9}"/>
              </a:ext>
            </a:extLst>
          </p:cNvPr>
          <p:cNvSpPr/>
          <p:nvPr userDrawn="1"/>
        </p:nvSpPr>
        <p:spPr>
          <a:xfrm>
            <a:off x="3426642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4" y="0"/>
                </a:moveTo>
                <a:lnTo>
                  <a:pt x="174244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4" y="4434306"/>
                </a:lnTo>
                <a:lnTo>
                  <a:pt x="2424684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3372A634-F2E7-CFFA-301B-96048E8F12DD}"/>
              </a:ext>
            </a:extLst>
          </p:cNvPr>
          <p:cNvSpPr/>
          <p:nvPr userDrawn="1"/>
        </p:nvSpPr>
        <p:spPr>
          <a:xfrm>
            <a:off x="3426642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4" y="0"/>
                </a:lnTo>
                <a:lnTo>
                  <a:pt x="2424684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4" y="4434306"/>
                </a:lnTo>
                <a:lnTo>
                  <a:pt x="174244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3A775FCB-FDF7-E26E-EA45-B816A6672FCF}"/>
              </a:ext>
            </a:extLst>
          </p:cNvPr>
          <p:cNvSpPr/>
          <p:nvPr userDrawn="1"/>
        </p:nvSpPr>
        <p:spPr>
          <a:xfrm>
            <a:off x="6337366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0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5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0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7" y="3811397"/>
                </a:lnTo>
                <a:lnTo>
                  <a:pt x="2352167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22861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74F52768-2667-4041-3C4E-A294C3AF32BE}"/>
              </a:ext>
            </a:extLst>
          </p:cNvPr>
          <p:cNvSpPr/>
          <p:nvPr userDrawn="1"/>
        </p:nvSpPr>
        <p:spPr>
          <a:xfrm>
            <a:off x="6214146" y="1910842"/>
            <a:ext cx="2597026" cy="4318508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4" y="0"/>
                </a:moveTo>
                <a:lnTo>
                  <a:pt x="174243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3" y="4434306"/>
                </a:lnTo>
                <a:lnTo>
                  <a:pt x="2424684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07798CC4-8B4C-48E3-431E-36D18483FA69}"/>
              </a:ext>
            </a:extLst>
          </p:cNvPr>
          <p:cNvSpPr/>
          <p:nvPr userDrawn="1"/>
        </p:nvSpPr>
        <p:spPr>
          <a:xfrm>
            <a:off x="6214146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3" y="0"/>
                </a:lnTo>
                <a:lnTo>
                  <a:pt x="2424684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4" y="4434306"/>
                </a:lnTo>
                <a:lnTo>
                  <a:pt x="174243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757BCD36-F6B9-C48E-2245-9481CA2078C2}"/>
              </a:ext>
            </a:extLst>
          </p:cNvPr>
          <p:cNvSpPr/>
          <p:nvPr userDrawn="1"/>
        </p:nvSpPr>
        <p:spPr>
          <a:xfrm>
            <a:off x="9124870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1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6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1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7" y="3811397"/>
                </a:lnTo>
                <a:lnTo>
                  <a:pt x="2352167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2DB024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2" name="object 21">
            <a:extLst>
              <a:ext uri="{FF2B5EF4-FFF2-40B4-BE49-F238E27FC236}">
                <a16:creationId xmlns:a16="http://schemas.microsoft.com/office/drawing/2014/main" id="{8CB4F600-1BE3-0CE1-97E8-A8B85FBBD907}"/>
              </a:ext>
            </a:extLst>
          </p:cNvPr>
          <p:cNvSpPr/>
          <p:nvPr userDrawn="1"/>
        </p:nvSpPr>
        <p:spPr>
          <a:xfrm>
            <a:off x="9001650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3" y="0"/>
                </a:moveTo>
                <a:lnTo>
                  <a:pt x="174244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4" y="4434306"/>
                </a:lnTo>
                <a:lnTo>
                  <a:pt x="2424683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3" name="object 22">
            <a:extLst>
              <a:ext uri="{FF2B5EF4-FFF2-40B4-BE49-F238E27FC236}">
                <a16:creationId xmlns:a16="http://schemas.microsoft.com/office/drawing/2014/main" id="{71B52608-E7D7-F270-F8E3-65CD492C218E}"/>
              </a:ext>
            </a:extLst>
          </p:cNvPr>
          <p:cNvSpPr/>
          <p:nvPr userDrawn="1"/>
        </p:nvSpPr>
        <p:spPr>
          <a:xfrm>
            <a:off x="9001650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4" y="0"/>
                </a:lnTo>
                <a:lnTo>
                  <a:pt x="2424683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3" y="4434306"/>
                </a:lnTo>
                <a:lnTo>
                  <a:pt x="174244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grpSp>
        <p:nvGrpSpPr>
          <p:cNvPr id="18" name="object 27">
            <a:extLst>
              <a:ext uri="{FF2B5EF4-FFF2-40B4-BE49-F238E27FC236}">
                <a16:creationId xmlns:a16="http://schemas.microsoft.com/office/drawing/2014/main" id="{8B24803D-B80B-C769-290A-546755C485A4}"/>
              </a:ext>
            </a:extLst>
          </p:cNvPr>
          <p:cNvGrpSpPr/>
          <p:nvPr userDrawn="1"/>
        </p:nvGrpSpPr>
        <p:grpSpPr>
          <a:xfrm>
            <a:off x="639176" y="1399414"/>
            <a:ext cx="2597026" cy="1656041"/>
            <a:chOff x="634911" y="1589532"/>
            <a:chExt cx="2599055" cy="1656041"/>
          </a:xfrm>
        </p:grpSpPr>
        <p:sp>
          <p:nvSpPr>
            <p:cNvPr id="19" name="object 28">
              <a:extLst>
                <a:ext uri="{FF2B5EF4-FFF2-40B4-BE49-F238E27FC236}">
                  <a16:creationId xmlns:a16="http://schemas.microsoft.com/office/drawing/2014/main" id="{65147BCB-6214-5AEA-3884-C8CA0B18BCD2}"/>
                </a:ext>
              </a:extLst>
            </p:cNvPr>
            <p:cNvSpPr/>
            <p:nvPr/>
          </p:nvSpPr>
          <p:spPr>
            <a:xfrm>
              <a:off x="634911" y="2648038"/>
              <a:ext cx="2599055" cy="597535"/>
            </a:xfrm>
            <a:custGeom>
              <a:avLst/>
              <a:gdLst/>
              <a:ahLst/>
              <a:cxnLst/>
              <a:rect l="l" t="t" r="r" b="b"/>
              <a:pathLst>
                <a:path w="2599055" h="597535">
                  <a:moveTo>
                    <a:pt x="2598801" y="0"/>
                  </a:moveTo>
                  <a:lnTo>
                    <a:pt x="0" y="0"/>
                  </a:lnTo>
                  <a:lnTo>
                    <a:pt x="0" y="597446"/>
                  </a:lnTo>
                  <a:lnTo>
                    <a:pt x="2598801" y="597446"/>
                  </a:lnTo>
                  <a:lnTo>
                    <a:pt x="25988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0" name="object 29">
              <a:extLst>
                <a:ext uri="{FF2B5EF4-FFF2-40B4-BE49-F238E27FC236}">
                  <a16:creationId xmlns:a16="http://schemas.microsoft.com/office/drawing/2014/main" id="{7A700F56-4A04-7ABB-EF3F-01055AD4DF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455" y="1589532"/>
              <a:ext cx="1140714" cy="1140714"/>
            </a:xfrm>
            <a:prstGeom prst="rect">
              <a:avLst/>
            </a:prstGeom>
          </p:spPr>
        </p:pic>
        <p:sp>
          <p:nvSpPr>
            <p:cNvPr id="21" name="object 30">
              <a:extLst>
                <a:ext uri="{FF2B5EF4-FFF2-40B4-BE49-F238E27FC236}">
                  <a16:creationId xmlns:a16="http://schemas.microsoft.com/office/drawing/2014/main" id="{114EFAAF-C44D-0C4F-391A-A6D0096534F2}"/>
                </a:ext>
              </a:extLst>
            </p:cNvPr>
            <p:cNvSpPr/>
            <p:nvPr/>
          </p:nvSpPr>
          <p:spPr>
            <a:xfrm>
              <a:off x="1433702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4" h="1001394">
                  <a:moveTo>
                    <a:pt x="500634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4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1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2" name="object 31">
              <a:extLst>
                <a:ext uri="{FF2B5EF4-FFF2-40B4-BE49-F238E27FC236}">
                  <a16:creationId xmlns:a16="http://schemas.microsoft.com/office/drawing/2014/main" id="{032937C1-2D46-1431-9580-B05AD1E3BE4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8948" y="1647444"/>
              <a:ext cx="887729" cy="887729"/>
            </a:xfrm>
            <a:prstGeom prst="rect">
              <a:avLst/>
            </a:prstGeom>
          </p:spPr>
        </p:pic>
        <p:sp>
          <p:nvSpPr>
            <p:cNvPr id="23" name="object 32">
              <a:extLst>
                <a:ext uri="{FF2B5EF4-FFF2-40B4-BE49-F238E27FC236}">
                  <a16:creationId xmlns:a16="http://schemas.microsoft.com/office/drawing/2014/main" id="{2B0BA935-1656-525B-0838-3FE1B9902D98}"/>
                </a:ext>
              </a:extLst>
            </p:cNvPr>
            <p:cNvSpPr/>
            <p:nvPr/>
          </p:nvSpPr>
          <p:spPr>
            <a:xfrm>
              <a:off x="1589151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80" h="690880">
                  <a:moveTo>
                    <a:pt x="345186" y="0"/>
                  </a:moveTo>
                  <a:lnTo>
                    <a:pt x="298349" y="3153"/>
                  </a:lnTo>
                  <a:lnTo>
                    <a:pt x="253426" y="12340"/>
                  </a:lnTo>
                  <a:lnTo>
                    <a:pt x="210829" y="27148"/>
                  </a:lnTo>
                  <a:lnTo>
                    <a:pt x="170970" y="47164"/>
                  </a:lnTo>
                  <a:lnTo>
                    <a:pt x="134259" y="71975"/>
                  </a:lnTo>
                  <a:lnTo>
                    <a:pt x="101107" y="101171"/>
                  </a:lnTo>
                  <a:lnTo>
                    <a:pt x="71928" y="134338"/>
                  </a:lnTo>
                  <a:lnTo>
                    <a:pt x="47131" y="171064"/>
                  </a:lnTo>
                  <a:lnTo>
                    <a:pt x="27128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28" y="479669"/>
                  </a:lnTo>
                  <a:lnTo>
                    <a:pt x="47131" y="519528"/>
                  </a:lnTo>
                  <a:lnTo>
                    <a:pt x="71928" y="556239"/>
                  </a:lnTo>
                  <a:lnTo>
                    <a:pt x="101107" y="589391"/>
                  </a:lnTo>
                  <a:lnTo>
                    <a:pt x="134259" y="618570"/>
                  </a:lnTo>
                  <a:lnTo>
                    <a:pt x="170970" y="643367"/>
                  </a:lnTo>
                  <a:lnTo>
                    <a:pt x="210829" y="663370"/>
                  </a:lnTo>
                  <a:lnTo>
                    <a:pt x="253426" y="678167"/>
                  </a:lnTo>
                  <a:lnTo>
                    <a:pt x="298349" y="687347"/>
                  </a:lnTo>
                  <a:lnTo>
                    <a:pt x="345186" y="690499"/>
                  </a:lnTo>
                  <a:lnTo>
                    <a:pt x="392022" y="687347"/>
                  </a:lnTo>
                  <a:lnTo>
                    <a:pt x="436945" y="678167"/>
                  </a:lnTo>
                  <a:lnTo>
                    <a:pt x="479542" y="663370"/>
                  </a:lnTo>
                  <a:lnTo>
                    <a:pt x="519401" y="643367"/>
                  </a:lnTo>
                  <a:lnTo>
                    <a:pt x="556112" y="618570"/>
                  </a:lnTo>
                  <a:lnTo>
                    <a:pt x="589264" y="589391"/>
                  </a:lnTo>
                  <a:lnTo>
                    <a:pt x="618443" y="556239"/>
                  </a:lnTo>
                  <a:lnTo>
                    <a:pt x="643240" y="519528"/>
                  </a:lnTo>
                  <a:lnTo>
                    <a:pt x="663243" y="479669"/>
                  </a:lnTo>
                  <a:lnTo>
                    <a:pt x="678040" y="437072"/>
                  </a:lnTo>
                  <a:lnTo>
                    <a:pt x="687220" y="392149"/>
                  </a:lnTo>
                  <a:lnTo>
                    <a:pt x="690372" y="345313"/>
                  </a:lnTo>
                  <a:lnTo>
                    <a:pt x="687220" y="298473"/>
                  </a:lnTo>
                  <a:lnTo>
                    <a:pt x="678040" y="253544"/>
                  </a:lnTo>
                  <a:lnTo>
                    <a:pt x="663243" y="210937"/>
                  </a:lnTo>
                  <a:lnTo>
                    <a:pt x="643240" y="171064"/>
                  </a:lnTo>
                  <a:lnTo>
                    <a:pt x="618443" y="134338"/>
                  </a:lnTo>
                  <a:lnTo>
                    <a:pt x="589264" y="101171"/>
                  </a:lnTo>
                  <a:lnTo>
                    <a:pt x="556112" y="71975"/>
                  </a:lnTo>
                  <a:lnTo>
                    <a:pt x="519401" y="47164"/>
                  </a:lnTo>
                  <a:lnTo>
                    <a:pt x="479542" y="27148"/>
                  </a:lnTo>
                  <a:lnTo>
                    <a:pt x="436945" y="12340"/>
                  </a:lnTo>
                  <a:lnTo>
                    <a:pt x="392022" y="3153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01409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24" name="object 33">
              <a:extLst>
                <a:ext uri="{FF2B5EF4-FFF2-40B4-BE49-F238E27FC236}">
                  <a16:creationId xmlns:a16="http://schemas.microsoft.com/office/drawing/2014/main" id="{4C12AC1D-A762-EAB1-B4FF-F535AEE569EB}"/>
                </a:ext>
              </a:extLst>
            </p:cNvPr>
            <p:cNvSpPr/>
            <p:nvPr/>
          </p:nvSpPr>
          <p:spPr>
            <a:xfrm>
              <a:off x="1589151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80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28" y="210937"/>
                  </a:lnTo>
                  <a:lnTo>
                    <a:pt x="47131" y="171064"/>
                  </a:lnTo>
                  <a:lnTo>
                    <a:pt x="71928" y="134338"/>
                  </a:lnTo>
                  <a:lnTo>
                    <a:pt x="101107" y="101171"/>
                  </a:lnTo>
                  <a:lnTo>
                    <a:pt x="134259" y="71975"/>
                  </a:lnTo>
                  <a:lnTo>
                    <a:pt x="170970" y="47164"/>
                  </a:lnTo>
                  <a:lnTo>
                    <a:pt x="210829" y="27148"/>
                  </a:lnTo>
                  <a:lnTo>
                    <a:pt x="253426" y="12340"/>
                  </a:lnTo>
                  <a:lnTo>
                    <a:pt x="298349" y="3153"/>
                  </a:lnTo>
                  <a:lnTo>
                    <a:pt x="345186" y="0"/>
                  </a:lnTo>
                  <a:lnTo>
                    <a:pt x="392022" y="3153"/>
                  </a:lnTo>
                  <a:lnTo>
                    <a:pt x="436945" y="12340"/>
                  </a:lnTo>
                  <a:lnTo>
                    <a:pt x="479542" y="27148"/>
                  </a:lnTo>
                  <a:lnTo>
                    <a:pt x="519401" y="47164"/>
                  </a:lnTo>
                  <a:lnTo>
                    <a:pt x="556112" y="71975"/>
                  </a:lnTo>
                  <a:lnTo>
                    <a:pt x="589264" y="101171"/>
                  </a:lnTo>
                  <a:lnTo>
                    <a:pt x="618443" y="134338"/>
                  </a:lnTo>
                  <a:lnTo>
                    <a:pt x="643240" y="171064"/>
                  </a:lnTo>
                  <a:lnTo>
                    <a:pt x="663243" y="210937"/>
                  </a:lnTo>
                  <a:lnTo>
                    <a:pt x="678040" y="253544"/>
                  </a:lnTo>
                  <a:lnTo>
                    <a:pt x="687220" y="298473"/>
                  </a:lnTo>
                  <a:lnTo>
                    <a:pt x="690372" y="345313"/>
                  </a:lnTo>
                  <a:lnTo>
                    <a:pt x="687220" y="392149"/>
                  </a:lnTo>
                  <a:lnTo>
                    <a:pt x="678040" y="437072"/>
                  </a:lnTo>
                  <a:lnTo>
                    <a:pt x="663243" y="479669"/>
                  </a:lnTo>
                  <a:lnTo>
                    <a:pt x="643240" y="519528"/>
                  </a:lnTo>
                  <a:lnTo>
                    <a:pt x="618443" y="556239"/>
                  </a:lnTo>
                  <a:lnTo>
                    <a:pt x="589264" y="589391"/>
                  </a:lnTo>
                  <a:lnTo>
                    <a:pt x="556112" y="618570"/>
                  </a:lnTo>
                  <a:lnTo>
                    <a:pt x="519401" y="643367"/>
                  </a:lnTo>
                  <a:lnTo>
                    <a:pt x="479542" y="663370"/>
                  </a:lnTo>
                  <a:lnTo>
                    <a:pt x="436945" y="678167"/>
                  </a:lnTo>
                  <a:lnTo>
                    <a:pt x="392022" y="687347"/>
                  </a:lnTo>
                  <a:lnTo>
                    <a:pt x="345186" y="690499"/>
                  </a:lnTo>
                  <a:lnTo>
                    <a:pt x="298349" y="687347"/>
                  </a:lnTo>
                  <a:lnTo>
                    <a:pt x="253426" y="678167"/>
                  </a:lnTo>
                  <a:lnTo>
                    <a:pt x="210829" y="663370"/>
                  </a:lnTo>
                  <a:lnTo>
                    <a:pt x="170970" y="643367"/>
                  </a:lnTo>
                  <a:lnTo>
                    <a:pt x="134259" y="618570"/>
                  </a:lnTo>
                  <a:lnTo>
                    <a:pt x="101107" y="589391"/>
                  </a:lnTo>
                  <a:lnTo>
                    <a:pt x="71928" y="556239"/>
                  </a:lnTo>
                  <a:lnTo>
                    <a:pt x="47131" y="519528"/>
                  </a:lnTo>
                  <a:lnTo>
                    <a:pt x="27128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25" name="object 34">
              <a:extLst>
                <a:ext uri="{FF2B5EF4-FFF2-40B4-BE49-F238E27FC236}">
                  <a16:creationId xmlns:a16="http://schemas.microsoft.com/office/drawing/2014/main" id="{C55A3264-46F9-72DD-7506-A2EC72910B1B}"/>
                </a:ext>
              </a:extLst>
            </p:cNvPr>
            <p:cNvSpPr/>
            <p:nvPr/>
          </p:nvSpPr>
          <p:spPr>
            <a:xfrm>
              <a:off x="1636268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01409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27" name="object 36">
            <a:extLst>
              <a:ext uri="{FF2B5EF4-FFF2-40B4-BE49-F238E27FC236}">
                <a16:creationId xmlns:a16="http://schemas.microsoft.com/office/drawing/2014/main" id="{1E1534FF-613E-1072-6D12-DE0F2B91AB1F}"/>
              </a:ext>
            </a:extLst>
          </p:cNvPr>
          <p:cNvGrpSpPr/>
          <p:nvPr userDrawn="1"/>
        </p:nvGrpSpPr>
        <p:grpSpPr>
          <a:xfrm>
            <a:off x="3431462" y="1399414"/>
            <a:ext cx="2589412" cy="1648002"/>
            <a:chOff x="3429380" y="1589532"/>
            <a:chExt cx="2591435" cy="1648002"/>
          </a:xfrm>
        </p:grpSpPr>
        <p:sp>
          <p:nvSpPr>
            <p:cNvPr id="28" name="object 37">
              <a:extLst>
                <a:ext uri="{FF2B5EF4-FFF2-40B4-BE49-F238E27FC236}">
                  <a16:creationId xmlns:a16="http://schemas.microsoft.com/office/drawing/2014/main" id="{077BAEC4-984D-F080-E0BE-CE76F386D86B}"/>
                </a:ext>
              </a:extLst>
            </p:cNvPr>
            <p:cNvSpPr/>
            <p:nvPr/>
          </p:nvSpPr>
          <p:spPr>
            <a:xfrm>
              <a:off x="3429380" y="2656509"/>
              <a:ext cx="2591435" cy="581025"/>
            </a:xfrm>
            <a:custGeom>
              <a:avLst/>
              <a:gdLst/>
              <a:ahLst/>
              <a:cxnLst/>
              <a:rect l="l" t="t" r="r" b="b"/>
              <a:pathLst>
                <a:path w="2591435" h="581025">
                  <a:moveTo>
                    <a:pt x="2591054" y="0"/>
                  </a:moveTo>
                  <a:lnTo>
                    <a:pt x="0" y="0"/>
                  </a:lnTo>
                  <a:lnTo>
                    <a:pt x="0" y="580466"/>
                  </a:lnTo>
                  <a:lnTo>
                    <a:pt x="2591054" y="580466"/>
                  </a:lnTo>
                  <a:lnTo>
                    <a:pt x="259105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9" name="object 38">
              <a:extLst>
                <a:ext uri="{FF2B5EF4-FFF2-40B4-BE49-F238E27FC236}">
                  <a16:creationId xmlns:a16="http://schemas.microsoft.com/office/drawing/2014/main" id="{D182CC46-DF93-7CBD-1A22-ED2ADF88F77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2900" y="1589532"/>
              <a:ext cx="1140714" cy="1140714"/>
            </a:xfrm>
            <a:prstGeom prst="rect">
              <a:avLst/>
            </a:prstGeom>
          </p:spPr>
        </p:pic>
        <p:sp>
          <p:nvSpPr>
            <p:cNvPr id="30" name="object 39">
              <a:extLst>
                <a:ext uri="{FF2B5EF4-FFF2-40B4-BE49-F238E27FC236}">
                  <a16:creationId xmlns:a16="http://schemas.microsoft.com/office/drawing/2014/main" id="{F339A808-97FE-8F58-08FC-E953CF94B025}"/>
                </a:ext>
              </a:extLst>
            </p:cNvPr>
            <p:cNvSpPr/>
            <p:nvPr/>
          </p:nvSpPr>
          <p:spPr>
            <a:xfrm>
              <a:off x="4223384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4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4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0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31" name="object 40">
              <a:extLst>
                <a:ext uri="{FF2B5EF4-FFF2-40B4-BE49-F238E27FC236}">
                  <a16:creationId xmlns:a16="http://schemas.microsoft.com/office/drawing/2014/main" id="{2B879582-633D-B39C-82C6-D2897321C7A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79391" y="1647444"/>
              <a:ext cx="887730" cy="887729"/>
            </a:xfrm>
            <a:prstGeom prst="rect">
              <a:avLst/>
            </a:prstGeom>
          </p:spPr>
        </p:pic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E4E3BE22-18CC-EBCC-1EC7-478FB4A8F2A9}"/>
                </a:ext>
              </a:extLst>
            </p:cNvPr>
            <p:cNvSpPr/>
            <p:nvPr/>
          </p:nvSpPr>
          <p:spPr>
            <a:xfrm>
              <a:off x="4378833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186" y="0"/>
                  </a:moveTo>
                  <a:lnTo>
                    <a:pt x="298349" y="3153"/>
                  </a:lnTo>
                  <a:lnTo>
                    <a:pt x="253426" y="12340"/>
                  </a:lnTo>
                  <a:lnTo>
                    <a:pt x="210829" y="27148"/>
                  </a:lnTo>
                  <a:lnTo>
                    <a:pt x="170970" y="47164"/>
                  </a:lnTo>
                  <a:lnTo>
                    <a:pt x="134259" y="71975"/>
                  </a:lnTo>
                  <a:lnTo>
                    <a:pt x="101107" y="101171"/>
                  </a:lnTo>
                  <a:lnTo>
                    <a:pt x="71928" y="134338"/>
                  </a:lnTo>
                  <a:lnTo>
                    <a:pt x="47131" y="171064"/>
                  </a:lnTo>
                  <a:lnTo>
                    <a:pt x="27128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28" y="479669"/>
                  </a:lnTo>
                  <a:lnTo>
                    <a:pt x="47131" y="519528"/>
                  </a:lnTo>
                  <a:lnTo>
                    <a:pt x="71928" y="556239"/>
                  </a:lnTo>
                  <a:lnTo>
                    <a:pt x="101107" y="589391"/>
                  </a:lnTo>
                  <a:lnTo>
                    <a:pt x="134259" y="618570"/>
                  </a:lnTo>
                  <a:lnTo>
                    <a:pt x="170970" y="643367"/>
                  </a:lnTo>
                  <a:lnTo>
                    <a:pt x="210829" y="663370"/>
                  </a:lnTo>
                  <a:lnTo>
                    <a:pt x="253426" y="678167"/>
                  </a:lnTo>
                  <a:lnTo>
                    <a:pt x="298349" y="687347"/>
                  </a:lnTo>
                  <a:lnTo>
                    <a:pt x="345186" y="690499"/>
                  </a:lnTo>
                  <a:lnTo>
                    <a:pt x="392022" y="687347"/>
                  </a:lnTo>
                  <a:lnTo>
                    <a:pt x="436945" y="678167"/>
                  </a:lnTo>
                  <a:lnTo>
                    <a:pt x="479542" y="663370"/>
                  </a:lnTo>
                  <a:lnTo>
                    <a:pt x="519401" y="643367"/>
                  </a:lnTo>
                  <a:lnTo>
                    <a:pt x="556112" y="618570"/>
                  </a:lnTo>
                  <a:lnTo>
                    <a:pt x="589264" y="589391"/>
                  </a:lnTo>
                  <a:lnTo>
                    <a:pt x="618443" y="556239"/>
                  </a:lnTo>
                  <a:lnTo>
                    <a:pt x="643240" y="519528"/>
                  </a:lnTo>
                  <a:lnTo>
                    <a:pt x="663243" y="479669"/>
                  </a:lnTo>
                  <a:lnTo>
                    <a:pt x="678040" y="437072"/>
                  </a:lnTo>
                  <a:lnTo>
                    <a:pt x="687220" y="392149"/>
                  </a:lnTo>
                  <a:lnTo>
                    <a:pt x="690371" y="345313"/>
                  </a:lnTo>
                  <a:lnTo>
                    <a:pt x="687220" y="298473"/>
                  </a:lnTo>
                  <a:lnTo>
                    <a:pt x="678040" y="253544"/>
                  </a:lnTo>
                  <a:lnTo>
                    <a:pt x="663243" y="210937"/>
                  </a:lnTo>
                  <a:lnTo>
                    <a:pt x="643240" y="171064"/>
                  </a:lnTo>
                  <a:lnTo>
                    <a:pt x="618443" y="134338"/>
                  </a:lnTo>
                  <a:lnTo>
                    <a:pt x="589264" y="101171"/>
                  </a:lnTo>
                  <a:lnTo>
                    <a:pt x="556112" y="71975"/>
                  </a:lnTo>
                  <a:lnTo>
                    <a:pt x="519401" y="47164"/>
                  </a:lnTo>
                  <a:lnTo>
                    <a:pt x="479542" y="27148"/>
                  </a:lnTo>
                  <a:lnTo>
                    <a:pt x="436945" y="12340"/>
                  </a:lnTo>
                  <a:lnTo>
                    <a:pt x="392022" y="3153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0154C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33" name="object 42">
              <a:extLst>
                <a:ext uri="{FF2B5EF4-FFF2-40B4-BE49-F238E27FC236}">
                  <a16:creationId xmlns:a16="http://schemas.microsoft.com/office/drawing/2014/main" id="{7688EAF6-BF3B-7A42-9481-C9763D8CDFA5}"/>
                </a:ext>
              </a:extLst>
            </p:cNvPr>
            <p:cNvSpPr/>
            <p:nvPr/>
          </p:nvSpPr>
          <p:spPr>
            <a:xfrm>
              <a:off x="4378833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28" y="210937"/>
                  </a:lnTo>
                  <a:lnTo>
                    <a:pt x="47131" y="171064"/>
                  </a:lnTo>
                  <a:lnTo>
                    <a:pt x="71928" y="134338"/>
                  </a:lnTo>
                  <a:lnTo>
                    <a:pt x="101107" y="101171"/>
                  </a:lnTo>
                  <a:lnTo>
                    <a:pt x="134259" y="71975"/>
                  </a:lnTo>
                  <a:lnTo>
                    <a:pt x="170970" y="47164"/>
                  </a:lnTo>
                  <a:lnTo>
                    <a:pt x="210829" y="27148"/>
                  </a:lnTo>
                  <a:lnTo>
                    <a:pt x="253426" y="12340"/>
                  </a:lnTo>
                  <a:lnTo>
                    <a:pt x="298349" y="3153"/>
                  </a:lnTo>
                  <a:lnTo>
                    <a:pt x="345186" y="0"/>
                  </a:lnTo>
                  <a:lnTo>
                    <a:pt x="392022" y="3153"/>
                  </a:lnTo>
                  <a:lnTo>
                    <a:pt x="436945" y="12340"/>
                  </a:lnTo>
                  <a:lnTo>
                    <a:pt x="479542" y="27148"/>
                  </a:lnTo>
                  <a:lnTo>
                    <a:pt x="519401" y="47164"/>
                  </a:lnTo>
                  <a:lnTo>
                    <a:pt x="556112" y="71975"/>
                  </a:lnTo>
                  <a:lnTo>
                    <a:pt x="589264" y="101171"/>
                  </a:lnTo>
                  <a:lnTo>
                    <a:pt x="618443" y="134338"/>
                  </a:lnTo>
                  <a:lnTo>
                    <a:pt x="643240" y="171064"/>
                  </a:lnTo>
                  <a:lnTo>
                    <a:pt x="663243" y="210937"/>
                  </a:lnTo>
                  <a:lnTo>
                    <a:pt x="678040" y="253544"/>
                  </a:lnTo>
                  <a:lnTo>
                    <a:pt x="687220" y="298473"/>
                  </a:lnTo>
                  <a:lnTo>
                    <a:pt x="690371" y="345313"/>
                  </a:lnTo>
                  <a:lnTo>
                    <a:pt x="687220" y="392149"/>
                  </a:lnTo>
                  <a:lnTo>
                    <a:pt x="678040" y="437072"/>
                  </a:lnTo>
                  <a:lnTo>
                    <a:pt x="663243" y="479669"/>
                  </a:lnTo>
                  <a:lnTo>
                    <a:pt x="643240" y="519528"/>
                  </a:lnTo>
                  <a:lnTo>
                    <a:pt x="618443" y="556239"/>
                  </a:lnTo>
                  <a:lnTo>
                    <a:pt x="589264" y="589391"/>
                  </a:lnTo>
                  <a:lnTo>
                    <a:pt x="556112" y="618570"/>
                  </a:lnTo>
                  <a:lnTo>
                    <a:pt x="519401" y="643367"/>
                  </a:lnTo>
                  <a:lnTo>
                    <a:pt x="479542" y="663370"/>
                  </a:lnTo>
                  <a:lnTo>
                    <a:pt x="436945" y="678167"/>
                  </a:lnTo>
                  <a:lnTo>
                    <a:pt x="392022" y="687347"/>
                  </a:lnTo>
                  <a:lnTo>
                    <a:pt x="345186" y="690499"/>
                  </a:lnTo>
                  <a:lnTo>
                    <a:pt x="298349" y="687347"/>
                  </a:lnTo>
                  <a:lnTo>
                    <a:pt x="253426" y="678167"/>
                  </a:lnTo>
                  <a:lnTo>
                    <a:pt x="210829" y="663370"/>
                  </a:lnTo>
                  <a:lnTo>
                    <a:pt x="170970" y="643367"/>
                  </a:lnTo>
                  <a:lnTo>
                    <a:pt x="134259" y="618570"/>
                  </a:lnTo>
                  <a:lnTo>
                    <a:pt x="101107" y="589391"/>
                  </a:lnTo>
                  <a:lnTo>
                    <a:pt x="71928" y="556239"/>
                  </a:lnTo>
                  <a:lnTo>
                    <a:pt x="47131" y="519528"/>
                  </a:lnTo>
                  <a:lnTo>
                    <a:pt x="27128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34" name="object 43">
              <a:extLst>
                <a:ext uri="{FF2B5EF4-FFF2-40B4-BE49-F238E27FC236}">
                  <a16:creationId xmlns:a16="http://schemas.microsoft.com/office/drawing/2014/main" id="{3B596B2F-20F5-401D-F6BB-7F885FCD81AD}"/>
                </a:ext>
              </a:extLst>
            </p:cNvPr>
            <p:cNvSpPr/>
            <p:nvPr/>
          </p:nvSpPr>
          <p:spPr>
            <a:xfrm>
              <a:off x="4425950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0154C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36" name="object 45">
            <a:extLst>
              <a:ext uri="{FF2B5EF4-FFF2-40B4-BE49-F238E27FC236}">
                <a16:creationId xmlns:a16="http://schemas.microsoft.com/office/drawing/2014/main" id="{B6C0011C-6156-3FFE-CACF-95BD35C72577}"/>
              </a:ext>
            </a:extLst>
          </p:cNvPr>
          <p:cNvGrpSpPr/>
          <p:nvPr userDrawn="1"/>
        </p:nvGrpSpPr>
        <p:grpSpPr>
          <a:xfrm>
            <a:off x="6211226" y="1399412"/>
            <a:ext cx="2597026" cy="1644192"/>
            <a:chOff x="6211315" y="1589532"/>
            <a:chExt cx="2599055" cy="1644192"/>
          </a:xfrm>
        </p:grpSpPr>
        <p:sp>
          <p:nvSpPr>
            <p:cNvPr id="37" name="object 46">
              <a:extLst>
                <a:ext uri="{FF2B5EF4-FFF2-40B4-BE49-F238E27FC236}">
                  <a16:creationId xmlns:a16="http://schemas.microsoft.com/office/drawing/2014/main" id="{B9CA2709-7455-E753-A13D-D8DF45E6E82D}"/>
                </a:ext>
              </a:extLst>
            </p:cNvPr>
            <p:cNvSpPr/>
            <p:nvPr/>
          </p:nvSpPr>
          <p:spPr>
            <a:xfrm>
              <a:off x="6211315" y="2652699"/>
              <a:ext cx="2599055" cy="581025"/>
            </a:xfrm>
            <a:custGeom>
              <a:avLst/>
              <a:gdLst/>
              <a:ahLst/>
              <a:cxnLst/>
              <a:rect l="l" t="t" r="r" b="b"/>
              <a:pathLst>
                <a:path w="2599054" h="581025">
                  <a:moveTo>
                    <a:pt x="2598801" y="0"/>
                  </a:moveTo>
                  <a:lnTo>
                    <a:pt x="0" y="0"/>
                  </a:lnTo>
                  <a:lnTo>
                    <a:pt x="0" y="580466"/>
                  </a:lnTo>
                  <a:lnTo>
                    <a:pt x="2598801" y="580466"/>
                  </a:lnTo>
                  <a:lnTo>
                    <a:pt x="25988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38" name="object 47">
              <a:extLst>
                <a:ext uri="{FF2B5EF4-FFF2-40B4-BE49-F238E27FC236}">
                  <a16:creationId xmlns:a16="http://schemas.microsoft.com/office/drawing/2014/main" id="{807C7FCE-0C89-C2D3-015E-1901E7F0CE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1819" y="1589532"/>
              <a:ext cx="1140714" cy="1140714"/>
            </a:xfrm>
            <a:prstGeom prst="rect">
              <a:avLst/>
            </a:prstGeom>
          </p:spPr>
        </p:pic>
        <p:sp>
          <p:nvSpPr>
            <p:cNvPr id="39" name="object 48">
              <a:extLst>
                <a:ext uri="{FF2B5EF4-FFF2-40B4-BE49-F238E27FC236}">
                  <a16:creationId xmlns:a16="http://schemas.microsoft.com/office/drawing/2014/main" id="{C6111B5C-98DA-3D5F-35ED-2DFDB71C0F4E}"/>
                </a:ext>
              </a:extLst>
            </p:cNvPr>
            <p:cNvSpPr/>
            <p:nvPr/>
          </p:nvSpPr>
          <p:spPr>
            <a:xfrm>
              <a:off x="7013066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3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3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0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0" name="object 49">
              <a:extLst>
                <a:ext uri="{FF2B5EF4-FFF2-40B4-BE49-F238E27FC236}">
                  <a16:creationId xmlns:a16="http://schemas.microsoft.com/office/drawing/2014/main" id="{7B176D2C-FED0-3A12-343B-4C00EB4FFA6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8311" y="1647444"/>
              <a:ext cx="887729" cy="887729"/>
            </a:xfrm>
            <a:prstGeom prst="rect">
              <a:avLst/>
            </a:prstGeom>
          </p:spPr>
        </p:pic>
        <p:sp>
          <p:nvSpPr>
            <p:cNvPr id="41" name="object 50">
              <a:extLst>
                <a:ext uri="{FF2B5EF4-FFF2-40B4-BE49-F238E27FC236}">
                  <a16:creationId xmlns:a16="http://schemas.microsoft.com/office/drawing/2014/main" id="{E58839A4-B201-8E45-F26C-911AE8759133}"/>
                </a:ext>
              </a:extLst>
            </p:cNvPr>
            <p:cNvSpPr/>
            <p:nvPr/>
          </p:nvSpPr>
          <p:spPr>
            <a:xfrm>
              <a:off x="7168387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312" y="0"/>
                  </a:moveTo>
                  <a:lnTo>
                    <a:pt x="298473" y="3153"/>
                  </a:lnTo>
                  <a:lnTo>
                    <a:pt x="253544" y="12340"/>
                  </a:lnTo>
                  <a:lnTo>
                    <a:pt x="210937" y="27148"/>
                  </a:lnTo>
                  <a:lnTo>
                    <a:pt x="171064" y="47164"/>
                  </a:lnTo>
                  <a:lnTo>
                    <a:pt x="134338" y="71975"/>
                  </a:lnTo>
                  <a:lnTo>
                    <a:pt x="101171" y="101171"/>
                  </a:lnTo>
                  <a:lnTo>
                    <a:pt x="71975" y="134338"/>
                  </a:lnTo>
                  <a:lnTo>
                    <a:pt x="47164" y="171064"/>
                  </a:lnTo>
                  <a:lnTo>
                    <a:pt x="27148" y="210937"/>
                  </a:lnTo>
                  <a:lnTo>
                    <a:pt x="12340" y="253544"/>
                  </a:lnTo>
                  <a:lnTo>
                    <a:pt x="3153" y="298473"/>
                  </a:lnTo>
                  <a:lnTo>
                    <a:pt x="0" y="345313"/>
                  </a:lnTo>
                  <a:lnTo>
                    <a:pt x="3153" y="392149"/>
                  </a:lnTo>
                  <a:lnTo>
                    <a:pt x="12340" y="437072"/>
                  </a:lnTo>
                  <a:lnTo>
                    <a:pt x="27148" y="479669"/>
                  </a:lnTo>
                  <a:lnTo>
                    <a:pt x="47164" y="519528"/>
                  </a:lnTo>
                  <a:lnTo>
                    <a:pt x="71975" y="556239"/>
                  </a:lnTo>
                  <a:lnTo>
                    <a:pt x="101171" y="589391"/>
                  </a:lnTo>
                  <a:lnTo>
                    <a:pt x="134338" y="618570"/>
                  </a:lnTo>
                  <a:lnTo>
                    <a:pt x="171064" y="643367"/>
                  </a:lnTo>
                  <a:lnTo>
                    <a:pt x="210937" y="663370"/>
                  </a:lnTo>
                  <a:lnTo>
                    <a:pt x="253544" y="678167"/>
                  </a:lnTo>
                  <a:lnTo>
                    <a:pt x="298473" y="687347"/>
                  </a:lnTo>
                  <a:lnTo>
                    <a:pt x="345312" y="690499"/>
                  </a:lnTo>
                  <a:lnTo>
                    <a:pt x="392149" y="687347"/>
                  </a:lnTo>
                  <a:lnTo>
                    <a:pt x="437072" y="678167"/>
                  </a:lnTo>
                  <a:lnTo>
                    <a:pt x="479669" y="663370"/>
                  </a:lnTo>
                  <a:lnTo>
                    <a:pt x="519528" y="643367"/>
                  </a:lnTo>
                  <a:lnTo>
                    <a:pt x="556239" y="618570"/>
                  </a:lnTo>
                  <a:lnTo>
                    <a:pt x="589391" y="589391"/>
                  </a:lnTo>
                  <a:lnTo>
                    <a:pt x="618570" y="556239"/>
                  </a:lnTo>
                  <a:lnTo>
                    <a:pt x="643367" y="519528"/>
                  </a:lnTo>
                  <a:lnTo>
                    <a:pt x="663370" y="479669"/>
                  </a:lnTo>
                  <a:lnTo>
                    <a:pt x="678167" y="437072"/>
                  </a:lnTo>
                  <a:lnTo>
                    <a:pt x="687347" y="392149"/>
                  </a:lnTo>
                  <a:lnTo>
                    <a:pt x="690498" y="345313"/>
                  </a:lnTo>
                  <a:lnTo>
                    <a:pt x="687347" y="298473"/>
                  </a:lnTo>
                  <a:lnTo>
                    <a:pt x="678167" y="253544"/>
                  </a:lnTo>
                  <a:lnTo>
                    <a:pt x="663370" y="210937"/>
                  </a:lnTo>
                  <a:lnTo>
                    <a:pt x="643367" y="171064"/>
                  </a:lnTo>
                  <a:lnTo>
                    <a:pt x="618570" y="134338"/>
                  </a:lnTo>
                  <a:lnTo>
                    <a:pt x="589391" y="101171"/>
                  </a:lnTo>
                  <a:lnTo>
                    <a:pt x="556239" y="71975"/>
                  </a:lnTo>
                  <a:lnTo>
                    <a:pt x="519528" y="47164"/>
                  </a:lnTo>
                  <a:lnTo>
                    <a:pt x="479669" y="27148"/>
                  </a:lnTo>
                  <a:lnTo>
                    <a:pt x="437072" y="12340"/>
                  </a:lnTo>
                  <a:lnTo>
                    <a:pt x="392149" y="3153"/>
                  </a:lnTo>
                  <a:lnTo>
                    <a:pt x="345312" y="0"/>
                  </a:lnTo>
                  <a:close/>
                </a:path>
              </a:pathLst>
            </a:custGeom>
            <a:solidFill>
              <a:srgbClr val="22861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42" name="object 51">
              <a:extLst>
                <a:ext uri="{FF2B5EF4-FFF2-40B4-BE49-F238E27FC236}">
                  <a16:creationId xmlns:a16="http://schemas.microsoft.com/office/drawing/2014/main" id="{10E51AF7-970B-0248-9284-EAB940FB7B86}"/>
                </a:ext>
              </a:extLst>
            </p:cNvPr>
            <p:cNvSpPr/>
            <p:nvPr/>
          </p:nvSpPr>
          <p:spPr>
            <a:xfrm>
              <a:off x="7168387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3" y="298473"/>
                  </a:lnTo>
                  <a:lnTo>
                    <a:pt x="12340" y="253544"/>
                  </a:lnTo>
                  <a:lnTo>
                    <a:pt x="27148" y="210937"/>
                  </a:lnTo>
                  <a:lnTo>
                    <a:pt x="47164" y="171064"/>
                  </a:lnTo>
                  <a:lnTo>
                    <a:pt x="71975" y="134338"/>
                  </a:lnTo>
                  <a:lnTo>
                    <a:pt x="101171" y="101171"/>
                  </a:lnTo>
                  <a:lnTo>
                    <a:pt x="134338" y="71975"/>
                  </a:lnTo>
                  <a:lnTo>
                    <a:pt x="171064" y="47164"/>
                  </a:lnTo>
                  <a:lnTo>
                    <a:pt x="210937" y="27148"/>
                  </a:lnTo>
                  <a:lnTo>
                    <a:pt x="253544" y="12340"/>
                  </a:lnTo>
                  <a:lnTo>
                    <a:pt x="298473" y="3153"/>
                  </a:lnTo>
                  <a:lnTo>
                    <a:pt x="345312" y="0"/>
                  </a:lnTo>
                  <a:lnTo>
                    <a:pt x="392149" y="3153"/>
                  </a:lnTo>
                  <a:lnTo>
                    <a:pt x="437072" y="12340"/>
                  </a:lnTo>
                  <a:lnTo>
                    <a:pt x="479669" y="27148"/>
                  </a:lnTo>
                  <a:lnTo>
                    <a:pt x="519528" y="47164"/>
                  </a:lnTo>
                  <a:lnTo>
                    <a:pt x="556239" y="71975"/>
                  </a:lnTo>
                  <a:lnTo>
                    <a:pt x="589391" y="101171"/>
                  </a:lnTo>
                  <a:lnTo>
                    <a:pt x="618570" y="134338"/>
                  </a:lnTo>
                  <a:lnTo>
                    <a:pt x="643367" y="171064"/>
                  </a:lnTo>
                  <a:lnTo>
                    <a:pt x="663370" y="210937"/>
                  </a:lnTo>
                  <a:lnTo>
                    <a:pt x="678167" y="253544"/>
                  </a:lnTo>
                  <a:lnTo>
                    <a:pt x="687347" y="298473"/>
                  </a:lnTo>
                  <a:lnTo>
                    <a:pt x="690498" y="345313"/>
                  </a:lnTo>
                  <a:lnTo>
                    <a:pt x="687347" y="392149"/>
                  </a:lnTo>
                  <a:lnTo>
                    <a:pt x="678167" y="437072"/>
                  </a:lnTo>
                  <a:lnTo>
                    <a:pt x="663370" y="479669"/>
                  </a:lnTo>
                  <a:lnTo>
                    <a:pt x="643367" y="519528"/>
                  </a:lnTo>
                  <a:lnTo>
                    <a:pt x="618570" y="556239"/>
                  </a:lnTo>
                  <a:lnTo>
                    <a:pt x="589391" y="589391"/>
                  </a:lnTo>
                  <a:lnTo>
                    <a:pt x="556239" y="618570"/>
                  </a:lnTo>
                  <a:lnTo>
                    <a:pt x="519528" y="643367"/>
                  </a:lnTo>
                  <a:lnTo>
                    <a:pt x="479669" y="663370"/>
                  </a:lnTo>
                  <a:lnTo>
                    <a:pt x="437072" y="678167"/>
                  </a:lnTo>
                  <a:lnTo>
                    <a:pt x="392149" y="687347"/>
                  </a:lnTo>
                  <a:lnTo>
                    <a:pt x="345312" y="690499"/>
                  </a:lnTo>
                  <a:lnTo>
                    <a:pt x="298473" y="687347"/>
                  </a:lnTo>
                  <a:lnTo>
                    <a:pt x="253544" y="678167"/>
                  </a:lnTo>
                  <a:lnTo>
                    <a:pt x="210937" y="663370"/>
                  </a:lnTo>
                  <a:lnTo>
                    <a:pt x="171064" y="643367"/>
                  </a:lnTo>
                  <a:lnTo>
                    <a:pt x="134338" y="618570"/>
                  </a:lnTo>
                  <a:lnTo>
                    <a:pt x="101171" y="589391"/>
                  </a:lnTo>
                  <a:lnTo>
                    <a:pt x="71975" y="556239"/>
                  </a:lnTo>
                  <a:lnTo>
                    <a:pt x="47164" y="519528"/>
                  </a:lnTo>
                  <a:lnTo>
                    <a:pt x="27148" y="479669"/>
                  </a:lnTo>
                  <a:lnTo>
                    <a:pt x="12340" y="437072"/>
                  </a:lnTo>
                  <a:lnTo>
                    <a:pt x="3153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43" name="object 52">
              <a:extLst>
                <a:ext uri="{FF2B5EF4-FFF2-40B4-BE49-F238E27FC236}">
                  <a16:creationId xmlns:a16="http://schemas.microsoft.com/office/drawing/2014/main" id="{62EBACD1-0DF7-9430-61FF-82E6C931341C}"/>
                </a:ext>
              </a:extLst>
            </p:cNvPr>
            <p:cNvSpPr/>
            <p:nvPr/>
          </p:nvSpPr>
          <p:spPr>
            <a:xfrm>
              <a:off x="7215631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22861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45" name="object 54">
            <a:extLst>
              <a:ext uri="{FF2B5EF4-FFF2-40B4-BE49-F238E27FC236}">
                <a16:creationId xmlns:a16="http://schemas.microsoft.com/office/drawing/2014/main" id="{2B7D53FE-EA87-2591-6F8F-B085A48CC96C}"/>
              </a:ext>
            </a:extLst>
          </p:cNvPr>
          <p:cNvGrpSpPr/>
          <p:nvPr userDrawn="1"/>
        </p:nvGrpSpPr>
        <p:grpSpPr>
          <a:xfrm>
            <a:off x="9015610" y="1399414"/>
            <a:ext cx="2583067" cy="1644002"/>
            <a:chOff x="9017889" y="1589532"/>
            <a:chExt cx="2585085" cy="1644002"/>
          </a:xfrm>
        </p:grpSpPr>
        <p:sp>
          <p:nvSpPr>
            <p:cNvPr id="46" name="object 55">
              <a:extLst>
                <a:ext uri="{FF2B5EF4-FFF2-40B4-BE49-F238E27FC236}">
                  <a16:creationId xmlns:a16="http://schemas.microsoft.com/office/drawing/2014/main" id="{114EBF58-5797-E332-BBE0-3CF5C8921531}"/>
                </a:ext>
              </a:extLst>
            </p:cNvPr>
            <p:cNvSpPr/>
            <p:nvPr/>
          </p:nvSpPr>
          <p:spPr>
            <a:xfrm>
              <a:off x="9017889" y="2642349"/>
              <a:ext cx="2585085" cy="591185"/>
            </a:xfrm>
            <a:custGeom>
              <a:avLst/>
              <a:gdLst/>
              <a:ahLst/>
              <a:cxnLst/>
              <a:rect l="l" t="t" r="r" b="b"/>
              <a:pathLst>
                <a:path w="2585084" h="591185">
                  <a:moveTo>
                    <a:pt x="2584830" y="0"/>
                  </a:moveTo>
                  <a:lnTo>
                    <a:pt x="0" y="0"/>
                  </a:lnTo>
                  <a:lnTo>
                    <a:pt x="0" y="590816"/>
                  </a:lnTo>
                  <a:lnTo>
                    <a:pt x="2584830" y="590816"/>
                  </a:lnTo>
                  <a:lnTo>
                    <a:pt x="258483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7" name="object 56">
              <a:extLst>
                <a:ext uri="{FF2B5EF4-FFF2-40B4-BE49-F238E27FC236}">
                  <a16:creationId xmlns:a16="http://schemas.microsoft.com/office/drawing/2014/main" id="{3CD18610-2669-3182-DA49-00B6E4DAA0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2264" y="1589532"/>
              <a:ext cx="1140714" cy="1140714"/>
            </a:xfrm>
            <a:prstGeom prst="rect">
              <a:avLst/>
            </a:prstGeom>
          </p:spPr>
        </p:pic>
        <p:sp>
          <p:nvSpPr>
            <p:cNvPr id="48" name="object 57">
              <a:extLst>
                <a:ext uri="{FF2B5EF4-FFF2-40B4-BE49-F238E27FC236}">
                  <a16:creationId xmlns:a16="http://schemas.microsoft.com/office/drawing/2014/main" id="{96F29402-2B7A-C0E8-7614-9132451F9F74}"/>
                </a:ext>
              </a:extLst>
            </p:cNvPr>
            <p:cNvSpPr/>
            <p:nvPr/>
          </p:nvSpPr>
          <p:spPr>
            <a:xfrm>
              <a:off x="9802749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3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3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1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9" name="object 58">
              <a:extLst>
                <a:ext uri="{FF2B5EF4-FFF2-40B4-BE49-F238E27FC236}">
                  <a16:creationId xmlns:a16="http://schemas.microsoft.com/office/drawing/2014/main" id="{616031D1-15E9-EC51-BEEB-EDFE104900A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58756" y="1647444"/>
              <a:ext cx="887729" cy="887729"/>
            </a:xfrm>
            <a:prstGeom prst="rect">
              <a:avLst/>
            </a:prstGeom>
          </p:spPr>
        </p:pic>
        <p:sp>
          <p:nvSpPr>
            <p:cNvPr id="50" name="object 59">
              <a:extLst>
                <a:ext uri="{FF2B5EF4-FFF2-40B4-BE49-F238E27FC236}">
                  <a16:creationId xmlns:a16="http://schemas.microsoft.com/office/drawing/2014/main" id="{E86D32EB-323C-DA10-C640-4A7D265065F3}"/>
                </a:ext>
              </a:extLst>
            </p:cNvPr>
            <p:cNvSpPr/>
            <p:nvPr/>
          </p:nvSpPr>
          <p:spPr>
            <a:xfrm>
              <a:off x="9958070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312" y="0"/>
                  </a:moveTo>
                  <a:lnTo>
                    <a:pt x="298447" y="3153"/>
                  </a:lnTo>
                  <a:lnTo>
                    <a:pt x="253500" y="12340"/>
                  </a:lnTo>
                  <a:lnTo>
                    <a:pt x="210883" y="27148"/>
                  </a:lnTo>
                  <a:lnTo>
                    <a:pt x="171007" y="47164"/>
                  </a:lnTo>
                  <a:lnTo>
                    <a:pt x="134284" y="71975"/>
                  </a:lnTo>
                  <a:lnTo>
                    <a:pt x="101123" y="101171"/>
                  </a:lnTo>
                  <a:lnTo>
                    <a:pt x="71937" y="134338"/>
                  </a:lnTo>
                  <a:lnTo>
                    <a:pt x="47135" y="171064"/>
                  </a:lnTo>
                  <a:lnTo>
                    <a:pt x="27130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30" y="479669"/>
                  </a:lnTo>
                  <a:lnTo>
                    <a:pt x="47135" y="519528"/>
                  </a:lnTo>
                  <a:lnTo>
                    <a:pt x="71937" y="556239"/>
                  </a:lnTo>
                  <a:lnTo>
                    <a:pt x="101123" y="589391"/>
                  </a:lnTo>
                  <a:lnTo>
                    <a:pt x="134284" y="618570"/>
                  </a:lnTo>
                  <a:lnTo>
                    <a:pt x="171007" y="643367"/>
                  </a:lnTo>
                  <a:lnTo>
                    <a:pt x="210883" y="663370"/>
                  </a:lnTo>
                  <a:lnTo>
                    <a:pt x="253500" y="678167"/>
                  </a:lnTo>
                  <a:lnTo>
                    <a:pt x="298447" y="687347"/>
                  </a:lnTo>
                  <a:lnTo>
                    <a:pt x="345312" y="690499"/>
                  </a:lnTo>
                  <a:lnTo>
                    <a:pt x="392149" y="687347"/>
                  </a:lnTo>
                  <a:lnTo>
                    <a:pt x="437072" y="678167"/>
                  </a:lnTo>
                  <a:lnTo>
                    <a:pt x="479669" y="663370"/>
                  </a:lnTo>
                  <a:lnTo>
                    <a:pt x="519528" y="643367"/>
                  </a:lnTo>
                  <a:lnTo>
                    <a:pt x="556239" y="618570"/>
                  </a:lnTo>
                  <a:lnTo>
                    <a:pt x="589391" y="589391"/>
                  </a:lnTo>
                  <a:lnTo>
                    <a:pt x="618570" y="556239"/>
                  </a:lnTo>
                  <a:lnTo>
                    <a:pt x="643367" y="519528"/>
                  </a:lnTo>
                  <a:lnTo>
                    <a:pt x="663370" y="479669"/>
                  </a:lnTo>
                  <a:lnTo>
                    <a:pt x="678167" y="437072"/>
                  </a:lnTo>
                  <a:lnTo>
                    <a:pt x="687347" y="392149"/>
                  </a:lnTo>
                  <a:lnTo>
                    <a:pt x="690499" y="345313"/>
                  </a:lnTo>
                  <a:lnTo>
                    <a:pt x="687347" y="298473"/>
                  </a:lnTo>
                  <a:lnTo>
                    <a:pt x="678167" y="253544"/>
                  </a:lnTo>
                  <a:lnTo>
                    <a:pt x="663370" y="210937"/>
                  </a:lnTo>
                  <a:lnTo>
                    <a:pt x="643367" y="171064"/>
                  </a:lnTo>
                  <a:lnTo>
                    <a:pt x="618570" y="134338"/>
                  </a:lnTo>
                  <a:lnTo>
                    <a:pt x="589391" y="101171"/>
                  </a:lnTo>
                  <a:lnTo>
                    <a:pt x="556239" y="71975"/>
                  </a:lnTo>
                  <a:lnTo>
                    <a:pt x="519528" y="47164"/>
                  </a:lnTo>
                  <a:lnTo>
                    <a:pt x="479669" y="27148"/>
                  </a:lnTo>
                  <a:lnTo>
                    <a:pt x="437072" y="12340"/>
                  </a:lnTo>
                  <a:lnTo>
                    <a:pt x="392149" y="3153"/>
                  </a:lnTo>
                  <a:lnTo>
                    <a:pt x="345312" y="0"/>
                  </a:lnTo>
                  <a:close/>
                </a:path>
              </a:pathLst>
            </a:custGeom>
            <a:solidFill>
              <a:srgbClr val="2DB024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1" name="object 60">
              <a:extLst>
                <a:ext uri="{FF2B5EF4-FFF2-40B4-BE49-F238E27FC236}">
                  <a16:creationId xmlns:a16="http://schemas.microsoft.com/office/drawing/2014/main" id="{9CD25610-8536-E27F-20BC-3430CCA5A120}"/>
                </a:ext>
              </a:extLst>
            </p:cNvPr>
            <p:cNvSpPr/>
            <p:nvPr/>
          </p:nvSpPr>
          <p:spPr>
            <a:xfrm>
              <a:off x="9958070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30" y="210937"/>
                  </a:lnTo>
                  <a:lnTo>
                    <a:pt x="47135" y="171064"/>
                  </a:lnTo>
                  <a:lnTo>
                    <a:pt x="71937" y="134338"/>
                  </a:lnTo>
                  <a:lnTo>
                    <a:pt x="101123" y="101171"/>
                  </a:lnTo>
                  <a:lnTo>
                    <a:pt x="134284" y="71975"/>
                  </a:lnTo>
                  <a:lnTo>
                    <a:pt x="171007" y="47164"/>
                  </a:lnTo>
                  <a:lnTo>
                    <a:pt x="210883" y="27148"/>
                  </a:lnTo>
                  <a:lnTo>
                    <a:pt x="253500" y="12340"/>
                  </a:lnTo>
                  <a:lnTo>
                    <a:pt x="298447" y="3153"/>
                  </a:lnTo>
                  <a:lnTo>
                    <a:pt x="345312" y="0"/>
                  </a:lnTo>
                  <a:lnTo>
                    <a:pt x="392149" y="3153"/>
                  </a:lnTo>
                  <a:lnTo>
                    <a:pt x="437072" y="12340"/>
                  </a:lnTo>
                  <a:lnTo>
                    <a:pt x="479669" y="27148"/>
                  </a:lnTo>
                  <a:lnTo>
                    <a:pt x="519528" y="47164"/>
                  </a:lnTo>
                  <a:lnTo>
                    <a:pt x="556239" y="71975"/>
                  </a:lnTo>
                  <a:lnTo>
                    <a:pt x="589391" y="101171"/>
                  </a:lnTo>
                  <a:lnTo>
                    <a:pt x="618570" y="134338"/>
                  </a:lnTo>
                  <a:lnTo>
                    <a:pt x="643367" y="171064"/>
                  </a:lnTo>
                  <a:lnTo>
                    <a:pt x="663370" y="210937"/>
                  </a:lnTo>
                  <a:lnTo>
                    <a:pt x="678167" y="253544"/>
                  </a:lnTo>
                  <a:lnTo>
                    <a:pt x="687347" y="298473"/>
                  </a:lnTo>
                  <a:lnTo>
                    <a:pt x="690499" y="345313"/>
                  </a:lnTo>
                  <a:lnTo>
                    <a:pt x="687347" y="392149"/>
                  </a:lnTo>
                  <a:lnTo>
                    <a:pt x="678167" y="437072"/>
                  </a:lnTo>
                  <a:lnTo>
                    <a:pt x="663370" y="479669"/>
                  </a:lnTo>
                  <a:lnTo>
                    <a:pt x="643367" y="519528"/>
                  </a:lnTo>
                  <a:lnTo>
                    <a:pt x="618570" y="556239"/>
                  </a:lnTo>
                  <a:lnTo>
                    <a:pt x="589391" y="589391"/>
                  </a:lnTo>
                  <a:lnTo>
                    <a:pt x="556239" y="618570"/>
                  </a:lnTo>
                  <a:lnTo>
                    <a:pt x="519528" y="643367"/>
                  </a:lnTo>
                  <a:lnTo>
                    <a:pt x="479669" y="663370"/>
                  </a:lnTo>
                  <a:lnTo>
                    <a:pt x="437072" y="678167"/>
                  </a:lnTo>
                  <a:lnTo>
                    <a:pt x="392149" y="687347"/>
                  </a:lnTo>
                  <a:lnTo>
                    <a:pt x="345312" y="690499"/>
                  </a:lnTo>
                  <a:lnTo>
                    <a:pt x="298447" y="687347"/>
                  </a:lnTo>
                  <a:lnTo>
                    <a:pt x="253500" y="678167"/>
                  </a:lnTo>
                  <a:lnTo>
                    <a:pt x="210883" y="663370"/>
                  </a:lnTo>
                  <a:lnTo>
                    <a:pt x="171007" y="643367"/>
                  </a:lnTo>
                  <a:lnTo>
                    <a:pt x="134284" y="618570"/>
                  </a:lnTo>
                  <a:lnTo>
                    <a:pt x="101123" y="589391"/>
                  </a:lnTo>
                  <a:lnTo>
                    <a:pt x="71937" y="556239"/>
                  </a:lnTo>
                  <a:lnTo>
                    <a:pt x="47135" y="519528"/>
                  </a:lnTo>
                  <a:lnTo>
                    <a:pt x="27130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34444943-EE9B-66AD-6234-19A380F5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B9CAF0DF-0506-C540-AA19-75365848D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27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8">
            <a:extLst>
              <a:ext uri="{FF2B5EF4-FFF2-40B4-BE49-F238E27FC236}">
                <a16:creationId xmlns:a16="http://schemas.microsoft.com/office/drawing/2014/main" id="{C77A7853-44A2-4EE3-37AA-14EC5B8D6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075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8">
            <a:extLst>
              <a:ext uri="{FF2B5EF4-FFF2-40B4-BE49-F238E27FC236}">
                <a16:creationId xmlns:a16="http://schemas.microsoft.com/office/drawing/2014/main" id="{D00FD055-8083-6415-5D3A-D32A838A9E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432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8">
            <a:extLst>
              <a:ext uri="{FF2B5EF4-FFF2-40B4-BE49-F238E27FC236}">
                <a16:creationId xmlns:a16="http://schemas.microsoft.com/office/drawing/2014/main" id="{126D42B8-A709-8D1D-4C2F-3A7E1A18B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31724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E010B432-5BED-5BEC-E2D9-2A6B4E14DF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596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5" name="Text Placeholder 63">
            <a:extLst>
              <a:ext uri="{FF2B5EF4-FFF2-40B4-BE49-F238E27FC236}">
                <a16:creationId xmlns:a16="http://schemas.microsoft.com/office/drawing/2014/main" id="{D0C1CB91-B50D-2504-DD70-9DCAD450F6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9862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6" name="Text Placeholder 63">
            <a:extLst>
              <a:ext uri="{FF2B5EF4-FFF2-40B4-BE49-F238E27FC236}">
                <a16:creationId xmlns:a16="http://schemas.microsoft.com/office/drawing/2014/main" id="{83876A7B-100C-9328-C3EC-EEE94D44ED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0792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7" name="Text Placeholder 63">
            <a:extLst>
              <a:ext uri="{FF2B5EF4-FFF2-40B4-BE49-F238E27FC236}">
                <a16:creationId xmlns:a16="http://schemas.microsoft.com/office/drawing/2014/main" id="{37515FBD-CA3E-3C7F-EE3D-88601874DD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31724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116E55BE-8A67-AA79-50BC-EACDA420D85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16654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0" name="Picture Placeholder 68">
            <a:extLst>
              <a:ext uri="{FF2B5EF4-FFF2-40B4-BE49-F238E27FC236}">
                <a16:creationId xmlns:a16="http://schemas.microsoft.com/office/drawing/2014/main" id="{8021C9F1-9FFA-9368-6F43-2E6F5ABFDE1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12775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1" name="Picture Placeholder 68">
            <a:extLst>
              <a:ext uri="{FF2B5EF4-FFF2-40B4-BE49-F238E27FC236}">
                <a16:creationId xmlns:a16="http://schemas.microsoft.com/office/drawing/2014/main" id="{1218FECD-D906-331C-C35C-32AD8A078EC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94093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3D941BE0-F5CF-42F0-BAE1-20C73E03DD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85024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561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62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5F027D8-F26E-B242-4DEC-A652B52889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21" y="1376560"/>
            <a:ext cx="11339300" cy="609610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2698" b="1" i="0">
                <a:solidFill>
                  <a:schemeClr val="tx1"/>
                </a:solidFill>
                <a:latin typeface="Manrope" pitchFamily="2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Project Title/Description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AB4E9-0453-6002-8E44-29902D0C7EF1}"/>
              </a:ext>
            </a:extLst>
          </p:cNvPr>
          <p:cNvSpPr/>
          <p:nvPr userDrawn="1"/>
        </p:nvSpPr>
        <p:spPr>
          <a:xfrm>
            <a:off x="366746" y="2675861"/>
            <a:ext cx="2691645" cy="3552433"/>
          </a:xfrm>
          <a:prstGeom prst="rect">
            <a:avLst/>
          </a:prstGeom>
          <a:solidFill>
            <a:srgbClr val="9BC4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22B23A-06CF-7868-B9FE-7B098264E6A4}"/>
              </a:ext>
            </a:extLst>
          </p:cNvPr>
          <p:cNvSpPr/>
          <p:nvPr userDrawn="1"/>
        </p:nvSpPr>
        <p:spPr>
          <a:xfrm>
            <a:off x="3263064" y="2676919"/>
            <a:ext cx="3370634" cy="3552433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B9AD1-2BA4-FA5C-01B4-ECB225C8C91D}"/>
              </a:ext>
            </a:extLst>
          </p:cNvPr>
          <p:cNvSpPr/>
          <p:nvPr userDrawn="1"/>
        </p:nvSpPr>
        <p:spPr>
          <a:xfrm>
            <a:off x="6838371" y="2675861"/>
            <a:ext cx="4986885" cy="3552433"/>
          </a:xfrm>
          <a:prstGeom prst="rect">
            <a:avLst/>
          </a:prstGeom>
          <a:solidFill>
            <a:srgbClr val="9BC4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2D1EEB-8853-D908-A1CF-184EC02652AF}"/>
              </a:ext>
            </a:extLst>
          </p:cNvPr>
          <p:cNvSpPr txBox="1"/>
          <p:nvPr userDrawn="1"/>
        </p:nvSpPr>
        <p:spPr>
          <a:xfrm>
            <a:off x="366745" y="2224143"/>
            <a:ext cx="1546188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Challenge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8B461-4275-3FA4-B018-EC87B15C9014}"/>
              </a:ext>
            </a:extLst>
          </p:cNvPr>
          <p:cNvSpPr txBox="1"/>
          <p:nvPr userDrawn="1"/>
        </p:nvSpPr>
        <p:spPr>
          <a:xfrm>
            <a:off x="3263064" y="2224143"/>
            <a:ext cx="1330375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8F2B02-DA54-CA8B-BE06-58C6A2248107}"/>
              </a:ext>
            </a:extLst>
          </p:cNvPr>
          <p:cNvSpPr txBox="1"/>
          <p:nvPr userDrawn="1"/>
        </p:nvSpPr>
        <p:spPr>
          <a:xfrm>
            <a:off x="6838372" y="2224141"/>
            <a:ext cx="1288809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Benefits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000B3715-9C08-9C33-4705-BDE84047E7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1120" y="2812848"/>
            <a:ext cx="2309875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tx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Challenge description</a:t>
            </a:r>
            <a:endParaRPr 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13826928-DDBF-2CFE-017B-3780858233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7574" y="2812848"/>
            <a:ext cx="3058164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Solution Description</a:t>
            </a:r>
            <a:endParaRPr lang="en-US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FF5E0B46-4704-B60D-E734-F8F7378697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56385" y="2812848"/>
            <a:ext cx="4604496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tx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Benefits Description</a:t>
            </a:r>
            <a:endParaRPr lang="en-US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6D2EE3C-96D6-C010-9D7D-98FB439B6A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Insurer Description</a:t>
            </a:r>
          </a:p>
        </p:txBody>
      </p:sp>
    </p:spTree>
    <p:extLst>
      <p:ext uri="{BB962C8B-B14F-4D97-AF65-F5344CB8AC3E}">
        <p14:creationId xmlns:p14="http://schemas.microsoft.com/office/powerpoint/2010/main" val="2361024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417171"/>
            <a:ext cx="10515600" cy="4759793"/>
          </a:xfrm>
          <a:prstGeom prst="rect">
            <a:avLst/>
          </a:prstGeom>
        </p:spPr>
        <p:txBody>
          <a:bodyPr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24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260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6084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4CE6851D-2204-97EF-FF97-4F5D8564A503}"/>
              </a:ext>
            </a:extLst>
          </p:cNvPr>
          <p:cNvSpPr/>
          <p:nvPr userDrawn="1"/>
        </p:nvSpPr>
        <p:spPr>
          <a:xfrm>
            <a:off x="4094923" y="0"/>
            <a:ext cx="8121758" cy="6912386"/>
          </a:xfrm>
          <a:custGeom>
            <a:avLst/>
            <a:gdLst>
              <a:gd name="connsiteX0" fmla="*/ 0 w 8075605"/>
              <a:gd name="connsiteY0" fmla="*/ 0 h 6858000"/>
              <a:gd name="connsiteX1" fmla="*/ 8075605 w 8075605"/>
              <a:gd name="connsiteY1" fmla="*/ 0 h 6858000"/>
              <a:gd name="connsiteX2" fmla="*/ 8075605 w 8075605"/>
              <a:gd name="connsiteY2" fmla="*/ 6858000 h 6858000"/>
              <a:gd name="connsiteX3" fmla="*/ 2623371 w 8075605"/>
              <a:gd name="connsiteY3" fmla="*/ 6858000 h 6858000"/>
              <a:gd name="connsiteX4" fmla="*/ 0 w 807560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5605" h="6858000">
                <a:moveTo>
                  <a:pt x="0" y="0"/>
                </a:moveTo>
                <a:lnTo>
                  <a:pt x="8075605" y="0"/>
                </a:lnTo>
                <a:lnTo>
                  <a:pt x="8075605" y="6858000"/>
                </a:lnTo>
                <a:lnTo>
                  <a:pt x="2623371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65ABC"/>
              </a:gs>
              <a:gs pos="29000">
                <a:srgbClr val="365ABC"/>
              </a:gs>
              <a:gs pos="100000">
                <a:srgbClr val="2C3A7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7" name="Google Shape;16;p9" descr="Link-01.png">
            <a:extLst>
              <a:ext uri="{FF2B5EF4-FFF2-40B4-BE49-F238E27FC236}">
                <a16:creationId xmlns:a16="http://schemas.microsoft.com/office/drawing/2014/main" id="{CEF810AE-6202-27D1-3283-7BDD893EA4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73" t="5879" r="3301" b="5748"/>
          <a:stretch/>
        </p:blipFill>
        <p:spPr>
          <a:xfrm>
            <a:off x="355600" y="374650"/>
            <a:ext cx="11480800" cy="61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7;p9">
            <a:extLst>
              <a:ext uri="{FF2B5EF4-FFF2-40B4-BE49-F238E27FC236}">
                <a16:creationId xmlns:a16="http://schemas.microsoft.com/office/drawing/2014/main" id="{80C53D57-5B8D-8246-B320-778AFEB32D8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747628" y="4337144"/>
            <a:ext cx="6696744" cy="57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23" lvl="0" indent="-22861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A554D"/>
              </a:buClr>
              <a:buSzPts val="2800"/>
              <a:buNone/>
              <a:defRPr sz="2800" b="0" i="0">
                <a:solidFill>
                  <a:srgbClr val="61B2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46" lvl="1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69" lvl="2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91" lvl="3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114" lvl="4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337" lvl="5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560" lvl="6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83" lvl="7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5006" lvl="8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Google Shape;18;p9">
            <a:extLst>
              <a:ext uri="{FF2B5EF4-FFF2-40B4-BE49-F238E27FC236}">
                <a16:creationId xmlns:a16="http://schemas.microsoft.com/office/drawing/2014/main" id="{3AF9D4D0-32CA-6CA9-202B-16FE78BE6DC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47628" y="3041000"/>
            <a:ext cx="6696744" cy="157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23" lvl="0" indent="-22861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Abadi" panose="020B0604020104020204" pitchFamily="34" charset="0"/>
                <a:ea typeface="Abadi" panose="020B0604020104020204" pitchFamily="34" charset="0"/>
                <a:cs typeface="Gill Sans"/>
                <a:sym typeface="Gill Sans"/>
              </a:defRPr>
            </a:lvl1pPr>
            <a:lvl2pPr marL="914446" lvl="1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69" lvl="2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91" lvl="3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114" lvl="4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337" lvl="5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560" lvl="6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83" lvl="7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5006" lvl="8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F6582E-80B4-C2AB-6B07-93D64AF040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8612" y="1667086"/>
            <a:ext cx="2574778" cy="127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143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BE03D8C-210D-C515-B400-0A36BF4CA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3168904"/>
            <a:ext cx="2742108" cy="1219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6FC07E-87BD-9E5A-640D-A2006ED2C03D}"/>
              </a:ext>
            </a:extLst>
          </p:cNvPr>
          <p:cNvSpPr/>
          <p:nvPr userDrawn="1"/>
        </p:nvSpPr>
        <p:spPr>
          <a:xfrm>
            <a:off x="4386943" y="1328057"/>
            <a:ext cx="7544871" cy="4894554"/>
          </a:xfrm>
          <a:prstGeom prst="rect">
            <a:avLst/>
          </a:prstGeom>
          <a:solidFill>
            <a:schemeClr val="bg1"/>
          </a:solidFill>
          <a:ln w="50800"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4D6B17D-FD60-4C01-E98C-2D52D97138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6106778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7170"/>
            <a:ext cx="10515600" cy="4759793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0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1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74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566">
          <p15:clr>
            <a:srgbClr val="000000"/>
          </p15:clr>
        </p15:guide>
        <p15:guide id="4" pos="120">
          <p15:clr>
            <a:srgbClr val="00000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6884168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5290705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65313722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5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3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6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2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6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6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0683436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7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1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7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6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6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1" y="2806917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8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1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7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7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90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6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6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5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6" y="278635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3" y="3743192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6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</p:spTree>
    <p:extLst>
      <p:ext uri="{BB962C8B-B14F-4D97-AF65-F5344CB8AC3E}">
        <p14:creationId xmlns:p14="http://schemas.microsoft.com/office/powerpoint/2010/main" val="120568918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5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252499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5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90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388872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2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2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4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3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B5863-B4F1-F2F5-F618-E7E43C3734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111F7E1-3A33-4F90-A742-D4C1B18AB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4048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3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3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2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4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B5863-B4F1-F2F5-F618-E7E43C3734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111F7E1-3A33-4F90-A742-D4C1B18AB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05425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223143-2100-90D7-4164-34C4971E6AEB}"/>
              </a:ext>
            </a:extLst>
          </p:cNvPr>
          <p:cNvSpPr/>
          <p:nvPr userDrawn="1"/>
        </p:nvSpPr>
        <p:spPr>
          <a:xfrm>
            <a:off x="0" y="1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6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DF4734-C1D4-A4C0-BD75-2DE74BC37B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2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350DB-E511-3A3B-334C-2F963BA947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19225E-0850-EE99-D32E-1C63B1939BAA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C7996-BC68-A067-F2E2-C2ED28DED1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7388" y="1435499"/>
            <a:ext cx="10817225" cy="4759325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20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61755145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31196427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3866459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08359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009651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664166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6D08E7-167E-3FC1-1AB5-CBF02F55E0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385" y="184317"/>
            <a:ext cx="1577261" cy="78194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357158-EBAF-931D-BEE2-E46B8BF81281}"/>
              </a:ext>
            </a:extLst>
          </p:cNvPr>
          <p:cNvSpPr/>
          <p:nvPr userDrawn="1"/>
        </p:nvSpPr>
        <p:spPr>
          <a:xfrm>
            <a:off x="1" y="1"/>
            <a:ext cx="12193567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6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9D85E2-CADA-EE70-25BB-29A2258E240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888" y="295812"/>
            <a:ext cx="9057196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699569-2733-47F3-E669-4C2125B1C0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50" y="181875"/>
            <a:ext cx="1556588" cy="77158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A0F318-0638-DEE9-370D-DEB3C22AD7D8}"/>
              </a:ext>
            </a:extLst>
          </p:cNvPr>
          <p:cNvCxnSpPr>
            <a:cxnSpLocks/>
          </p:cNvCxnSpPr>
          <p:nvPr userDrawn="1"/>
        </p:nvCxnSpPr>
        <p:spPr>
          <a:xfrm>
            <a:off x="2279665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59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9">
          <p15:clr>
            <a:srgbClr val="FBAE40"/>
          </p15:clr>
        </p15:guide>
        <p15:guide id="2" pos="389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2.bin"/><Relationship Id="rId5" Type="http://schemas.openxmlformats.org/officeDocument/2006/relationships/tags" Target="../tags/tag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oleObject" Target="../embeddings/oleObject3.bin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2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10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31.xml"/><Relationship Id="rId10" Type="http://schemas.openxmlformats.org/officeDocument/2006/relationships/oleObject" Target="../embeddings/oleObject4.bin"/><Relationship Id="rId4" Type="http://schemas.openxmlformats.org/officeDocument/2006/relationships/slideLayout" Target="../slideLayouts/slideLayout30.xml"/><Relationship Id="rId9" Type="http://schemas.openxmlformats.org/officeDocument/2006/relationships/tags" Target="../tags/tag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oleObject" Target="../embeddings/oleObject5.bin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oleObject" Target="../embeddings/oleObject6.bin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70.xml"/><Relationship Id="rId10" Type="http://schemas.openxmlformats.org/officeDocument/2006/relationships/oleObject" Target="../embeddings/oleObject7.bin"/><Relationship Id="rId4" Type="http://schemas.openxmlformats.org/officeDocument/2006/relationships/slideLayout" Target="../slideLayouts/slideLayout69.xml"/><Relationship Id="rId9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95E12D6-A5AB-3B58-CF36-CB66C5853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4210743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05" imgH="405" progId="TCLayout.ActiveDocument.1">
                  <p:embed/>
                </p:oleObj>
              </mc:Choice>
              <mc:Fallback>
                <p:oleObj name="think-cell Slide" r:id="rId17" imgW="405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5E12D6-A5AB-3B58-CF36-CB66C5853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47B44-5FC4-F70D-1E06-BF973E6D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AFD76-ACD0-209B-C748-A365D99C5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02E06-7C71-7BCF-9CC8-F6058970D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B8BB6-33E4-42BA-9902-70DCB29FE30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9C17D-6C7C-2562-CD86-D8283D410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63411-3438-F739-3B90-12278DC99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25" r:id="rId12"/>
    <p:sldLayoutId id="2147483770" r:id="rId13"/>
    <p:sldLayoutId id="21474837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AE2B073-9376-6B42-2D09-59DDB076EA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507226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E2B073-9376-6B42-2D09-59DDB076EA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707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809A7B-498B-F3E9-933F-07C9D43D2285}"/>
              </a:ext>
            </a:extLst>
          </p:cNvPr>
          <p:cNvSpPr txBox="1"/>
          <p:nvPr userDrawn="1"/>
        </p:nvSpPr>
        <p:spPr>
          <a:xfrm>
            <a:off x="9860733" y="6572252"/>
            <a:ext cx="222689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Let’s insure the future. Together.</a:t>
            </a:r>
          </a:p>
        </p:txBody>
      </p:sp>
    </p:spTree>
    <p:extLst>
      <p:ext uri="{BB962C8B-B14F-4D97-AF65-F5344CB8AC3E}">
        <p14:creationId xmlns:p14="http://schemas.microsoft.com/office/powerpoint/2010/main" val="2366339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8" r:id="rId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FE9184-ECC5-1CD1-F6AC-B95A8684EA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274563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FE9184-ECC5-1CD1-F6AC-B95A8684EA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670924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45410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9F718F5-00ED-C606-57B4-D79F22A96C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166221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5" imgH="405" progId="TCLayout.ActiveDocument.1">
                  <p:embed/>
                </p:oleObj>
              </mc:Choice>
              <mc:Fallback>
                <p:oleObj name="think-cell Slide" r:id="rId10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F718F5-00ED-C606-57B4-D79F22A96C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995E386-697C-B5B7-0462-D9B581B6EB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550493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05" imgH="405" progId="TCLayout.ActiveDocument.1">
                  <p:embed/>
                </p:oleObj>
              </mc:Choice>
              <mc:Fallback>
                <p:oleObj name="think-cell Slide" r:id="rId25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95E386-697C-B5B7-0462-D9B581B6EB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27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6659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64A2645-BF37-C334-AE97-9176308835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127932918"/>
              </p:ext>
            </p:extLst>
          </p:nvPr>
        </p:nvGraphicFramePr>
        <p:xfrm>
          <a:off x="1569" y="1567"/>
          <a:ext cx="1568" cy="1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05" imgH="405" progId="TCLayout.ActiveDocument.1">
                  <p:embed/>
                </p:oleObj>
              </mc:Choice>
              <mc:Fallback>
                <p:oleObj name="think-cell Slide" r:id="rId13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4A2645-BF37-C334-AE97-917630883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69" y="1567"/>
                        <a:ext cx="1568" cy="1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378708" y="342902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1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8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7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8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3"/>
            <a:ext cx="2670924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49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19881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347">
        <a:defRPr>
          <a:latin typeface="+mn-lt"/>
          <a:ea typeface="+mn-ea"/>
          <a:cs typeface="+mn-cs"/>
        </a:defRPr>
      </a:lvl2pPr>
      <a:lvl3pPr marL="684693">
        <a:defRPr>
          <a:latin typeface="+mn-lt"/>
          <a:ea typeface="+mn-ea"/>
          <a:cs typeface="+mn-cs"/>
        </a:defRPr>
      </a:lvl3pPr>
      <a:lvl4pPr marL="1027040">
        <a:defRPr>
          <a:latin typeface="+mn-lt"/>
          <a:ea typeface="+mn-ea"/>
          <a:cs typeface="+mn-cs"/>
        </a:defRPr>
      </a:lvl4pPr>
      <a:lvl5pPr marL="1369386">
        <a:defRPr>
          <a:latin typeface="+mn-lt"/>
          <a:ea typeface="+mn-ea"/>
          <a:cs typeface="+mn-cs"/>
        </a:defRPr>
      </a:lvl5pPr>
      <a:lvl6pPr marL="1711732">
        <a:defRPr>
          <a:latin typeface="+mn-lt"/>
          <a:ea typeface="+mn-ea"/>
          <a:cs typeface="+mn-cs"/>
        </a:defRPr>
      </a:lvl6pPr>
      <a:lvl7pPr marL="2054078">
        <a:defRPr>
          <a:latin typeface="+mn-lt"/>
          <a:ea typeface="+mn-ea"/>
          <a:cs typeface="+mn-cs"/>
        </a:defRPr>
      </a:lvl7pPr>
      <a:lvl8pPr marL="2396425">
        <a:defRPr>
          <a:latin typeface="+mn-lt"/>
          <a:ea typeface="+mn-ea"/>
          <a:cs typeface="+mn-cs"/>
        </a:defRPr>
      </a:lvl8pPr>
      <a:lvl9pPr marL="273877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347">
        <a:defRPr>
          <a:latin typeface="+mn-lt"/>
          <a:ea typeface="+mn-ea"/>
          <a:cs typeface="+mn-cs"/>
        </a:defRPr>
      </a:lvl2pPr>
      <a:lvl3pPr marL="684693">
        <a:defRPr>
          <a:latin typeface="+mn-lt"/>
          <a:ea typeface="+mn-ea"/>
          <a:cs typeface="+mn-cs"/>
        </a:defRPr>
      </a:lvl3pPr>
      <a:lvl4pPr marL="1027040">
        <a:defRPr>
          <a:latin typeface="+mn-lt"/>
          <a:ea typeface="+mn-ea"/>
          <a:cs typeface="+mn-cs"/>
        </a:defRPr>
      </a:lvl4pPr>
      <a:lvl5pPr marL="1369386">
        <a:defRPr>
          <a:latin typeface="+mn-lt"/>
          <a:ea typeface="+mn-ea"/>
          <a:cs typeface="+mn-cs"/>
        </a:defRPr>
      </a:lvl5pPr>
      <a:lvl6pPr marL="1711732">
        <a:defRPr>
          <a:latin typeface="+mn-lt"/>
          <a:ea typeface="+mn-ea"/>
          <a:cs typeface="+mn-cs"/>
        </a:defRPr>
      </a:lvl6pPr>
      <a:lvl7pPr marL="2054078">
        <a:defRPr>
          <a:latin typeface="+mn-lt"/>
          <a:ea typeface="+mn-ea"/>
          <a:cs typeface="+mn-cs"/>
        </a:defRPr>
      </a:lvl7pPr>
      <a:lvl8pPr marL="2396425">
        <a:defRPr>
          <a:latin typeface="+mn-lt"/>
          <a:ea typeface="+mn-ea"/>
          <a:cs typeface="+mn-cs"/>
        </a:defRPr>
      </a:lvl8pPr>
      <a:lvl9pPr marL="2738771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F736AE4-F686-710F-DE52-A535F8A1F6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8886575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5" imgH="405" progId="TCLayout.ActiveDocument.1">
                  <p:embed/>
                </p:oleObj>
              </mc:Choice>
              <mc:Fallback>
                <p:oleObj name="think-cell Slide" r:id="rId10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736AE4-F686-710F-DE52-A535F8A1F6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707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59827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5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5" Type="http://schemas.openxmlformats.org/officeDocument/2006/relationships/image" Target="../media/image3.png"/><Relationship Id="rId4" Type="http://schemas.openxmlformats.org/officeDocument/2006/relationships/image" Target="../media/image5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6.png"/><Relationship Id="rId5" Type="http://schemas.openxmlformats.org/officeDocument/2006/relationships/image" Target="../media/image55.jpeg"/><Relationship Id="rId4" Type="http://schemas.openxmlformats.org/officeDocument/2006/relationships/image" Target="../media/image5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8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angle 1">
            <a:extLst>
              <a:ext uri="{FF2B5EF4-FFF2-40B4-BE49-F238E27FC236}">
                <a16:creationId xmlns:a16="http://schemas.microsoft.com/office/drawing/2014/main" id="{597BB60D-A572-24F9-8052-6E986F6F67FD}"/>
              </a:ext>
            </a:extLst>
          </p:cNvPr>
          <p:cNvSpPr/>
          <p:nvPr/>
        </p:nvSpPr>
        <p:spPr>
          <a:xfrm>
            <a:off x="5283200" y="0"/>
            <a:ext cx="6908800" cy="6890250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056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D646DF-4758-EF20-ABDA-50A9CB81E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0" y="5156200"/>
            <a:ext cx="2572255" cy="114956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EF6F14A-269B-DFEA-C2FE-78C6F42166FE}"/>
              </a:ext>
            </a:extLst>
          </p:cNvPr>
          <p:cNvGrpSpPr/>
          <p:nvPr/>
        </p:nvGrpSpPr>
        <p:grpSpPr>
          <a:xfrm>
            <a:off x="7782915" y="2359948"/>
            <a:ext cx="4409085" cy="4530301"/>
            <a:chOff x="11674372" y="3539922"/>
            <a:chExt cx="6613628" cy="6795452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F1693E4-E2EB-3725-10FF-83A9603A6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20734" b="1865"/>
            <a:stretch>
              <a:fillRect/>
            </a:stretch>
          </p:blipFill>
          <p:spPr>
            <a:xfrm>
              <a:off x="11674372" y="3539922"/>
              <a:ext cx="6613628" cy="6795452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6B4296A-AB21-CEB1-1ED1-6E3632954A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716000" y="7886700"/>
              <a:ext cx="4113162" cy="1828800"/>
            </a:xfrm>
            <a:prstGeom prst="rect">
              <a:avLst/>
            </a:prstGeom>
          </p:spPr>
        </p:pic>
      </p:grpSp>
      <p:sp>
        <p:nvSpPr>
          <p:cNvPr id="2" name="Triangle 1">
            <a:extLst>
              <a:ext uri="{FF2B5EF4-FFF2-40B4-BE49-F238E27FC236}">
                <a16:creationId xmlns:a16="http://schemas.microsoft.com/office/drawing/2014/main" id="{7E9A40D7-23A0-760D-1E78-AB54820A047E}"/>
              </a:ext>
            </a:extLst>
          </p:cNvPr>
          <p:cNvSpPr/>
          <p:nvPr/>
        </p:nvSpPr>
        <p:spPr>
          <a:xfrm>
            <a:off x="11064876" y="5820024"/>
            <a:ext cx="1127125" cy="1070226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3FD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652C2-0720-F0B7-0D71-E957B05D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800" y="2111376"/>
            <a:ext cx="7972425" cy="18510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Advanced Analytics</a:t>
            </a:r>
          </a:p>
          <a:p>
            <a:r>
              <a:rPr lang="en-US" sz="4000" dirty="0">
                <a:solidFill>
                  <a:srgbClr val="3FD534"/>
                </a:solidFill>
              </a:rPr>
              <a:t>Cloud Agnostic Loss Run Parser Engine</a:t>
            </a:r>
          </a:p>
          <a:p>
            <a:r>
              <a:rPr lang="en-US" sz="3100" b="1" dirty="0">
                <a:solidFill>
                  <a:srgbClr val="FCC028"/>
                </a:solidFill>
              </a:rPr>
              <a:t>Mar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BA45-D3BB-E68B-8C2E-7FD81AF94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19193B-2919-A008-9504-40387D09CC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0176" y="228600"/>
            <a:ext cx="9479494" cy="685800"/>
          </a:xfrm>
        </p:spPr>
        <p:txBody>
          <a:bodyPr/>
          <a:lstStyle/>
          <a:p>
            <a:r>
              <a:rPr lang="en-IN" dirty="0"/>
              <a:t>Cloud Agnostic Solution Design Approach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F3370C-2F4A-55F9-1D3D-293CA895C54C}"/>
              </a:ext>
            </a:extLst>
          </p:cNvPr>
          <p:cNvSpPr/>
          <p:nvPr/>
        </p:nvSpPr>
        <p:spPr>
          <a:xfrm>
            <a:off x="912996" y="1137503"/>
            <a:ext cx="1389886" cy="7386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ubai" panose="020B0503030403030204" pitchFamily="34" charset="-78"/>
                <a:cs typeface="Dubai" panose="020B0503030403030204" pitchFamily="34" charset="-78"/>
              </a:rPr>
              <a:t>Upload Files </a:t>
            </a:r>
            <a:r>
              <a:rPr lang="en-IN" sz="1600" dirty="0">
                <a:solidFill>
                  <a:srgbClr val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through Streamlit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ubai" panose="020B0503030403030204" pitchFamily="34" charset="-78"/>
                <a:cs typeface="Dubai" panose="020B0503030403030204" pitchFamily="34" charset="-78"/>
              </a:rPr>
              <a:t> UI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DA6433-FDE5-996A-C3E5-AB243C156548}"/>
              </a:ext>
            </a:extLst>
          </p:cNvPr>
          <p:cNvCxnSpPr>
            <a:cxnSpLocks/>
          </p:cNvCxnSpPr>
          <p:nvPr/>
        </p:nvCxnSpPr>
        <p:spPr>
          <a:xfrm>
            <a:off x="1665387" y="2204735"/>
            <a:ext cx="877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1FDA646-2D63-9B29-B89B-D4B833B044F6}"/>
              </a:ext>
            </a:extLst>
          </p:cNvPr>
          <p:cNvSpPr txBox="1"/>
          <p:nvPr/>
        </p:nvSpPr>
        <p:spPr>
          <a:xfrm>
            <a:off x="1691144" y="2827334"/>
            <a:ext cx="1511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Review layer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57EECAC1-3F1C-8740-B77D-85D36ADADEA9}"/>
              </a:ext>
            </a:extLst>
          </p:cNvPr>
          <p:cNvSpPr/>
          <p:nvPr/>
        </p:nvSpPr>
        <p:spPr>
          <a:xfrm>
            <a:off x="4451966" y="5230802"/>
            <a:ext cx="1173612" cy="921157"/>
          </a:xfrm>
          <a:prstGeom prst="can">
            <a:avLst>
              <a:gd name="adj" fmla="val 120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Claims</a:t>
            </a:r>
          </a:p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Domain Model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F0578F43-7514-2602-9112-EE6A551413E5}"/>
              </a:ext>
            </a:extLst>
          </p:cNvPr>
          <p:cNvSpPr/>
          <p:nvPr/>
        </p:nvSpPr>
        <p:spPr>
          <a:xfrm>
            <a:off x="6907684" y="5238614"/>
            <a:ext cx="953485" cy="921157"/>
          </a:xfrm>
          <a:prstGeom prst="can">
            <a:avLst>
              <a:gd name="adj" fmla="val 15546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Feature Store*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E7FF878-6217-2A2C-5344-F884E0C58C0F}"/>
              </a:ext>
            </a:extLst>
          </p:cNvPr>
          <p:cNvCxnSpPr>
            <a:cxnSpLocks/>
            <a:stCxn id="14" idx="4"/>
            <a:endCxn id="28" idx="2"/>
          </p:cNvCxnSpPr>
          <p:nvPr/>
        </p:nvCxnSpPr>
        <p:spPr>
          <a:xfrm>
            <a:off x="5625578" y="5691381"/>
            <a:ext cx="1282106" cy="7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A07B83-D82F-440E-3D08-398C48769EDB}"/>
              </a:ext>
            </a:extLst>
          </p:cNvPr>
          <p:cNvSpPr txBox="1"/>
          <p:nvPr/>
        </p:nvSpPr>
        <p:spPr>
          <a:xfrm>
            <a:off x="3655525" y="4670510"/>
            <a:ext cx="1885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Normalised Structure Data</a:t>
            </a:r>
          </a:p>
        </p:txBody>
      </p:sp>
      <p:pic>
        <p:nvPicPr>
          <p:cNvPr id="37" name="Picture 2" descr="Insurance with Duck Creek's SaaS ...">
            <a:extLst>
              <a:ext uri="{FF2B5EF4-FFF2-40B4-BE49-F238E27FC236}">
                <a16:creationId xmlns:a16="http://schemas.microsoft.com/office/drawing/2014/main" id="{F8F7C266-54DF-FBBA-DA34-9DBF3C6319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3" b="14762"/>
          <a:stretch>
            <a:fillRect/>
          </a:stretch>
        </p:blipFill>
        <p:spPr bwMode="auto">
          <a:xfrm>
            <a:off x="1941286" y="5130592"/>
            <a:ext cx="1086537" cy="71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CFE3DBF-9C79-66D3-20C6-675DFEDC601C}"/>
              </a:ext>
            </a:extLst>
          </p:cNvPr>
          <p:cNvSpPr txBox="1"/>
          <p:nvPr/>
        </p:nvSpPr>
        <p:spPr>
          <a:xfrm>
            <a:off x="2536983" y="4954740"/>
            <a:ext cx="49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API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AFF262D-6D5B-0149-3749-27CF84AB8602}"/>
              </a:ext>
            </a:extLst>
          </p:cNvPr>
          <p:cNvSpPr/>
          <p:nvPr/>
        </p:nvSpPr>
        <p:spPr>
          <a:xfrm>
            <a:off x="3267130" y="1196848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F80007F-DAAF-73AF-608E-21FB304F66FE}"/>
              </a:ext>
            </a:extLst>
          </p:cNvPr>
          <p:cNvSpPr/>
          <p:nvPr/>
        </p:nvSpPr>
        <p:spPr>
          <a:xfrm>
            <a:off x="528198" y="179073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1D5BF47-A9B9-8D5F-A09F-C4300327F750}"/>
              </a:ext>
            </a:extLst>
          </p:cNvPr>
          <p:cNvSpPr/>
          <p:nvPr/>
        </p:nvSpPr>
        <p:spPr>
          <a:xfrm>
            <a:off x="5286531" y="1770310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3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341D079-4726-333C-9FFA-86C11E306089}"/>
              </a:ext>
            </a:extLst>
          </p:cNvPr>
          <p:cNvSpPr/>
          <p:nvPr/>
        </p:nvSpPr>
        <p:spPr>
          <a:xfrm>
            <a:off x="1359317" y="3702281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4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519B072-F73B-B60D-50DC-B1FB6242843C}"/>
              </a:ext>
            </a:extLst>
          </p:cNvPr>
          <p:cNvSpPr/>
          <p:nvPr/>
        </p:nvSpPr>
        <p:spPr>
          <a:xfrm>
            <a:off x="5978425" y="5108629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7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E79D7D9-C875-15FD-DC13-A9491C0E6A2C}"/>
              </a:ext>
            </a:extLst>
          </p:cNvPr>
          <p:cNvSpPr/>
          <p:nvPr/>
        </p:nvSpPr>
        <p:spPr>
          <a:xfrm>
            <a:off x="1704505" y="5062746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6</a:t>
            </a:r>
          </a:p>
        </p:txBody>
      </p:sp>
      <p:pic>
        <p:nvPicPr>
          <p:cNvPr id="15" name="Picture 2" descr="Azure AI Document Intelligence ...">
            <a:extLst>
              <a:ext uri="{FF2B5EF4-FFF2-40B4-BE49-F238E27FC236}">
                <a16:creationId xmlns:a16="http://schemas.microsoft.com/office/drawing/2014/main" id="{46A7D93E-9BF5-1515-3C2F-474897132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941" y="1890966"/>
            <a:ext cx="665021" cy="62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364BE9A-D2AF-2C24-BFD2-BA4D2D184A55}"/>
              </a:ext>
            </a:extLst>
          </p:cNvPr>
          <p:cNvSpPr/>
          <p:nvPr/>
        </p:nvSpPr>
        <p:spPr>
          <a:xfrm>
            <a:off x="8120743" y="1143294"/>
            <a:ext cx="3907971" cy="52139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50" b="1" u="sng" dirty="0"/>
              <a:t>Solution Flow:</a:t>
            </a:r>
            <a:endParaRPr lang="en-IN" sz="1150" u="sng" dirty="0"/>
          </a:p>
          <a:p>
            <a:r>
              <a:rPr lang="en-US" sz="1150" b="1" dirty="0"/>
              <a:t>1. Ingestion:</a:t>
            </a:r>
            <a:br>
              <a:rPr lang="en-US" sz="1150" dirty="0"/>
            </a:br>
            <a:r>
              <a:rPr lang="en-US" sz="1150" dirty="0"/>
              <a:t>User uploads </a:t>
            </a:r>
            <a:r>
              <a:rPr lang="en-US" sz="1150" b="1" dirty="0"/>
              <a:t>Excel or CSV Loss Run files through the Streamlit Web UI</a:t>
            </a:r>
            <a:r>
              <a:rPr lang="en-US" sz="1150" dirty="0"/>
              <a:t>, which initiates the processing workflow.</a:t>
            </a:r>
          </a:p>
          <a:p>
            <a:r>
              <a:rPr lang="en-US" sz="1150" b="1" dirty="0"/>
              <a:t>2. File Storage:</a:t>
            </a:r>
            <a:br>
              <a:rPr lang="en-US" sz="1150" dirty="0"/>
            </a:br>
            <a:r>
              <a:rPr lang="en-US" sz="1150" dirty="0"/>
              <a:t>The uploaded files are stored in the </a:t>
            </a:r>
            <a:r>
              <a:rPr lang="en-US" sz="1150" b="1" dirty="0"/>
              <a:t>Blob/File Storage Layer</a:t>
            </a:r>
            <a:r>
              <a:rPr lang="en-US" sz="1150" dirty="0"/>
              <a:t> to maintain the raw input for traceability and reprocessing.</a:t>
            </a:r>
          </a:p>
          <a:p>
            <a:r>
              <a:rPr lang="en-US" sz="1150" b="1" dirty="0"/>
              <a:t>3. Parsing &amp; Extraction:</a:t>
            </a:r>
            <a:br>
              <a:rPr lang="en-US" sz="1150" dirty="0"/>
            </a:br>
            <a:r>
              <a:rPr lang="en-US" sz="1150" dirty="0"/>
              <a:t>A </a:t>
            </a:r>
            <a:r>
              <a:rPr lang="en-US" sz="1150" b="1" dirty="0"/>
              <a:t>Loss Run Parsing Engine (Python)</a:t>
            </a:r>
            <a:r>
              <a:rPr lang="en-US" sz="1150" dirty="0"/>
              <a:t> processes the uploaded file, performs </a:t>
            </a:r>
            <a:r>
              <a:rPr lang="en-US" sz="1150" b="1" dirty="0"/>
              <a:t>layout detection, and extracts relevant claim fields</a:t>
            </a:r>
            <a:r>
              <a:rPr lang="en-US" sz="1150" dirty="0"/>
              <a:t>, generating an intermediate structured output.</a:t>
            </a:r>
          </a:p>
          <a:p>
            <a:r>
              <a:rPr lang="en-US" sz="1150" b="1" dirty="0"/>
              <a:t>4. Review &amp; Configuration:</a:t>
            </a:r>
            <a:br>
              <a:rPr lang="en-US" sz="1150" dirty="0"/>
            </a:br>
            <a:r>
              <a:rPr lang="en-US" sz="1150" dirty="0"/>
              <a:t>The </a:t>
            </a:r>
            <a:r>
              <a:rPr lang="en-US" sz="1150" b="1" dirty="0"/>
              <a:t>user reviews the extracted output in the review layer</a:t>
            </a:r>
            <a:r>
              <a:rPr lang="en-US" sz="1150" dirty="0"/>
              <a:t> and defines </a:t>
            </a:r>
            <a:r>
              <a:rPr lang="en-US" sz="1150" b="1" dirty="0"/>
              <a:t>configuration files</a:t>
            </a:r>
            <a:r>
              <a:rPr lang="en-US" sz="1150" dirty="0"/>
              <a:t> that control how the final output should be generated.</a:t>
            </a:r>
          </a:p>
          <a:p>
            <a:r>
              <a:rPr lang="en-US" sz="1150" b="1" dirty="0"/>
              <a:t>5. Post-Processing &amp; Normalization:</a:t>
            </a:r>
            <a:br>
              <a:rPr lang="en-US" sz="1150" dirty="0"/>
            </a:br>
            <a:r>
              <a:rPr lang="en-US" sz="1150" dirty="0"/>
              <a:t>The system applies </a:t>
            </a:r>
            <a:r>
              <a:rPr lang="en-US" sz="1150" b="1" dirty="0"/>
              <a:t>post-processing and normalization rules</a:t>
            </a:r>
            <a:r>
              <a:rPr lang="en-US" sz="1150" dirty="0"/>
              <a:t> based on the configuration files to generate </a:t>
            </a:r>
            <a:r>
              <a:rPr lang="en-US" sz="1150" b="1" dirty="0"/>
              <a:t>normalized structured data</a:t>
            </a:r>
            <a:r>
              <a:rPr lang="en-US" sz="1150" dirty="0"/>
              <a:t>.</a:t>
            </a:r>
          </a:p>
          <a:p>
            <a:r>
              <a:rPr lang="en-US" sz="1150" b="1" dirty="0"/>
              <a:t>6. Downstream Integration:</a:t>
            </a:r>
            <a:br>
              <a:rPr lang="en-US" sz="1150" dirty="0"/>
            </a:br>
            <a:r>
              <a:rPr lang="en-US" sz="1150" dirty="0"/>
              <a:t>The normalized data is delivered through </a:t>
            </a:r>
            <a:r>
              <a:rPr lang="en-US" sz="1150" b="1" dirty="0"/>
              <a:t>APIs to downstream systems such as Duck Creek or Guidewire</a:t>
            </a:r>
            <a:r>
              <a:rPr lang="en-US" sz="1150" dirty="0"/>
              <a:t>.</a:t>
            </a:r>
          </a:p>
          <a:p>
            <a:r>
              <a:rPr lang="en-US" sz="1150" b="1" dirty="0"/>
              <a:t>7. Storage &amp; Feature Layer:</a:t>
            </a:r>
            <a:br>
              <a:rPr lang="en-US" sz="1150" dirty="0"/>
            </a:br>
            <a:r>
              <a:rPr lang="en-US" sz="1150" dirty="0"/>
              <a:t>The finalized structured data is stored in the </a:t>
            </a:r>
            <a:r>
              <a:rPr lang="en-US" sz="1150" b="1" dirty="0"/>
              <a:t>Claims Domain Model and Feature Store</a:t>
            </a:r>
            <a:r>
              <a:rPr lang="en-US" sz="1150" dirty="0"/>
              <a:t> for downstream </a:t>
            </a:r>
            <a:r>
              <a:rPr lang="en-US" sz="1200" dirty="0"/>
              <a:t>analytics and business processing.</a:t>
            </a:r>
          </a:p>
        </p:txBody>
      </p:sp>
      <p:pic>
        <p:nvPicPr>
          <p:cNvPr id="9" name="Picture 28" descr="User Icon Image #383619 - Free Icons ...">
            <a:extLst>
              <a:ext uri="{FF2B5EF4-FFF2-40B4-BE49-F238E27FC236}">
                <a16:creationId xmlns:a16="http://schemas.microsoft.com/office/drawing/2014/main" id="{EEC969CE-ED3B-6BEC-EE68-F5EBA9E85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65" y="2450176"/>
            <a:ext cx="708374" cy="68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pplication - Free computer icons">
            <a:extLst>
              <a:ext uri="{FF2B5EF4-FFF2-40B4-BE49-F238E27FC236}">
                <a16:creationId xmlns:a16="http://schemas.microsoft.com/office/drawing/2014/main" id="{FC5C7316-8DF5-88E8-041F-CC0C0D5B2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751" y="1831201"/>
            <a:ext cx="804862" cy="8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DC6C0F-05AD-C038-64FE-B6762A6768BB}"/>
              </a:ext>
            </a:extLst>
          </p:cNvPr>
          <p:cNvSpPr/>
          <p:nvPr/>
        </p:nvSpPr>
        <p:spPr>
          <a:xfrm>
            <a:off x="5807897" y="1610962"/>
            <a:ext cx="2176278" cy="5937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100" dirty="0">
              <a:solidFill>
                <a:srgbClr val="000000"/>
              </a:solidFill>
              <a:latin typeface="Gill Sans MT" panose="020B050202010402020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Loss run file Parsing Engine (Python) lay out detection and Fields Extraction </a:t>
            </a:r>
          </a:p>
          <a:p>
            <a:pPr algn="ctr"/>
            <a:endParaRPr lang="en-IN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90DFD3C-E4B7-4C70-639A-51817FCEFAD6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3355613" y="2202265"/>
            <a:ext cx="1188328" cy="31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E2EA9A4-C898-BB09-74E0-85F59C35F932}"/>
              </a:ext>
            </a:extLst>
          </p:cNvPr>
          <p:cNvSpPr txBox="1"/>
          <p:nvPr/>
        </p:nvSpPr>
        <p:spPr>
          <a:xfrm>
            <a:off x="1856078" y="3082435"/>
            <a:ext cx="34911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User reviews extracted output and configures output generation through configuration files.</a:t>
            </a:r>
            <a:endParaRPr lang="en-IN" sz="1050" dirty="0"/>
          </a:p>
        </p:txBody>
      </p:sp>
      <p:sp>
        <p:nvSpPr>
          <p:cNvPr id="57" name="Flowchart: Card 56">
            <a:extLst>
              <a:ext uri="{FF2B5EF4-FFF2-40B4-BE49-F238E27FC236}">
                <a16:creationId xmlns:a16="http://schemas.microsoft.com/office/drawing/2014/main" id="{E4EBBD60-DDF1-A665-8B8B-02DBF59D26CC}"/>
              </a:ext>
            </a:extLst>
          </p:cNvPr>
          <p:cNvSpPr/>
          <p:nvPr/>
        </p:nvSpPr>
        <p:spPr>
          <a:xfrm>
            <a:off x="598883" y="4121014"/>
            <a:ext cx="1163162" cy="492276"/>
          </a:xfrm>
          <a:prstGeom prst="flowChartPunchedCar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config file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1F43A66-EEA5-77C2-E2A6-94119CBA380E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2872496" y="1298876"/>
            <a:ext cx="789268" cy="321864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2" descr="Azure AI Document Intelligence ...">
            <a:extLst>
              <a:ext uri="{FF2B5EF4-FFF2-40B4-BE49-F238E27FC236}">
                <a16:creationId xmlns:a16="http://schemas.microsoft.com/office/drawing/2014/main" id="{CC676A06-02A9-6F1A-477C-6521A3DB7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922" y="4078598"/>
            <a:ext cx="665021" cy="62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Oval 62">
            <a:extLst>
              <a:ext uri="{FF2B5EF4-FFF2-40B4-BE49-F238E27FC236}">
                <a16:creationId xmlns:a16="http://schemas.microsoft.com/office/drawing/2014/main" id="{B92B5908-2300-A631-48C7-9FDCD0E5E404}"/>
              </a:ext>
            </a:extLst>
          </p:cNvPr>
          <p:cNvSpPr/>
          <p:nvPr/>
        </p:nvSpPr>
        <p:spPr>
          <a:xfrm>
            <a:off x="3521757" y="3688738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1C14536-418E-03F8-2307-EC9C45F4F19A}"/>
              </a:ext>
            </a:extLst>
          </p:cNvPr>
          <p:cNvSpPr/>
          <p:nvPr/>
        </p:nvSpPr>
        <p:spPr>
          <a:xfrm>
            <a:off x="3977566" y="3664255"/>
            <a:ext cx="2176278" cy="3744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100" dirty="0">
              <a:solidFill>
                <a:srgbClr val="000000"/>
              </a:solidFill>
              <a:latin typeface="Gill Sans MT" panose="020B050202010402020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Post Processing and Normalisation </a:t>
            </a:r>
          </a:p>
          <a:p>
            <a:pPr algn="ctr"/>
            <a:endParaRPr lang="en-IN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35B8C77-78D3-2A25-3DFF-87827B1177EF}"/>
              </a:ext>
            </a:extLst>
          </p:cNvPr>
          <p:cNvCxnSpPr>
            <a:cxnSpLocks/>
          </p:cNvCxnSpPr>
          <p:nvPr/>
        </p:nvCxnSpPr>
        <p:spPr>
          <a:xfrm rot="5400000">
            <a:off x="2966299" y="3990455"/>
            <a:ext cx="429396" cy="18508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3527141E-9D61-D051-8E11-D5ECE5CDD813}"/>
              </a:ext>
            </a:extLst>
          </p:cNvPr>
          <p:cNvCxnSpPr>
            <a:cxnSpLocks/>
            <a:stCxn id="62" idx="2"/>
            <a:endCxn id="14" idx="1"/>
          </p:cNvCxnSpPr>
          <p:nvPr/>
        </p:nvCxnSpPr>
        <p:spPr>
          <a:xfrm rot="16200000" flipH="1">
            <a:off x="4422299" y="4614329"/>
            <a:ext cx="529606" cy="7033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948EBB-AC17-B55C-31C5-A1AF78C40B34}"/>
              </a:ext>
            </a:extLst>
          </p:cNvPr>
          <p:cNvCxnSpPr>
            <a:stCxn id="57" idx="3"/>
            <a:endCxn id="62" idx="1"/>
          </p:cNvCxnSpPr>
          <p:nvPr/>
        </p:nvCxnSpPr>
        <p:spPr>
          <a:xfrm>
            <a:off x="1762045" y="4367152"/>
            <a:ext cx="2240877" cy="2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D95A993B-D08C-C4CD-36B2-48D59AFCBE0B}"/>
              </a:ext>
            </a:extLst>
          </p:cNvPr>
          <p:cNvCxnSpPr>
            <a:stCxn id="12" idx="2"/>
            <a:endCxn id="57" idx="0"/>
          </p:cNvCxnSpPr>
          <p:nvPr/>
        </p:nvCxnSpPr>
        <p:spPr>
          <a:xfrm rot="5400000">
            <a:off x="1324348" y="2492179"/>
            <a:ext cx="1484951" cy="1772718"/>
          </a:xfrm>
          <a:prstGeom prst="bentConnector3">
            <a:avLst>
              <a:gd name="adj1" fmla="val 64908"/>
            </a:avLst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B37EC6B-0784-F799-4414-C106900A27F4}"/>
              </a:ext>
            </a:extLst>
          </p:cNvPr>
          <p:cNvCxnSpPr>
            <a:stCxn id="12" idx="0"/>
            <a:endCxn id="43" idx="2"/>
          </p:cNvCxnSpPr>
          <p:nvPr/>
        </p:nvCxnSpPr>
        <p:spPr>
          <a:xfrm flipV="1">
            <a:off x="2953182" y="1364904"/>
            <a:ext cx="313948" cy="466297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54285FD3-FE52-4167-9CA4-04BA9D45AA00}"/>
              </a:ext>
            </a:extLst>
          </p:cNvPr>
          <p:cNvSpPr/>
          <p:nvPr/>
        </p:nvSpPr>
        <p:spPr>
          <a:xfrm>
            <a:off x="3661034" y="1119073"/>
            <a:ext cx="1880072" cy="1594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Stores the file in Blob Storage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052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53" grpId="0" animBg="1"/>
      <p:bldP spid="55" grpId="0" animBg="1"/>
      <p:bldP spid="58" grpId="0" animBg="1"/>
      <p:bldP spid="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CCC97-FF04-5D7B-D129-029D2723B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Cloud Agnostic Architecture Flow for Loss Run Parsing</a:t>
            </a:r>
            <a:endParaRPr lang="en-IN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8609445F-9F52-CBAD-F8DA-B818DE051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9681"/>
            <a:ext cx="12192000" cy="481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161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98011-FDE8-1AED-4B6B-90B4D917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13">
            <a:extLst>
              <a:ext uri="{FF2B5EF4-FFF2-40B4-BE49-F238E27FC236}">
                <a16:creationId xmlns:a16="http://schemas.microsoft.com/office/drawing/2014/main" id="{513130E8-0B95-A27C-9105-3F3A796A6E7B}"/>
              </a:ext>
            </a:extLst>
          </p:cNvPr>
          <p:cNvSpPr txBox="1"/>
          <p:nvPr/>
        </p:nvSpPr>
        <p:spPr>
          <a:xfrm>
            <a:off x="9398675" y="-84573"/>
            <a:ext cx="2057400" cy="92919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Montserrat Semi-Bold"/>
                <a:cs typeface="Montserrat Semi-Bold"/>
                <a:sym typeface="Montserrat Semi-Bold"/>
              </a:rPr>
              <a:t>INVESTOS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BC294F16-C26B-C3E7-82A5-E088CAA4259C}"/>
              </a:ext>
            </a:extLst>
          </p:cNvPr>
          <p:cNvSpPr/>
          <p:nvPr/>
        </p:nvSpPr>
        <p:spPr>
          <a:xfrm flipV="1">
            <a:off x="85062" y="1446211"/>
            <a:ext cx="2522898" cy="5048327"/>
          </a:xfrm>
          <a:prstGeom prst="round2SameRect">
            <a:avLst/>
          </a:prstGeom>
          <a:noFill/>
          <a:ln w="6350">
            <a:solidFill>
              <a:srgbClr val="E6E9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D0063977-3F1D-2A22-4879-DC0591FA3254}"/>
              </a:ext>
            </a:extLst>
          </p:cNvPr>
          <p:cNvSpPr/>
          <p:nvPr/>
        </p:nvSpPr>
        <p:spPr>
          <a:xfrm flipV="1">
            <a:off x="2898524" y="1446212"/>
            <a:ext cx="3113315" cy="5017846"/>
          </a:xfrm>
          <a:prstGeom prst="round2SameRect">
            <a:avLst/>
          </a:prstGeom>
          <a:noFill/>
          <a:ln w="6350">
            <a:solidFill>
              <a:srgbClr val="E6E9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31C360-EBB7-EC04-08AC-E7D00A69E6EC}"/>
              </a:ext>
            </a:extLst>
          </p:cNvPr>
          <p:cNvSpPr txBox="1"/>
          <p:nvPr/>
        </p:nvSpPr>
        <p:spPr>
          <a:xfrm>
            <a:off x="135391" y="2338898"/>
            <a:ext cx="2396184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Inconsistent Insurance Loss Run Reports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Loss run reports from brokers/TPAs arrive in </a:t>
            </a:r>
            <a:r>
              <a:rPr lang="en-US" sz="1100" b="1" dirty="0"/>
              <a:t>different Excel/CSV formats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Column names vary</a:t>
            </a:r>
            <a:r>
              <a:rPr lang="en-US" sz="1100" dirty="0"/>
              <a:t> (Claim #, Claim Ref, Claim Number).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Files contain </a:t>
            </a:r>
            <a:r>
              <a:rPr lang="en-US" sz="1100" b="1" dirty="0"/>
              <a:t>merged cells, multiple sheets, messy dates/currency</a:t>
            </a:r>
            <a:r>
              <a:rPr lang="en-US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Manual extraction and cleaning is slow and error-prone.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Raw reports </a:t>
            </a:r>
            <a:r>
              <a:rPr lang="en-US" sz="1100" b="1" dirty="0"/>
              <a:t>cannot directly integrate</a:t>
            </a:r>
            <a:r>
              <a:rPr lang="en-US" sz="1100" dirty="0"/>
              <a:t> with systems like </a:t>
            </a:r>
            <a:r>
              <a:rPr lang="en-US" sz="1100" b="1" dirty="0"/>
              <a:t>Guidewire or Duck Creek</a:t>
            </a:r>
            <a:r>
              <a:rPr lang="en-US" sz="1100" dirty="0"/>
              <a:t>.</a:t>
            </a:r>
          </a:p>
        </p:txBody>
      </p:sp>
      <p:pic>
        <p:nvPicPr>
          <p:cNvPr id="30" name="Picture 29" descr="A computer screen with a pie chart&#10;&#10;AI-generated content may be incorrect.">
            <a:extLst>
              <a:ext uri="{FF2B5EF4-FFF2-40B4-BE49-F238E27FC236}">
                <a16:creationId xmlns:a16="http://schemas.microsoft.com/office/drawing/2014/main" id="{7D516032-3872-C76A-C32F-8F82FD5C3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523" y="1465528"/>
            <a:ext cx="1162212" cy="65123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AAE89D0-281B-A7FE-133B-90AC52514878}"/>
              </a:ext>
            </a:extLst>
          </p:cNvPr>
          <p:cNvSpPr txBox="1"/>
          <p:nvPr/>
        </p:nvSpPr>
        <p:spPr>
          <a:xfrm>
            <a:off x="2893605" y="2152729"/>
            <a:ext cx="3123152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Automated Loss Run Processing Platform</a:t>
            </a:r>
          </a:p>
          <a:p>
            <a:r>
              <a:rPr lang="en-US" sz="900" b="1" dirty="0"/>
              <a:t>1. File Ingestion</a:t>
            </a:r>
          </a:p>
          <a:p>
            <a:r>
              <a:rPr lang="en-US" sz="900" dirty="0"/>
              <a:t>Loss run Excel/CSV files uploaded through a </a:t>
            </a:r>
            <a:r>
              <a:rPr lang="en-US" sz="900" b="1" dirty="0"/>
              <a:t>Streamlit UI </a:t>
            </a:r>
            <a:r>
              <a:rPr lang="en-US" sz="900" dirty="0"/>
              <a:t> for processing.</a:t>
            </a:r>
          </a:p>
          <a:p>
            <a:r>
              <a:rPr lang="en-US" sz="900" b="1" dirty="0"/>
              <a:t>2. Spreadsheet Parsing</a:t>
            </a:r>
          </a:p>
          <a:p>
            <a:r>
              <a:rPr lang="en-US" sz="900" dirty="0"/>
              <a:t>System reads files and detects </a:t>
            </a:r>
            <a:r>
              <a:rPr lang="en-US" sz="900" b="1" dirty="0"/>
              <a:t>tables, headers, and claim rows</a:t>
            </a:r>
            <a:r>
              <a:rPr lang="en-US" sz="900" dirty="0"/>
              <a:t> across multiple sheets.</a:t>
            </a:r>
          </a:p>
          <a:p>
            <a:r>
              <a:rPr lang="en-US" sz="900" b="1" dirty="0"/>
              <a:t>3. Schema Mapping</a:t>
            </a:r>
          </a:p>
          <a:p>
            <a:r>
              <a:rPr lang="en-US" sz="900" dirty="0"/>
              <a:t>Different column names (Claim #, Claim Ref, Claim Number) are mapped to a </a:t>
            </a:r>
            <a:r>
              <a:rPr lang="en-US" sz="900" b="1" dirty="0"/>
              <a:t>standard claims' schema</a:t>
            </a:r>
            <a:r>
              <a:rPr lang="en-US" sz="900" dirty="0"/>
              <a:t> using configurable rules.</a:t>
            </a:r>
          </a:p>
          <a:p>
            <a:r>
              <a:rPr lang="en-US" sz="900" b="1" dirty="0"/>
              <a:t>4. Data Normalization</a:t>
            </a:r>
          </a:p>
          <a:p>
            <a:r>
              <a:rPr lang="en-US" sz="900" dirty="0"/>
              <a:t>Extracted values are cleaned and standardized.</a:t>
            </a:r>
          </a:p>
          <a:p>
            <a:r>
              <a:rPr lang="en-US" sz="900" dirty="0"/>
              <a:t>Examples</a:t>
            </a:r>
          </a:p>
          <a:p>
            <a:r>
              <a:rPr lang="en-US" sz="900" dirty="0"/>
              <a:t>Dates → YYYY-MM-DD</a:t>
            </a:r>
          </a:p>
          <a:p>
            <a:r>
              <a:rPr lang="en-US" sz="900" dirty="0"/>
              <a:t>Currency → numeric values</a:t>
            </a:r>
          </a:p>
          <a:p>
            <a:r>
              <a:rPr lang="en-US" sz="900" dirty="0"/>
              <a:t>Claim status → standardized categories</a:t>
            </a:r>
          </a:p>
          <a:p>
            <a:r>
              <a:rPr lang="en-US" sz="900" b="1" dirty="0"/>
              <a:t>5. LLM-Assisted Interpretation</a:t>
            </a:r>
          </a:p>
          <a:p>
            <a:r>
              <a:rPr lang="en-US" sz="900" dirty="0"/>
              <a:t>Handles </a:t>
            </a:r>
            <a:r>
              <a:rPr lang="en-US" sz="900" b="1" dirty="0"/>
              <a:t>complex claim descriptions and notes</a:t>
            </a:r>
            <a:r>
              <a:rPr lang="en-US" sz="900" dirty="0"/>
              <a:t> to generate structured summaries.</a:t>
            </a:r>
          </a:p>
          <a:p>
            <a:r>
              <a:rPr lang="en-US" sz="900" b="1" dirty="0"/>
              <a:t>6. Human-in-the-Loop Review</a:t>
            </a:r>
          </a:p>
          <a:p>
            <a:r>
              <a:rPr lang="en-US" sz="900" dirty="0"/>
              <a:t>Users validate extracted claims through the UI before final publishing.</a:t>
            </a:r>
          </a:p>
          <a:p>
            <a:r>
              <a:rPr lang="en-US" sz="900" b="1" dirty="0"/>
              <a:t>7. Structured Output</a:t>
            </a:r>
          </a:p>
          <a:p>
            <a:r>
              <a:rPr lang="en-US" sz="900" dirty="0"/>
              <a:t>Final claims exported as </a:t>
            </a:r>
            <a:r>
              <a:rPr lang="en-US" sz="900" b="1" dirty="0"/>
              <a:t>standardized JSON records</a:t>
            </a:r>
            <a:r>
              <a:rPr lang="en-US" sz="900" dirty="0"/>
              <a:t> ready for downstream systems.</a:t>
            </a:r>
          </a:p>
          <a:p>
            <a:pPr>
              <a:buNone/>
            </a:pPr>
            <a:r>
              <a:rPr lang="en-IN" sz="900" b="1" dirty="0"/>
              <a:t>Tech Stack (Open Source)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00" dirty="0"/>
              <a:t>Streamlit; pandas – data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00" dirty="0" err="1"/>
              <a:t>openpyxl</a:t>
            </a:r>
            <a:r>
              <a:rPr lang="en-IN" sz="900" dirty="0"/>
              <a:t> – Excel parsing; regex (re) – text normalization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00" dirty="0" err="1"/>
              <a:t>yaml</a:t>
            </a:r>
            <a:r>
              <a:rPr lang="en-IN" sz="900" dirty="0"/>
              <a:t> – schema configuration, GPT-4O,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00" dirty="0" err="1"/>
              <a:t>json</a:t>
            </a:r>
            <a:r>
              <a:rPr lang="en-IN" sz="900" dirty="0"/>
              <a:t> – structured output generation</a:t>
            </a:r>
          </a:p>
          <a:p>
            <a:endParaRPr lang="en-US" sz="800" dirty="0"/>
          </a:p>
          <a:p>
            <a:endParaRPr lang="en-US" sz="800" b="1" dirty="0"/>
          </a:p>
        </p:txBody>
      </p:sp>
      <p:pic>
        <p:nvPicPr>
          <p:cNvPr id="33" name="Picture 6" descr="Alert, attention, caution, danger, orange, warning, exclamation icon -  Download on Iconfinder">
            <a:extLst>
              <a:ext uri="{FF2B5EF4-FFF2-40B4-BE49-F238E27FC236}">
                <a16:creationId xmlns:a16="http://schemas.microsoft.com/office/drawing/2014/main" id="{EC41B90F-B937-A860-E427-925777841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47" y="1465528"/>
            <a:ext cx="786542" cy="78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BB4E676-3D82-433F-7FD7-A46A07D8E26D}"/>
              </a:ext>
            </a:extLst>
          </p:cNvPr>
          <p:cNvSpPr txBox="1"/>
          <p:nvPr/>
        </p:nvSpPr>
        <p:spPr>
          <a:xfrm>
            <a:off x="181131" y="1046102"/>
            <a:ext cx="3113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Problem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AF798B-676D-66E4-FA36-F37DB210E145}"/>
              </a:ext>
            </a:extLst>
          </p:cNvPr>
          <p:cNvSpPr txBox="1"/>
          <p:nvPr/>
        </p:nvSpPr>
        <p:spPr>
          <a:xfrm>
            <a:off x="3240910" y="1047848"/>
            <a:ext cx="2493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46600D6A-FB36-FE5D-567D-48F3963FF996}"/>
              </a:ext>
            </a:extLst>
          </p:cNvPr>
          <p:cNvSpPr/>
          <p:nvPr/>
        </p:nvSpPr>
        <p:spPr>
          <a:xfrm>
            <a:off x="2659468" y="3902872"/>
            <a:ext cx="196523" cy="400110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68A2B7A9-FE58-2176-52A3-F46572C43007}"/>
              </a:ext>
            </a:extLst>
          </p:cNvPr>
          <p:cNvSpPr/>
          <p:nvPr/>
        </p:nvSpPr>
        <p:spPr>
          <a:xfrm>
            <a:off x="6129026" y="3897024"/>
            <a:ext cx="196523" cy="400110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9BB6DF7D-508B-FBF1-A509-D86335CA69E8}"/>
              </a:ext>
            </a:extLst>
          </p:cNvPr>
          <p:cNvSpPr txBox="1">
            <a:spLocks/>
          </p:cNvSpPr>
          <p:nvPr/>
        </p:nvSpPr>
        <p:spPr>
          <a:xfrm>
            <a:off x="2226709" y="273349"/>
            <a:ext cx="9056032" cy="57819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  <a:lvl2pPr marL="342643"/>
            <a:lvl3pPr marL="685286"/>
            <a:lvl4pPr marL="1027929"/>
            <a:lvl5pPr marL="1370572"/>
            <a:lvl6pPr marL="1713214"/>
            <a:lvl7pPr marL="2055857"/>
            <a:lvl8pPr marL="2398500"/>
            <a:lvl9pPr marL="2741142"/>
          </a:lstStyle>
          <a:p>
            <a:pPr lvl="0">
              <a:defRPr/>
            </a:pPr>
            <a:r>
              <a:rPr lang="en-IN" sz="2400" dirty="0"/>
              <a:t>Loss Run Parsing Solution Approach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253D2"/>
              </a:solidFill>
              <a:effectLst/>
              <a:uLnTx/>
              <a:uFillTx/>
              <a:latin typeface="Manrope SemiBold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BEC6C2-0338-78AF-E5AE-1DB76FB6F351}"/>
              </a:ext>
            </a:extLst>
          </p:cNvPr>
          <p:cNvSpPr txBox="1"/>
          <p:nvPr/>
        </p:nvSpPr>
        <p:spPr>
          <a:xfrm>
            <a:off x="6366950" y="1040011"/>
            <a:ext cx="5300203" cy="33701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2000" b="1" dirty="0">
                <a:solidFill>
                  <a:prstClr val="black"/>
                </a:solidFill>
                <a:latin typeface="Calibri"/>
              </a:rPr>
              <a:t>OUTPUT / INSIGHTS</a:t>
            </a:r>
          </a:p>
          <a:p>
            <a:r>
              <a:rPr lang="en-US" sz="1100" dirty="0"/>
              <a:t>The system converts unstructured loss run spreadsheets into </a:t>
            </a:r>
            <a:r>
              <a:rPr lang="en-US" sz="1100" b="1" dirty="0"/>
              <a:t>clean, structured claim data ready for downstream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Visually highlights </a:t>
            </a:r>
            <a:r>
              <a:rPr lang="en-US" sz="1100"/>
              <a:t>field-level extraction.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Side-by-side comparison of raw extracted values vs. post-processed/modified values.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Allows one-click JSON/Duck-creek/Guidewire format payload generation after review.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Human-in-the-loop (HITL) Review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Standardized Claim Record:</a:t>
            </a:r>
          </a:p>
          <a:p>
            <a:r>
              <a:rPr lang="en-US" sz="800" dirty="0"/>
              <a:t>{			</a:t>
            </a:r>
          </a:p>
          <a:p>
            <a:r>
              <a:rPr lang="en-US" sz="800" dirty="0"/>
              <a:t>  "</a:t>
            </a:r>
            <a:r>
              <a:rPr lang="en-US" sz="800" dirty="0" err="1"/>
              <a:t>claim_id</a:t>
            </a:r>
            <a:r>
              <a:rPr lang="en-US" sz="800" dirty="0"/>
              <a:t>": "CLM10231",</a:t>
            </a:r>
          </a:p>
          <a:p>
            <a:r>
              <a:rPr lang="en-US" sz="800" dirty="0"/>
              <a:t>  "</a:t>
            </a:r>
            <a:r>
              <a:rPr lang="en-US" sz="800" dirty="0" err="1"/>
              <a:t>policy_number</a:t>
            </a:r>
            <a:r>
              <a:rPr lang="en-US" sz="800" dirty="0"/>
              <a:t>": "POL4451",</a:t>
            </a:r>
          </a:p>
          <a:p>
            <a:r>
              <a:rPr lang="en-US" sz="800" dirty="0"/>
              <a:t>  "</a:t>
            </a:r>
            <a:r>
              <a:rPr lang="en-US" sz="800" dirty="0" err="1"/>
              <a:t>loss_date</a:t>
            </a:r>
            <a:r>
              <a:rPr lang="en-US" sz="800" dirty="0"/>
              <a:t>": "2022-03-12",</a:t>
            </a:r>
          </a:p>
          <a:p>
            <a:r>
              <a:rPr lang="en-US" sz="800" dirty="0"/>
              <a:t>  "</a:t>
            </a:r>
            <a:r>
              <a:rPr lang="en-US" sz="800" dirty="0" err="1"/>
              <a:t>claim_status</a:t>
            </a:r>
            <a:r>
              <a:rPr lang="en-US" sz="800" dirty="0"/>
              <a:t>": "Closed",</a:t>
            </a:r>
          </a:p>
          <a:p>
            <a:r>
              <a:rPr lang="en-US" sz="800" dirty="0"/>
              <a:t>  "</a:t>
            </a:r>
            <a:r>
              <a:rPr lang="en-US" sz="800" dirty="0" err="1"/>
              <a:t>paid_amount</a:t>
            </a:r>
            <a:r>
              <a:rPr lang="en-US" sz="800" dirty="0"/>
              <a:t>": 12500,</a:t>
            </a:r>
          </a:p>
          <a:p>
            <a:r>
              <a:rPr lang="en-US" sz="800" dirty="0"/>
              <a:t>  "</a:t>
            </a:r>
            <a:r>
              <a:rPr lang="en-US" sz="800" dirty="0" err="1"/>
              <a:t>reserve_amount</a:t>
            </a:r>
            <a:r>
              <a:rPr lang="en-US" sz="800" dirty="0"/>
              <a:t>": 0,</a:t>
            </a:r>
          </a:p>
          <a:p>
            <a:r>
              <a:rPr lang="en-US" sz="800" dirty="0"/>
              <a:t>  "</a:t>
            </a:r>
            <a:r>
              <a:rPr lang="en-US" sz="800" dirty="0" err="1"/>
              <a:t>incurred_amount</a:t>
            </a:r>
            <a:r>
              <a:rPr lang="en-US" sz="800" dirty="0"/>
              <a:t>": 12500,</a:t>
            </a:r>
          </a:p>
          <a:p>
            <a:r>
              <a:rPr lang="en-US" sz="800" dirty="0"/>
              <a:t>}</a:t>
            </a:r>
            <a:endParaRPr lang="en-US" sz="800" b="1" dirty="0"/>
          </a:p>
          <a:p>
            <a:r>
              <a:rPr lang="en-US" sz="1100" b="1" u="sng" dirty="0"/>
              <a:t>Metrics:-</a:t>
            </a:r>
          </a:p>
          <a:p>
            <a:r>
              <a:rPr lang="en-US" sz="1100" b="1" dirty="0"/>
              <a:t>Extraction Accuracy :- </a:t>
            </a:r>
            <a:r>
              <a:rPr lang="en-US" sz="1100" dirty="0"/>
              <a:t>Correct Fields / Total Fields</a:t>
            </a:r>
          </a:p>
          <a:p>
            <a:r>
              <a:rPr lang="en-IN" sz="1100" b="1" dirty="0"/>
              <a:t>Schema Mapping Success Rate:</a:t>
            </a:r>
            <a:r>
              <a:rPr lang="en-IN" sz="1100" dirty="0"/>
              <a:t>- </a:t>
            </a:r>
            <a:r>
              <a:rPr lang="en-US" sz="1100" dirty="0"/>
              <a:t>Mapped Columns / Total Columns</a:t>
            </a:r>
          </a:p>
          <a:p>
            <a:r>
              <a:rPr lang="en-IN" sz="1100" b="1" dirty="0"/>
              <a:t>Manual Correction Rate</a:t>
            </a:r>
            <a:r>
              <a:rPr lang="en-IN" sz="1100" dirty="0"/>
              <a:t>:- Corrected Fields / Total Fields</a:t>
            </a:r>
            <a:endParaRPr lang="en-US" sz="11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EB5AC-FF15-E6F8-400C-D73E216B3E22}"/>
              </a:ext>
            </a:extLst>
          </p:cNvPr>
          <p:cNvSpPr/>
          <p:nvPr/>
        </p:nvSpPr>
        <p:spPr>
          <a:xfrm>
            <a:off x="6371868" y="4410164"/>
            <a:ext cx="5295285" cy="20538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000" b="1" dirty="0">
                <a:solidFill>
                  <a:prstClr val="black"/>
                </a:solidFill>
                <a:latin typeface="Calibri"/>
              </a:rPr>
              <a:t>BUSINESS VALUE</a:t>
            </a:r>
          </a:p>
          <a:p>
            <a:r>
              <a:rPr lang="en-IN" sz="950" b="1" dirty="0"/>
              <a:t>Faster Loss Run Processing</a:t>
            </a:r>
            <a:br>
              <a:rPr lang="en-IN" sz="950" dirty="0"/>
            </a:br>
            <a:r>
              <a:rPr lang="en-US" sz="950" dirty="0"/>
              <a:t>Processing time reduced from 2–4 hours per file → &lt;30 seconds automated processing also Enables </a:t>
            </a:r>
            <a:r>
              <a:rPr lang="en-US" sz="950" b="1" dirty="0"/>
              <a:t>100+ loss run files processed per day</a:t>
            </a:r>
            <a:r>
              <a:rPr lang="en-US" sz="950" dirty="0"/>
              <a:t> vs ~10 manually</a:t>
            </a:r>
          </a:p>
          <a:p>
            <a:r>
              <a:rPr lang="en-IN" sz="950" b="1" dirty="0"/>
              <a:t>Reduced Manual Effort</a:t>
            </a:r>
            <a:br>
              <a:rPr lang="en-IN" sz="950" dirty="0"/>
            </a:br>
            <a:r>
              <a:rPr lang="en-US" sz="950" dirty="0"/>
              <a:t>80–90% reduction in manual data entry and spreadsheet cleanup</a:t>
            </a:r>
          </a:p>
          <a:p>
            <a:r>
              <a:rPr lang="en-IN" sz="950" b="1" dirty="0"/>
              <a:t>Consistent Claims Data</a:t>
            </a:r>
            <a:br>
              <a:rPr lang="en-IN" sz="950" dirty="0"/>
            </a:br>
            <a:r>
              <a:rPr lang="en-US" sz="950" b="1" dirty="0"/>
              <a:t>95%+ schema mapping accuracy</a:t>
            </a:r>
            <a:r>
              <a:rPr lang="en-US" sz="950" dirty="0"/>
              <a:t> across different broker formats</a:t>
            </a:r>
          </a:p>
          <a:p>
            <a:r>
              <a:rPr lang="en-IN" sz="950" b="1" dirty="0"/>
              <a:t>Improved Data Quality</a:t>
            </a:r>
            <a:br>
              <a:rPr lang="en-IN" sz="950" dirty="0"/>
            </a:br>
            <a:r>
              <a:rPr lang="en-US" sz="950" b="1" dirty="0"/>
              <a:t>90–95% extraction accuracy</a:t>
            </a:r>
            <a:r>
              <a:rPr lang="en-US" sz="950" dirty="0"/>
              <a:t> with automated normalization</a:t>
            </a:r>
            <a:r>
              <a:rPr lang="en-IN" sz="950" dirty="0"/>
              <a:t>.</a:t>
            </a:r>
            <a:r>
              <a:rPr lang="en-US" sz="950" dirty="0"/>
              <a:t> Manual corrections reduced to &lt;10% of fields</a:t>
            </a:r>
            <a:endParaRPr lang="en-IN" sz="950" dirty="0"/>
          </a:p>
          <a:p>
            <a:r>
              <a:rPr lang="en-IN" sz="950" b="1" dirty="0"/>
              <a:t>Seamless Integration</a:t>
            </a:r>
          </a:p>
          <a:p>
            <a:r>
              <a:rPr lang="en-US" sz="950" b="1" dirty="0"/>
              <a:t>100% system-ready JSON output</a:t>
            </a:r>
            <a:r>
              <a:rPr lang="en-US" sz="950" dirty="0"/>
              <a:t> for Guidewire / Duck Creek ingestion</a:t>
            </a:r>
            <a:endParaRPr lang="en-IN" sz="950" dirty="0"/>
          </a:p>
        </p:txBody>
      </p:sp>
      <p:pic>
        <p:nvPicPr>
          <p:cNvPr id="3080" name="Picture 8" descr="Duck Creek Technologies logo in ...">
            <a:extLst>
              <a:ext uri="{FF2B5EF4-FFF2-40B4-BE49-F238E27FC236}">
                <a16:creationId xmlns:a16="http://schemas.microsoft.com/office/drawing/2014/main" id="{A3F86F39-B5EA-E557-4915-FB968691A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0270" y="3175320"/>
            <a:ext cx="651094" cy="43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Guidewire Software Logo &amp; Brand Assets ...">
            <a:extLst>
              <a:ext uri="{FF2B5EF4-FFF2-40B4-BE49-F238E27FC236}">
                <a16:creationId xmlns:a16="http://schemas.microsoft.com/office/drawing/2014/main" id="{C584ACF8-CBDA-6F1A-3870-267542A06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594" y="3088021"/>
            <a:ext cx="709562" cy="574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2077126-4088-A16F-9166-B181A7902D64}"/>
              </a:ext>
            </a:extLst>
          </p:cNvPr>
          <p:cNvSpPr/>
          <p:nvPr/>
        </p:nvSpPr>
        <p:spPr>
          <a:xfrm>
            <a:off x="8949164" y="2726544"/>
            <a:ext cx="2184400" cy="3753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Guidewire / Duck Creek Integration Payload</a:t>
            </a:r>
          </a:p>
        </p:txBody>
      </p:sp>
      <p:pic>
        <p:nvPicPr>
          <p:cNvPr id="3084" name="Picture 12" descr="LLM 101: What are large language models ...">
            <a:extLst>
              <a:ext uri="{FF2B5EF4-FFF2-40B4-BE49-F238E27FC236}">
                <a16:creationId xmlns:a16="http://schemas.microsoft.com/office/drawing/2014/main" id="{743FA1C8-EB9F-75A3-D297-0F6EC4F3C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9971" y="2356017"/>
            <a:ext cx="926637" cy="33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331DE5-4AF7-BB7C-54DF-F10435B5A401}"/>
              </a:ext>
            </a:extLst>
          </p:cNvPr>
          <p:cNvSpPr txBox="1"/>
          <p:nvPr/>
        </p:nvSpPr>
        <p:spPr>
          <a:xfrm>
            <a:off x="9290845" y="2319256"/>
            <a:ext cx="19918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LLM-Assisted Normalization &amp; Summary</a:t>
            </a:r>
          </a:p>
        </p:txBody>
      </p:sp>
    </p:spTree>
    <p:extLst>
      <p:ext uri="{BB962C8B-B14F-4D97-AF65-F5344CB8AC3E}">
        <p14:creationId xmlns:p14="http://schemas.microsoft.com/office/powerpoint/2010/main" val="16310357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2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8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856c52-c385-47ff-a09c-ac94d054bd1d">
      <Terms xmlns="http://schemas.microsoft.com/office/infopath/2007/PartnerControls"/>
    </lcf76f155ced4ddcb4097134ff3c332f>
    <TaxCatchAll xmlns="adf4e06f-7580-4cab-94a3-022c3fe4e37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25C39AABBCD54FB9AF44ACF5B22BF1" ma:contentTypeVersion="11" ma:contentTypeDescription="Create a new document." ma:contentTypeScope="" ma:versionID="7ebbf432252fcc9ce5240ec3f1bfba26">
  <xsd:schema xmlns:xsd="http://www.w3.org/2001/XMLSchema" xmlns:xs="http://www.w3.org/2001/XMLSchema" xmlns:p="http://schemas.microsoft.com/office/2006/metadata/properties" xmlns:ns2="3e856c52-c385-47ff-a09c-ac94d054bd1d" xmlns:ns3="adf4e06f-7580-4cab-94a3-022c3fe4e372" targetNamespace="http://schemas.microsoft.com/office/2006/metadata/properties" ma:root="true" ma:fieldsID="91ce003b5896f2dbbec4064c36991ee0" ns2:_="" ns3:_="">
    <xsd:import namespace="3e856c52-c385-47ff-a09c-ac94d054bd1d"/>
    <xsd:import namespace="adf4e06f-7580-4cab-94a3-022c3fe4e3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56c52-c385-47ff-a09c-ac94d054b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1087d73-5bfe-4c6e-a130-3d60249556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f4e06f-7580-4cab-94a3-022c3fe4e37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ba0d23a-6c76-42ef-961f-161990e773d7}" ma:internalName="TaxCatchAll" ma:showField="CatchAllData" ma:web="adf4e06f-7580-4cab-94a3-022c3fe4e3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CD2ABB-BDEA-408D-A41B-48ABB8E820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5356D5-E73E-44BB-A76A-264455AA4F52}">
  <ds:schemaRefs>
    <ds:schemaRef ds:uri="3e856c52-c385-47ff-a09c-ac94d054bd1d"/>
    <ds:schemaRef ds:uri="adf4e06f-7580-4cab-94a3-022c3fe4e37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56177F3-A7F6-47E1-BDE1-74CEE41FB7FD}">
  <ds:schemaRefs>
    <ds:schemaRef ds:uri="3e856c52-c385-47ff-a09c-ac94d054bd1d"/>
    <ds:schemaRef ds:uri="adf4e06f-7580-4cab-94a3-022c3fe4e37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3085c86-4bcb-460a-a6f0-b373421c6323}" enabled="0" method="" siteId="{13085c86-4bcb-460a-a6f0-b373421c632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3998</TotalTime>
  <Words>1010</Words>
  <Application>Microsoft Office PowerPoint</Application>
  <PresentationFormat>Widescreen</PresentationFormat>
  <Paragraphs>116</Paragraphs>
  <Slides>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24" baseType="lpstr">
      <vt:lpstr>Abadi</vt:lpstr>
      <vt:lpstr>Aptos</vt:lpstr>
      <vt:lpstr>Arial</vt:lpstr>
      <vt:lpstr>Calibri</vt:lpstr>
      <vt:lpstr>Calibri Light</vt:lpstr>
      <vt:lpstr>Dubai</vt:lpstr>
      <vt:lpstr>Gill Sans MT</vt:lpstr>
      <vt:lpstr>Manrope</vt:lpstr>
      <vt:lpstr>Manrope Light</vt:lpstr>
      <vt:lpstr>Manrope Medium</vt:lpstr>
      <vt:lpstr>Manrope SemiBold</vt:lpstr>
      <vt:lpstr>Segoe UI</vt:lpstr>
      <vt:lpstr>Office Theme</vt:lpstr>
      <vt:lpstr>5_Office Theme</vt:lpstr>
      <vt:lpstr>3_Office Theme</vt:lpstr>
      <vt:lpstr>4_Office Theme</vt:lpstr>
      <vt:lpstr>12_Office Theme</vt:lpstr>
      <vt:lpstr>8_Office Theme</vt:lpstr>
      <vt:lpstr>6_Office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Lakshmi Narayana Cherukuri</dc:creator>
  <cp:lastModifiedBy>Lakshmi Narayana Cherukuri</cp:lastModifiedBy>
  <cp:revision>27</cp:revision>
  <dcterms:created xsi:type="dcterms:W3CDTF">2023-10-29T11:09:19Z</dcterms:created>
  <dcterms:modified xsi:type="dcterms:W3CDTF">2026-03-09T15:24:20Z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0x010100F625C39AABBCD54FB9AF44ACF5B22BF1</vt:lpwstr>
  </property>
  <property fmtid="{D5CDD505-2E9C-101B-9397-08002B2CF9AE}" pid="3" name="MediaServiceImageTags">
    <vt:lpwstr/>
  </property>
</Properties>
</file>